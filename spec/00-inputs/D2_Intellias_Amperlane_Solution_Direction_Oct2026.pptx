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09711ec-8f60-3e0f-55bb-122f67aa94fe}">
          <p14:sldIdLst>
            <p14:sldId id="256"/>
          </p14:sldIdLst>
        </p14:section>
        <p14:section name="01 Our understanding" id="{5e56d15f-88a0-eab9-9d63-7e7b48c43d05}">
          <p14:sldIdLst>
            <p14:sldId id="257"/>
            <p14:sldId id="258"/>
            <p14:sldId id="259"/>
            <p14:sldId id="260"/>
            <p14:sldId id="261"/>
          </p14:sldIdLst>
        </p14:section>
        <p14:section name="02 Solution direction" id="{8938b8e4-6e62-8648-66e8-89e2e59b5512}">
          <p14:sldIdLst>
            <p14:sldId id="262"/>
            <p14:sldId id="263"/>
            <p14:sldId id="264"/>
            <p14:sldId id="265"/>
            <p14:sldId id="266"/>
            <p14:sldId id="267"/>
            <p14:sldId id="268"/>
          </p14:sldIdLst>
        </p14:section>
        <p14:section name="03 Delivery" id="{a7ace43b-fc80-bdec-4db4-9d100c6034c5}">
          <p14:sldIdLst>
            <p14:sldId id="269"/>
            <p14:sldId id="270"/>
            <p14:sldId id="271"/>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the brief and two very open calls. This deck is our playback: how we understood the request, what changed since the brief, and how we see the architecture and solution in general. It is a direction, not an estimate: the costed proposal follows on November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path so far: your brief on September 22, discovery on September 29, the technical deep-dive on October 8. This deck closes the listening phase. Be explicit that it is not an estimate: we went back to think further, and the numbers come with the proposal on November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sides of the marketplace hurt. NYC regulation pushes rideshare to electric faster than fast charging grows, while stations nationally still sit idle most of the day. The pilot already shows the value on both sides. Market numbers are real and sourced at the bottom; the pilot numbers are yours.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slide. Each row traces one assumption from your brief to what we learned on the calls and what it means for the build. G1 is the biggest: chargers cannot give you future slots, so Amperlane must own the calendar. G3 and G4 change the money flows and the booking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half. Capacity caps, telematics and the Uber/Lyft reality shrink the integration list; the March 1 date and the settlement terms shape the MVP. G-numbers match the open-items log we keep with your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brief named two users; we count six. The driver and the site attendant shape the channel choice: SMS or WhatsApp plus a light web app, not another heavy native app. Ops and finance are the users who make the marketplace run day to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heart of the platform is Amperlane's own slot calendar, because chargers cannot hold future slots. A booking moves through a fixed lifecycle; only the station-hold step depends on what the site supports. Exceptions are designed in from day one: a charger fault triggers automatic rebooking; if the station hold fails or the previous session overruns we reassign to a compatible free EVSE at T-10, else ops steps in; no-shows release automatically after the 10-minute grace; disputes are checked against the CDR. Durations, buffer and TTL are starting values to confirm with stations.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Today's three sites happen to cover the three patterns we will meet in every metro. The booking engine is the same for all three; only the station-hold step and the confidence of the guarantee change. Pattern C has a choice: an attendant workflow on top of the CSV, or moving the host to direct OCPP with CitrineOS. OCPI 2.3 Booking is the long-term native path, but US adoption is likely low, so it stays on the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not deciding this for you, but the choice drives the settlement design, so we need it before the proposal. Option A is off the table for stations. Option B uses the illustrative Gowanus numbers from the discovery call: about 7 cents per kWh on an average 28 kWh pilot session is roughly 1.96 dollars, close to today's 2 dollar pilot fee per booking, before subscription and no-show fees. Option C mixes a smaller fee with the spread. Proposal: a business-model workshop in the week of October 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modular monolith in TypeScript keeps a small team fast and the IP yours; modules have clean seams so they can be split out later. Temporal runs everything with a timer: hold expiry, reminders, the station hold at T-15, no-show release, and rebooking sagas. The integration layer hides the three supply patterns from the core. Holds live in Postgres; Valkey only caches rate limits and idempotency keys. Status and metering series use native Postgres partitioning on RDS for the MVP; TimescaleDB only if volume justifies it. Discovery data from NLR AFDC and Open Charge Map never drives availability. Open source where it is mature, commercial services where they are commodity rails.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of thumb: own the booking core and the data model, use mature open source with permissive or well-understood licences, and buy the commodity rails: cloud, payments, messaging, vehicle data. Nothing here locks the core to a vendor; adapters isolate every commercial API. TimescaleDB is not offered on Amazon RDS and its key features (continuous aggregates, retention, compression) are under the Timescale License, so the MVP uses native Postgres partitioning. Valkey is the BSD-licensed fork; Redis 7.4+ is RSALv2/SSPL and Redis 8 adds AGPLv3. Licences to be re-confirmed in the proposal.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booking is made against a pool, not a stall. The idempotency key stops double taps and SMS retries from creating two bookings. At the 4 to 5 PM shift change a single writer per site serialises attempts. Each booking takes one unit from a per-site, per-connector-type capacity bucket for each 15-minute slot, decremented in the same transaction under SELECT FOR UPDATE with a CHECK that remaining never goes below zero; that bucket is also where the station's 30 to 50 percent bookable cap lives. The soft hold has a 3-minute TTL. Around T-15 the booking is allocated to a specific EVSE, and the allocation table carries an exclusion constraint, so two cars can never be assigned to one EVSE. Overbooking stays off unless a station agrees to a policy. We load-test at five times the observed burst.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targets we heard on October 8; they become acceptance criteria in the proposal. Two items have lead time: SOC 2 Type I plus a pen test, which a large rideshare platform asked for within 12 months, and NY SHIELD Act safeguards and breach notice for credentials, licence and account data; driver location is handled by design with consent, minimisation and retention limits. Both are cheaper to design in now than to retrofit.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date is fixed, so scope is the lever. In: everything needed to run real bookings at all three NYC supply patterns, get paid and pay stations, and migrate the pilot history. Out, but designed for: native apps, dynamic pricing, OCPI 2.3, OpenADR, deeper ride-hail integration, LA and autonomous fleets.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0 is a three-week inception, November 9 to 27, to lock scope, the business model and integration access. Phase 1 builds the MVP in about thirteen weeks, November 30 to February 26, with slack for the holidays, so New York launches on March 1, followed by a hypercare month in March. Phase 2 takes the platform to LA and to scale through Q2 and Q3 2027; Phase 3 is the 2028 wave. Important: the 10,000 completed bookings per month by June 2027 must come from New York alone, through Phase 1 plus NYC supply growth; LA, in Phase 2 with a Q3 2027 target, does not count toward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shape of a Phase 1 team, not a quote. One cross-functional squad, led by an engagement lead acting as PO proxy alongside your founders. Integration and payments expertise sits in the team because that is where the risk is. We would like Priya and your product designer embedded with us, which also covers knowledge transfer and keeps the IP fully yours.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top risks we see today, each with how we propose to handle it. The first two are on the critical path for the March date: station API access and the business-model decision. The cash gap needs a financing decision alongside the business model. The regulatory and competitive items are context, not blockers, but they shape LA and the station-partner pitch.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need these answered, or at least an owner and a date for each, to turn this direction into a costed proposal. The first two are the most important; we suggest covering them in the business-model workshop.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concrete steps to get from here to the costed proposal on November 6. Two of them are on your side: sandbox and API access, and the full raw pilot export from Airtable and Sheets, following the anonymised sample you sent on October 5. Thank you, and we are happy to take questions now or in the workshop.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22376" y="804672"/>
            <a:ext cx="7863840" cy="4480560"/>
          </a:xfrm>
          <a:prstGeom prst="rect">
            <a:avLst/>
          </a:prstGeom>
          <a:noFill/>
          <a:ln/>
        </p:spPr>
        <p:txBody>
          <a:bodyPr wrap="square" rtlCol="0"/>
          <a:lstStyle>
            <a:lvl1pPr algn="l" indent="0" marL="0">
              <a:buNone/>
              <a:defRPr lang="en-US" sz="6900" dirty="0">
                <a:solidFill>
                  <a:schemeClr val="tx1"/>
                </a:solidFill>
              </a:defRPr>
            </a:lvl1pPr>
          </a:lstStyle>
          <a:p>
            <a:pPr algn="l" indent="0" marL="0">
              <a:buNone/>
            </a:pPr>
            <a:endParaRPr lang="en-US" sz="6900" dirty="0"/>
          </a:p>
        </p:txBody>
      </p:sp>
      <p:sp>
        <p:nvSpPr>
          <p:cNvPr id="3" name="Text 0"/>
          <p:cNvSpPr/>
          <p:nvPr>
            <p:ph idx="101" type="body" hasCustomPrompt="1"/>
          </p:nvPr>
        </p:nvSpPr>
        <p:spPr>
          <a:xfrm>
            <a:off x="722376" y="5394960"/>
            <a:ext cx="7863840" cy="1463040"/>
          </a:xfrm>
          <a:prstGeom prst="rect">
            <a:avLst/>
          </a:prstGeom>
          <a:noFill/>
          <a:ln/>
        </p:spPr>
        <p:txBody>
          <a:bodyPr wrap="square" rtlCol="0"/>
          <a:lstStyle>
            <a:lvl1pPr algn="l" indent="0" marL="0">
              <a:buNone/>
              <a:defRPr lang="en-US" sz="2700" dirty="0">
                <a:solidFill>
                  <a:schemeClr val="tx1"/>
                </a:solidFill>
              </a:defRPr>
            </a:lvl1pPr>
          </a:lstStyle>
          <a:p>
            <a:pPr algn="l" indent="0" marL="0">
              <a:buNone/>
            </a:pPr>
            <a:endParaRPr lang="en-US" sz="2700" dirty="0"/>
          </a:p>
        </p:txBody>
      </p:sp>
      <p:pic>
        <p:nvPicPr>
          <p:cNvPr id="4" name="Image 0" descr="/home/claude/ref/logo.png">    </p:cNvPr>
          <p:cNvPicPr>
            <a:picLocks noChangeAspect="1"/>
          </p:cNvPicPr>
          <p:nvPr/>
        </p:nvPicPr>
        <p:blipFill>
          <a:blip r:embed="rId1"/>
          <a:stretch>
            <a:fillRect/>
          </a:stretch>
        </p:blipFill>
        <p:spPr>
          <a:xfrm>
            <a:off x="722376" y="9692640"/>
            <a:ext cx="1033272" cy="20574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13232" y="740664"/>
            <a:ext cx="5486400" cy="5029200"/>
          </a:xfrm>
          <a:prstGeom prst="rect">
            <a:avLst/>
          </a:prstGeom>
          <a:noFill/>
          <a:ln/>
        </p:spPr>
        <p:txBody>
          <a:bodyPr wrap="square" rtlCol="0"/>
          <a:lstStyle>
            <a:lvl1pPr algn="l" indent="0" marL="0">
              <a:buNone/>
              <a:defRPr lang="en-US" sz="4800" dirty="0">
                <a:solidFill>
                  <a:schemeClr val="tx1"/>
                </a:solidFill>
              </a:defRPr>
            </a:lvl1pPr>
          </a:lstStyle>
          <a:p>
            <a:pPr algn="l" indent="0" marL="0">
              <a:buNone/>
            </a:pPr>
            <a:endParaRPr lang="en-US" sz="4800" dirty="0"/>
          </a:p>
        </p:txBody>
      </p:sp>
      <p:sp>
        <p:nvSpPr>
          <p:cNvPr id="3" name="Text 0"/>
          <p:cNvSpPr/>
          <p:nvPr>
            <p:ph idx="101" type="body" hasCustomPrompt="1"/>
          </p:nvPr>
        </p:nvSpPr>
        <p:spPr>
          <a:xfrm>
            <a:off x="713232" y="8595360"/>
            <a:ext cx="2743200" cy="914400"/>
          </a:xfrm>
          <a:prstGeom prst="rect">
            <a:avLst/>
          </a:prstGeom>
          <a:noFill/>
          <a:ln/>
        </p:spPr>
        <p:txBody>
          <a:bodyPr wrap="square" rtlCol="0"/>
          <a:lstStyle>
            <a:lvl1pPr algn="l" indent="0" marL="0">
              <a:buNone/>
              <a:defRPr lang="en-US" sz="6000" dirty="0">
                <a:solidFill>
                  <a:srgbClr val="E0E0E0"/>
                </a:solidFill>
              </a:defRPr>
            </a:lvl1pPr>
          </a:lstStyle>
          <a:p>
            <a:pPr algn="l" indent="0" marL="0">
              <a:buNone/>
            </a:pPr>
            <a:endParaRPr lang="en-US" sz="6000" dirty="0"/>
          </a:p>
        </p:txBody>
      </p:sp>
      <p:sp>
        <p:nvSpPr>
          <p:cNvPr id="4" name="Shape 0"/>
          <p:cNvSpPr/>
          <p:nvPr/>
        </p:nvSpPr>
        <p:spPr>
          <a:xfrm>
            <a:off x="6583680" y="0"/>
            <a:ext cx="11704320" cy="10287000"/>
          </a:xfrm>
          <a:prstGeom prst="rect">
            <a:avLst/>
          </a:prstGeom>
          <a:solidFill>
            <a:schemeClr val="bg2"/>
          </a:solidFill>
          <a:ln w="12700">
            <a:solidFill>
              <a:schemeClr val="bg2"/>
            </a:solidFill>
            <a:prstDash val="solid"/>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841248"/>
            <a:ext cx="16642080" cy="1005840"/>
          </a:xfrm>
          <a:prstGeom prst="rect">
            <a:avLst/>
          </a:prstGeom>
          <a:noFill/>
          <a:ln/>
        </p:spPr>
        <p:txBody>
          <a:bodyPr wrap="square" rtlCol="0"/>
          <a:lstStyle>
            <a:lvl1pPr algn="l" indent="0" marL="0">
              <a:buNone/>
              <a:defRPr lang="en-US" sz="4500" dirty="0">
                <a:solidFill>
                  <a:schemeClr val="tx1"/>
                </a:solidFill>
              </a:defRPr>
            </a:lvl1pPr>
          </a:lstStyle>
          <a:p>
            <a:pPr algn="l" indent="0" marL="0">
              <a:buNone/>
            </a:pPr>
            <a:endParaRPr lang="en-US" sz="4500" dirty="0"/>
          </a:p>
        </p:txBody>
      </p:sp>
      <p:pic>
        <p:nvPicPr>
          <p:cNvPr id="3" name="Image 0" descr="/home/claude/ref/logo.png">    </p:cNvPr>
          <p:cNvPicPr>
            <a:picLocks noChangeAspect="1"/>
          </p:cNvPicPr>
          <p:nvPr/>
        </p:nvPicPr>
        <p:blipFill>
          <a:blip r:embed="rId1"/>
          <a:stretch>
            <a:fillRect/>
          </a:stretch>
        </p:blipFill>
        <p:spPr>
          <a:xfrm>
            <a:off x="722376" y="9692640"/>
            <a:ext cx="1033272" cy="205740"/>
          </a:xfrm>
          <a:prstGeom prst="rect">
            <a:avLst/>
          </a:prstGeom>
        </p:spPr>
      </p:pic>
      <p:sp>
        <p:nvSpPr>
          <p:cNvPr id="25" name="Slide Number Placeholder 0"/>
          <p:cNvSpPr>
            <a:spLocks noGrp="1"/>
          </p:cNvSpPr>
          <p:nvPr>
            <p:ph type="sldNum" sz="quarter" idx="4294967295"/>
          </p:nvPr>
        </p:nvSpPr>
        <p:spPr>
          <a:xfrm>
            <a:off x="16642080" y="9646920"/>
            <a:ext cx="822960" cy="347472"/>
          </a:xfrm>
          <a:prstGeom prst="rect">
            <a:avLst/>
          </a:prstGeom>
          <a:extLst>
            <a:ext uri="{C572A759-6A51-4108-AA02-DFA0A04FC94B}">
              <ma14:wrappingTextBoxFlag xmlns:ma14="http://schemas.microsoft.com/office/mac/drawingml/2011/main" val="0"/>
            </a:ext>
          </a:extLst>
        </p:spPr>
        <p:txBody>
          <a:bodyPr/>
          <a:lstStyle>
            <a:lvl1pPr>
              <a:defRPr sz="1500">
                <a:solidFill>
                  <a:schemeClr val="tx1"/>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GREY">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841248"/>
            <a:ext cx="16642080" cy="1005840"/>
          </a:xfrm>
          <a:prstGeom prst="rect">
            <a:avLst/>
          </a:prstGeom>
          <a:noFill/>
          <a:ln/>
        </p:spPr>
        <p:txBody>
          <a:bodyPr wrap="square" rtlCol="0"/>
          <a:lstStyle>
            <a:lvl1pPr algn="l" indent="0" marL="0">
              <a:buNone/>
              <a:defRPr lang="en-US" sz="4500" dirty="0">
                <a:solidFill>
                  <a:schemeClr val="tx1"/>
                </a:solidFill>
              </a:defRPr>
            </a:lvl1pPr>
          </a:lstStyle>
          <a:p>
            <a:pPr algn="l" indent="0" marL="0">
              <a:buNone/>
            </a:pPr>
            <a:endParaRPr lang="en-US" sz="4500" dirty="0"/>
          </a:p>
        </p:txBody>
      </p:sp>
      <p:pic>
        <p:nvPicPr>
          <p:cNvPr id="3" name="Image 0" descr="/home/claude/ref/logo.png">    </p:cNvPr>
          <p:cNvPicPr>
            <a:picLocks noChangeAspect="1"/>
          </p:cNvPicPr>
          <p:nvPr/>
        </p:nvPicPr>
        <p:blipFill>
          <a:blip r:embed="rId1"/>
          <a:stretch>
            <a:fillRect/>
          </a:stretch>
        </p:blipFill>
        <p:spPr>
          <a:xfrm>
            <a:off x="722376" y="9692640"/>
            <a:ext cx="1033272" cy="205740"/>
          </a:xfrm>
          <a:prstGeom prst="rect">
            <a:avLst/>
          </a:prstGeom>
        </p:spPr>
      </p:pic>
      <p:sp>
        <p:nvSpPr>
          <p:cNvPr id="25" name="Slide Number Placeholder 0"/>
          <p:cNvSpPr>
            <a:spLocks noGrp="1"/>
          </p:cNvSpPr>
          <p:nvPr>
            <p:ph type="sldNum" sz="quarter" idx="4294967295"/>
          </p:nvPr>
        </p:nvSpPr>
        <p:spPr>
          <a:xfrm>
            <a:off x="16642080" y="9646920"/>
            <a:ext cx="822960" cy="347472"/>
          </a:xfrm>
          <a:prstGeom prst="rect">
            <a:avLst/>
          </a:prstGeom>
          <a:extLst>
            <a:ext uri="{C572A759-6A51-4108-AA02-DFA0A04FC94B}">
              <ma14:wrappingTextBoxFlag xmlns:ma14="http://schemas.microsoft.com/office/mac/drawingml/2011/main" val="0"/>
            </a:ext>
          </a:extLst>
        </p:spPr>
        <p:txBody>
          <a:bodyPr/>
          <a:lstStyle>
            <a:lvl1pPr>
              <a:defRPr sz="1500">
                <a:solidFill>
                  <a:schemeClr val="tx1"/>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6642080" y="9646920"/>
            <a:ext cx="822960" cy="347472"/>
          </a:xfrm>
          <a:prstGeom prst="rect">
            <a:avLst/>
          </a:prstGeom>
          <a:extLst>
            <a:ext uri="{C572A759-6A51-4108-AA02-DFA0A04FC94B}">
              <ma14:wrappingTextBoxFlag xmlns:ma14="http://schemas.microsoft.com/office/mac/drawingml/2011/main" val="0"/>
            </a:ext>
          </a:extLst>
        </p:spPr>
        <p:txBody>
          <a:bodyPr/>
          <a:lstStyle>
            <a:lvl1pPr>
              <a:defRPr sz="1500">
                <a:solidFill>
                  <a:schemeClr val="tx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4.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4.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slideLayout" Target="../slideLayouts/slideLayout4.xml"/><Relationship Id="rId1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4.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slideLayout" Target="../slideLayouts/slideLayout4.xml"/><Relationship Id="rId10"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slideLayout" Target="../slideLayouts/slideLayout4.xml"/><Relationship Id="rId9"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5.xml"/><Relationship Id="rId6"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22376" y="804672"/>
            <a:ext cx="7863840" cy="4480560"/>
          </a:xfrm>
          <a:prstGeom prst="rect">
            <a:avLst/>
          </a:prstGeom>
          <a:noFill/>
          <a:ln/>
        </p:spPr>
        <p:txBody>
          <a:bodyPr wrap="square" lIns="0" tIns="0" rIns="0" bIns="0" rtlCol="0" anchor="t"/>
          <a:lstStyle/>
          <a:p>
            <a:pPr algn="l" indent="0" marL="0">
              <a:buNone/>
            </a:pPr>
            <a:r>
              <a:rPr lang="en-US" sz="6900" dirty="0">
                <a:solidFill>
                  <a:schemeClr val="tx1"/>
                </a:solidFill>
              </a:rPr>
              <a:t>Amperlane Platform</a:t>
            </a:r>
            <a:endParaRPr lang="en-US" sz="6900" dirty="0"/>
          </a:p>
        </p:txBody>
      </p:sp>
      <p:sp>
        <p:nvSpPr>
          <p:cNvPr id="3" name="Text 0"/>
          <p:cNvSpPr/>
          <p:nvPr>
            <p:ph idx="101" type="body" hasCustomPrompt="1"/>
          </p:nvPr>
        </p:nvSpPr>
        <p:spPr>
          <a:xfrm>
            <a:off x="722376" y="5394960"/>
            <a:ext cx="7863840" cy="1463040"/>
          </a:xfrm>
          <a:prstGeom prst="rect">
            <a:avLst/>
          </a:prstGeom>
          <a:noFill/>
          <a:ln/>
        </p:spPr>
        <p:txBody>
          <a:bodyPr wrap="square" lIns="0" tIns="0" rIns="0" bIns="0" rtlCol="0" anchor="t"/>
          <a:lstStyle/>
          <a:p>
            <a:pPr algn="l" indent="0" marL="0">
              <a:buNone/>
            </a:pPr>
            <a:r>
              <a:rPr lang="en-US" sz="2700" dirty="0">
                <a:solidFill>
                  <a:schemeClr val="tx1"/>
                </a:solidFill>
              </a:rPr>
              <a:t>Our understanding &amp; solution direction</a:t>
            </a:r>
            <a:endParaRPr lang="en-US" sz="2700" dirty="0"/>
          </a:p>
        </p:txBody>
      </p:sp>
      <p:sp>
        <p:nvSpPr>
          <p:cNvPr id="4" name="Text 2"/>
          <p:cNvSpPr txBox="1"/>
          <p:nvPr/>
        </p:nvSpPr>
        <p:spPr>
          <a:xfrm>
            <a:off x="722376" y="6949440"/>
            <a:ext cx="7863840" cy="548640"/>
          </a:xfrm>
          <a:prstGeom prst="rect">
            <a:avLst/>
          </a:prstGeom>
          <a:noFill/>
          <a:ln/>
        </p:spPr>
        <p:txBody>
          <a:bodyPr wrap="square" lIns="0" tIns="0" rIns="0" bIns="0" rtlCol="0" anchor="t"/>
          <a:lstStyle/>
          <a:p>
            <a:pPr indent="0" marL="0">
              <a:buNone/>
            </a:pPr>
            <a:r>
              <a:rPr lang="en-US" sz="2200" dirty="0">
                <a:solidFill>
                  <a:srgbClr val="6F6F6F"/>
                </a:solidFill>
              </a:rPr>
              <a:t>Prepared for Amperlane, Inc.  ·  October 16, 2026</a:t>
            </a:r>
            <a:endParaRPr lang="en-US" sz="2200" dirty="0"/>
          </a:p>
        </p:txBody>
      </p:sp>
      <p:sp>
        <p:nvSpPr>
          <p:cNvPr id="5" name="Text 3"/>
          <p:cNvSpPr txBox="1"/>
          <p:nvPr/>
        </p:nvSpPr>
        <p:spPr>
          <a:xfrm>
            <a:off x="2743200" y="9646920"/>
            <a:ext cx="6400800" cy="347472"/>
          </a:xfrm>
          <a:prstGeom prst="rect">
            <a:avLst/>
          </a:prstGeom>
          <a:noFill/>
          <a:ln/>
        </p:spPr>
        <p:txBody>
          <a:bodyPr wrap="square" lIns="0" tIns="0" rIns="0" bIns="0" rtlCol="0" anchor="t"/>
          <a:lstStyle/>
          <a:p>
            <a:pPr indent="0" marL="0">
              <a:buNone/>
            </a:pPr>
            <a:r>
              <a:rPr lang="en-US" sz="1500" dirty="0">
                <a:solidFill>
                  <a:schemeClr val="tx1"/>
                </a:solidFill>
              </a:rPr>
              <a:t>Confidential  ·  For discussion, not an estimate</a:t>
            </a:r>
            <a:endParaRPr lang="en-US" sz="1500" dirty="0"/>
          </a:p>
        </p:txBody>
      </p:sp>
      <p:sp>
        <p:nvSpPr>
          <p:cNvPr id="6" name="Shape 4"/>
          <p:cNvSpPr/>
          <p:nvPr/>
        </p:nvSpPr>
        <p:spPr>
          <a:xfrm>
            <a:off x="9144000" y="0"/>
            <a:ext cx="9144000" cy="10287000"/>
          </a:xfrm>
          <a:prstGeom prst="rect">
            <a:avLst/>
          </a:prstGeom>
          <a:solidFill>
            <a:schemeClr val="tx2"/>
          </a:solidFill>
          <a:ln w="12700">
            <a:solidFill>
              <a:schemeClr val="tx2"/>
            </a:solidFill>
            <a:prstDash val="solid"/>
          </a:ln>
        </p:spPr>
      </p:sp>
      <p:sp>
        <p:nvSpPr>
          <p:cNvPr id="7" name="Shape 5"/>
          <p:cNvSpPr/>
          <p:nvPr/>
        </p:nvSpPr>
        <p:spPr>
          <a:xfrm>
            <a:off x="10058400" y="1463040"/>
            <a:ext cx="7315200" cy="7315200"/>
          </a:xfrm>
          <a:prstGeom prst="ellipse">
            <a:avLst/>
          </a:prstGeom>
          <a:solidFill>
            <a:schemeClr val="accent1"/>
          </a:solidFill>
          <a:ln w="12700">
            <a:solidFill>
              <a:schemeClr val="accent1"/>
            </a:solidFill>
            <a:prstDash val="solid"/>
          </a:ln>
        </p:spPr>
      </p:sp>
      <p:sp>
        <p:nvSpPr>
          <p:cNvPr id="8" name="Text 6"/>
          <p:cNvSpPr txBox="1"/>
          <p:nvPr/>
        </p:nvSpPr>
        <p:spPr>
          <a:xfrm>
            <a:off x="10972800" y="1463040"/>
            <a:ext cx="5486400" cy="7315200"/>
          </a:xfrm>
          <a:prstGeom prst="rect">
            <a:avLst/>
          </a:prstGeom>
          <a:noFill/>
          <a:ln/>
        </p:spPr>
        <p:txBody>
          <a:bodyPr wrap="square" lIns="0" tIns="0" rIns="0" bIns="0" rtlCol="0" anchor="ctr"/>
          <a:lstStyle/>
          <a:p>
            <a:pPr algn="ctr" indent="0" marL="0">
              <a:buNone/>
            </a:pPr>
            <a:r>
              <a:rPr lang="en-US" sz="6600" b="1" dirty="0">
                <a:solidFill>
                  <a:schemeClr val="tx2"/>
                </a:solidFill>
              </a:rPr>
              <a:t>Book.</a:t>
            </a:r>
            <a:endParaRPr lang="en-US" sz="6600" dirty="0"/>
          </a:p>
          <a:p>
            <a:pPr algn="ctr" indent="0" marL="0">
              <a:buNone/>
            </a:pPr>
            <a:r>
              <a:rPr lang="en-US" sz="6600" b="1" dirty="0">
                <a:solidFill>
                  <a:schemeClr val="tx2"/>
                </a:solidFill>
              </a:rPr>
              <a:t>Arrive.</a:t>
            </a:r>
            <a:endParaRPr lang="en-US" sz="6600" dirty="0"/>
          </a:p>
          <a:p>
            <a:pPr algn="ctr" indent="0" marL="0">
              <a:buNone/>
            </a:pPr>
            <a:r>
              <a:rPr lang="en-US" sz="6600" b="1" dirty="0">
                <a:solidFill>
                  <a:schemeClr val="tx2"/>
                </a:solidFill>
              </a:rPr>
              <a:t>Charge.</a:t>
            </a:r>
            <a:endParaRPr lang="en-US" sz="6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header"/>
          <p:cNvSpPr txBox="1"/>
          <p:nvPr/>
        </p:nvSpPr>
        <p:spPr>
          <a:xfrm>
            <a:off x="822960" y="219456"/>
            <a:ext cx="10972800" cy="347472"/>
          </a:xfrm>
          <a:prstGeom prst="rect">
            <a:avLst/>
          </a:prstGeom>
          <a:noFill/>
          <a:ln/>
        </p:spPr>
        <p:txBody>
          <a:bodyPr wrap="square" lIns="0" tIns="0" rIns="0" bIns="0" rtlCol="0" anchor="ctr"/>
          <a:lstStyle/>
          <a:p>
            <a:pPr indent="0" marL="0">
              <a:buNone/>
            </a:pPr>
            <a:r>
              <a:rPr lang="en-US" sz="1500" dirty="0">
                <a:solidFill>
                  <a:schemeClr val="tx1"/>
                </a:solidFill>
              </a:rPr>
              <a:t>amperlane/01-understanding</a:t>
            </a:r>
            <a:endParaRPr lang="en-US" sz="1500" dirty="0"/>
          </a:p>
        </p:txBody>
      </p:sp>
      <p:sp>
        <p:nvSpPr>
          <p:cNvPr id="3" name="Text 0"/>
          <p:cNvSpPr/>
          <p:nvPr>
            <p:ph idx="100" type="title" hasCustomPrompt="1"/>
          </p:nvPr>
        </p:nvSpPr>
        <p:spPr>
          <a:xfrm>
            <a:off x="822960" y="841248"/>
            <a:ext cx="16642080" cy="1005840"/>
          </a:xfrm>
          <a:prstGeom prst="rect">
            <a:avLst/>
          </a:prstGeom>
          <a:noFill/>
          <a:ln/>
        </p:spPr>
        <p:txBody>
          <a:bodyPr wrap="square" lIns="0" tIns="0" rIns="0" bIns="0" rtlCol="0" anchor="t"/>
          <a:lstStyle/>
          <a:p>
            <a:pPr algn="l" indent="0" marL="0">
              <a:buNone/>
            </a:pPr>
            <a:r>
              <a:rPr lang="en-US" sz="4500" dirty="0">
                <a:solidFill>
                  <a:schemeClr val="tx1"/>
                </a:solidFill>
              </a:rPr>
              <a:t>Where we are in the process</a:t>
            </a:r>
            <a:endParaRPr lang="en-US" sz="4500" dirty="0"/>
          </a:p>
        </p:txBody>
      </p:sp>
      <p:sp>
        <p:nvSpPr>
          <p:cNvPr id="5" name="Shape 2"/>
          <p:cNvSpPr/>
          <p:nvPr/>
        </p:nvSpPr>
        <p:spPr>
          <a:xfrm>
            <a:off x="822960" y="2286000"/>
            <a:ext cx="2926080" cy="2377440"/>
          </a:xfrm>
          <a:prstGeom prst="rect">
            <a:avLst/>
          </a:prstGeom>
          <a:solidFill>
            <a:schemeClr val="bg2"/>
          </a:solidFill>
          <a:ln w="12700">
            <a:solidFill>
              <a:schemeClr val="bg2"/>
            </a:solidFill>
            <a:prstDash val="solid"/>
          </a:ln>
        </p:spPr>
      </p:sp>
      <p:sp>
        <p:nvSpPr>
          <p:cNvPr id="6" name="Text 3"/>
          <p:cNvSpPr txBox="1"/>
          <p:nvPr/>
        </p:nvSpPr>
        <p:spPr>
          <a:xfrm>
            <a:off x="1097280" y="2514600"/>
            <a:ext cx="2377440" cy="457200"/>
          </a:xfrm>
          <a:prstGeom prst="rect">
            <a:avLst/>
          </a:prstGeom>
          <a:noFill/>
          <a:ln/>
        </p:spPr>
        <p:txBody>
          <a:bodyPr wrap="square" lIns="0" tIns="0" rIns="0" bIns="0" rtlCol="0" anchor="t"/>
          <a:lstStyle/>
          <a:p>
            <a:pPr indent="0" marL="0">
              <a:buNone/>
            </a:pPr>
            <a:r>
              <a:rPr lang="en-US" sz="2000" b="1" dirty="0">
                <a:solidFill>
                  <a:schemeClr val="accent2"/>
                </a:solidFill>
              </a:rPr>
              <a:t>Sep 22</a:t>
            </a:r>
            <a:endParaRPr lang="en-US" sz="2000" dirty="0"/>
          </a:p>
        </p:txBody>
      </p:sp>
      <p:sp>
        <p:nvSpPr>
          <p:cNvPr id="7" name="Text 4"/>
          <p:cNvSpPr txBox="1"/>
          <p:nvPr/>
        </p:nvSpPr>
        <p:spPr>
          <a:xfrm>
            <a:off x="1097280" y="2971800"/>
            <a:ext cx="2377440" cy="868680"/>
          </a:xfrm>
          <a:prstGeom prst="rect">
            <a:avLst/>
          </a:prstGeom>
          <a:noFill/>
          <a:ln/>
        </p:spPr>
        <p:txBody>
          <a:bodyPr wrap="square" lIns="0" tIns="0" rIns="0" bIns="0" rtlCol="0" anchor="t"/>
          <a:lstStyle/>
          <a:p>
            <a:pPr indent="0" marL="0">
              <a:buNone/>
            </a:pPr>
            <a:r>
              <a:rPr lang="en-US" sz="2400" b="1" dirty="0">
                <a:solidFill>
                  <a:schemeClr val="tx2"/>
                </a:solidFill>
              </a:rPr>
              <a:t>Your brief</a:t>
            </a:r>
            <a:endParaRPr lang="en-US" sz="2400" dirty="0"/>
          </a:p>
        </p:txBody>
      </p:sp>
      <p:sp>
        <p:nvSpPr>
          <p:cNvPr id="8" name="Text 5"/>
          <p:cNvSpPr txBox="1"/>
          <p:nvPr/>
        </p:nvSpPr>
        <p:spPr>
          <a:xfrm>
            <a:off x="1097280" y="3886200"/>
            <a:ext cx="2377440" cy="685800"/>
          </a:xfrm>
          <a:prstGeom prst="rect">
            <a:avLst/>
          </a:prstGeom>
          <a:noFill/>
          <a:ln/>
        </p:spPr>
        <p:txBody>
          <a:bodyPr wrap="square" lIns="0" tIns="0" rIns="0" bIns="0" rtlCol="0" anchor="t"/>
          <a:lstStyle/>
          <a:p>
            <a:pPr indent="0" marL="0">
              <a:buNone/>
            </a:pPr>
            <a:r>
              <a:rPr lang="en-US" sz="1800" dirty="0">
                <a:solidFill>
                  <a:schemeClr val="tx1"/>
                </a:solidFill>
              </a:rPr>
              <a:t>Platform Partner Brief</a:t>
            </a:r>
            <a:endParaRPr lang="en-US" sz="1800" dirty="0"/>
          </a:p>
        </p:txBody>
      </p:sp>
      <p:sp>
        <p:nvSpPr>
          <p:cNvPr id="9" name="Shape 6"/>
          <p:cNvSpPr/>
          <p:nvPr/>
        </p:nvSpPr>
        <p:spPr>
          <a:xfrm>
            <a:off x="3822192" y="3474720"/>
            <a:ext cx="356616" cy="914"/>
          </a:xfrm>
          <a:prstGeom prst="line">
            <a:avLst/>
          </a:prstGeom>
          <a:noFill/>
          <a:ln w="38100">
            <a:solidFill>
              <a:srgbClr val="6F6F6F"/>
            </a:solidFill>
            <a:prstDash val="solid"/>
            <a:tailEnd type="triangle"/>
          </a:ln>
        </p:spPr>
      </p:sp>
      <p:sp>
        <p:nvSpPr>
          <p:cNvPr id="10" name="Shape 7"/>
          <p:cNvSpPr/>
          <p:nvPr/>
        </p:nvSpPr>
        <p:spPr>
          <a:xfrm>
            <a:off x="4251960" y="2286000"/>
            <a:ext cx="2926080" cy="2377440"/>
          </a:xfrm>
          <a:prstGeom prst="rect">
            <a:avLst/>
          </a:prstGeom>
          <a:solidFill>
            <a:schemeClr val="bg2"/>
          </a:solidFill>
          <a:ln w="12700">
            <a:solidFill>
              <a:schemeClr val="bg2"/>
            </a:solidFill>
            <a:prstDash val="solid"/>
          </a:ln>
        </p:spPr>
      </p:sp>
      <p:sp>
        <p:nvSpPr>
          <p:cNvPr id="11" name="Text 8"/>
          <p:cNvSpPr txBox="1"/>
          <p:nvPr/>
        </p:nvSpPr>
        <p:spPr>
          <a:xfrm>
            <a:off x="4526280" y="2514600"/>
            <a:ext cx="2377440" cy="457200"/>
          </a:xfrm>
          <a:prstGeom prst="rect">
            <a:avLst/>
          </a:prstGeom>
          <a:noFill/>
          <a:ln/>
        </p:spPr>
        <p:txBody>
          <a:bodyPr wrap="square" lIns="0" tIns="0" rIns="0" bIns="0" rtlCol="0" anchor="t"/>
          <a:lstStyle/>
          <a:p>
            <a:pPr indent="0" marL="0">
              <a:buNone/>
            </a:pPr>
            <a:r>
              <a:rPr lang="en-US" sz="2000" b="1" dirty="0">
                <a:solidFill>
                  <a:schemeClr val="accent2"/>
                </a:solidFill>
              </a:rPr>
              <a:t>Sep 29</a:t>
            </a:r>
            <a:endParaRPr lang="en-US" sz="2000" dirty="0"/>
          </a:p>
        </p:txBody>
      </p:sp>
      <p:sp>
        <p:nvSpPr>
          <p:cNvPr id="12" name="Text 9"/>
          <p:cNvSpPr txBox="1"/>
          <p:nvPr/>
        </p:nvSpPr>
        <p:spPr>
          <a:xfrm>
            <a:off x="4526280" y="2971800"/>
            <a:ext cx="2377440" cy="868680"/>
          </a:xfrm>
          <a:prstGeom prst="rect">
            <a:avLst/>
          </a:prstGeom>
          <a:noFill/>
          <a:ln/>
        </p:spPr>
        <p:txBody>
          <a:bodyPr wrap="square" lIns="0" tIns="0" rIns="0" bIns="0" rtlCol="0" anchor="t"/>
          <a:lstStyle/>
          <a:p>
            <a:pPr indent="0" marL="0">
              <a:buNone/>
            </a:pPr>
            <a:r>
              <a:rPr lang="en-US" sz="2400" b="1" dirty="0">
                <a:solidFill>
                  <a:schemeClr val="tx2"/>
                </a:solidFill>
              </a:rPr>
              <a:t>Discovery call</a:t>
            </a:r>
            <a:endParaRPr lang="en-US" sz="2400" dirty="0"/>
          </a:p>
        </p:txBody>
      </p:sp>
      <p:sp>
        <p:nvSpPr>
          <p:cNvPr id="13" name="Text 10"/>
          <p:cNvSpPr txBox="1"/>
          <p:nvPr/>
        </p:nvSpPr>
        <p:spPr>
          <a:xfrm>
            <a:off x="4526280" y="3886200"/>
            <a:ext cx="2377440" cy="685800"/>
          </a:xfrm>
          <a:prstGeom prst="rect">
            <a:avLst/>
          </a:prstGeom>
          <a:noFill/>
          <a:ln/>
        </p:spPr>
        <p:txBody>
          <a:bodyPr wrap="square" lIns="0" tIns="0" rIns="0" bIns="0" rtlCol="0" anchor="t"/>
          <a:lstStyle/>
          <a:p>
            <a:pPr indent="0" marL="0">
              <a:buNone/>
            </a:pPr>
            <a:r>
              <a:rPr lang="en-US" sz="1800" dirty="0">
                <a:solidFill>
                  <a:schemeClr val="tx1"/>
                </a:solidFill>
              </a:rPr>
              <a:t>business and scope</a:t>
            </a:r>
            <a:endParaRPr lang="en-US" sz="1800" dirty="0"/>
          </a:p>
        </p:txBody>
      </p:sp>
      <p:sp>
        <p:nvSpPr>
          <p:cNvPr id="14" name="Shape 11"/>
          <p:cNvSpPr/>
          <p:nvPr/>
        </p:nvSpPr>
        <p:spPr>
          <a:xfrm>
            <a:off x="7251192" y="3474720"/>
            <a:ext cx="356616" cy="914"/>
          </a:xfrm>
          <a:prstGeom prst="line">
            <a:avLst/>
          </a:prstGeom>
          <a:noFill/>
          <a:ln w="38100">
            <a:solidFill>
              <a:srgbClr val="6F6F6F"/>
            </a:solidFill>
            <a:prstDash val="solid"/>
            <a:tailEnd type="triangle"/>
          </a:ln>
        </p:spPr>
      </p:sp>
      <p:sp>
        <p:nvSpPr>
          <p:cNvPr id="15" name="Shape 12"/>
          <p:cNvSpPr/>
          <p:nvPr/>
        </p:nvSpPr>
        <p:spPr>
          <a:xfrm>
            <a:off x="7680960" y="2286000"/>
            <a:ext cx="2926080" cy="2377440"/>
          </a:xfrm>
          <a:prstGeom prst="rect">
            <a:avLst/>
          </a:prstGeom>
          <a:solidFill>
            <a:schemeClr val="bg2"/>
          </a:solidFill>
          <a:ln w="12700">
            <a:solidFill>
              <a:schemeClr val="bg2"/>
            </a:solidFill>
            <a:prstDash val="solid"/>
          </a:ln>
        </p:spPr>
      </p:sp>
      <p:sp>
        <p:nvSpPr>
          <p:cNvPr id="16" name="Text 13"/>
          <p:cNvSpPr txBox="1"/>
          <p:nvPr/>
        </p:nvSpPr>
        <p:spPr>
          <a:xfrm>
            <a:off x="7955280" y="2514600"/>
            <a:ext cx="2377440" cy="457200"/>
          </a:xfrm>
          <a:prstGeom prst="rect">
            <a:avLst/>
          </a:prstGeom>
          <a:noFill/>
          <a:ln/>
        </p:spPr>
        <p:txBody>
          <a:bodyPr wrap="square" lIns="0" tIns="0" rIns="0" bIns="0" rtlCol="0" anchor="t"/>
          <a:lstStyle/>
          <a:p>
            <a:pPr indent="0" marL="0">
              <a:buNone/>
            </a:pPr>
            <a:r>
              <a:rPr lang="en-US" sz="2000" b="1" dirty="0">
                <a:solidFill>
                  <a:schemeClr val="accent2"/>
                </a:solidFill>
              </a:rPr>
              <a:t>Oct 8</a:t>
            </a:r>
            <a:endParaRPr lang="en-US" sz="2000" dirty="0"/>
          </a:p>
        </p:txBody>
      </p:sp>
      <p:sp>
        <p:nvSpPr>
          <p:cNvPr id="17" name="Text 14"/>
          <p:cNvSpPr txBox="1"/>
          <p:nvPr/>
        </p:nvSpPr>
        <p:spPr>
          <a:xfrm>
            <a:off x="7955280" y="2971800"/>
            <a:ext cx="2377440" cy="868680"/>
          </a:xfrm>
          <a:prstGeom prst="rect">
            <a:avLst/>
          </a:prstGeom>
          <a:noFill/>
          <a:ln/>
        </p:spPr>
        <p:txBody>
          <a:bodyPr wrap="square" lIns="0" tIns="0" rIns="0" bIns="0" rtlCol="0" anchor="t"/>
          <a:lstStyle/>
          <a:p>
            <a:pPr indent="0" marL="0">
              <a:buNone/>
            </a:pPr>
            <a:r>
              <a:rPr lang="en-US" sz="2400" b="1" dirty="0">
                <a:solidFill>
                  <a:schemeClr val="tx2"/>
                </a:solidFill>
              </a:rPr>
              <a:t>Tech deep-dive</a:t>
            </a:r>
            <a:endParaRPr lang="en-US" sz="2400" dirty="0"/>
          </a:p>
        </p:txBody>
      </p:sp>
      <p:sp>
        <p:nvSpPr>
          <p:cNvPr id="18" name="Text 15"/>
          <p:cNvSpPr txBox="1"/>
          <p:nvPr/>
        </p:nvSpPr>
        <p:spPr>
          <a:xfrm>
            <a:off x="7955280" y="3886200"/>
            <a:ext cx="2377440" cy="685800"/>
          </a:xfrm>
          <a:prstGeom prst="rect">
            <a:avLst/>
          </a:prstGeom>
          <a:noFill/>
          <a:ln/>
        </p:spPr>
        <p:txBody>
          <a:bodyPr wrap="square" lIns="0" tIns="0" rIns="0" bIns="0" rtlCol="0" anchor="t"/>
          <a:lstStyle/>
          <a:p>
            <a:pPr indent="0" marL="0">
              <a:buNone/>
            </a:pPr>
            <a:r>
              <a:rPr lang="en-US" sz="1800" dirty="0">
                <a:solidFill>
                  <a:schemeClr val="tx1"/>
                </a:solidFill>
              </a:rPr>
              <a:t>integrations, payments, NFRs</a:t>
            </a:r>
            <a:endParaRPr lang="en-US" sz="1800" dirty="0"/>
          </a:p>
        </p:txBody>
      </p:sp>
      <p:sp>
        <p:nvSpPr>
          <p:cNvPr id="19" name="Shape 16"/>
          <p:cNvSpPr/>
          <p:nvPr/>
        </p:nvSpPr>
        <p:spPr>
          <a:xfrm>
            <a:off x="10680192" y="3474720"/>
            <a:ext cx="356616" cy="914"/>
          </a:xfrm>
          <a:prstGeom prst="line">
            <a:avLst/>
          </a:prstGeom>
          <a:noFill/>
          <a:ln w="38100">
            <a:solidFill>
              <a:srgbClr val="6F6F6F"/>
            </a:solidFill>
            <a:prstDash val="solid"/>
            <a:tailEnd type="triangle"/>
          </a:ln>
        </p:spPr>
      </p:sp>
      <p:sp>
        <p:nvSpPr>
          <p:cNvPr id="20" name="Shape 17"/>
          <p:cNvSpPr/>
          <p:nvPr/>
        </p:nvSpPr>
        <p:spPr>
          <a:xfrm>
            <a:off x="11109960" y="2286000"/>
            <a:ext cx="2926080" cy="2377440"/>
          </a:xfrm>
          <a:prstGeom prst="rect">
            <a:avLst/>
          </a:prstGeom>
          <a:solidFill>
            <a:schemeClr val="accent1"/>
          </a:solidFill>
          <a:ln w="12700">
            <a:solidFill>
              <a:schemeClr val="accent1"/>
            </a:solidFill>
            <a:prstDash val="solid"/>
          </a:ln>
        </p:spPr>
      </p:sp>
      <p:sp>
        <p:nvSpPr>
          <p:cNvPr id="21" name="Text 18"/>
          <p:cNvSpPr txBox="1"/>
          <p:nvPr/>
        </p:nvSpPr>
        <p:spPr>
          <a:xfrm>
            <a:off x="11384280" y="2514600"/>
            <a:ext cx="2377440" cy="457200"/>
          </a:xfrm>
          <a:prstGeom prst="rect">
            <a:avLst/>
          </a:prstGeom>
          <a:noFill/>
          <a:ln/>
        </p:spPr>
        <p:txBody>
          <a:bodyPr wrap="square" lIns="0" tIns="0" rIns="0" bIns="0" rtlCol="0" anchor="t"/>
          <a:lstStyle/>
          <a:p>
            <a:pPr indent="0" marL="0">
              <a:buNone/>
            </a:pPr>
            <a:r>
              <a:rPr lang="en-US" sz="2000" b="1" dirty="0">
                <a:solidFill>
                  <a:schemeClr val="tx2"/>
                </a:solidFill>
              </a:rPr>
              <a:t>Oct 16</a:t>
            </a:r>
            <a:endParaRPr lang="en-US" sz="2000" dirty="0"/>
          </a:p>
        </p:txBody>
      </p:sp>
      <p:sp>
        <p:nvSpPr>
          <p:cNvPr id="22" name="Text 19"/>
          <p:cNvSpPr txBox="1"/>
          <p:nvPr/>
        </p:nvSpPr>
        <p:spPr>
          <a:xfrm>
            <a:off x="11384280" y="2971800"/>
            <a:ext cx="2377440" cy="868680"/>
          </a:xfrm>
          <a:prstGeom prst="rect">
            <a:avLst/>
          </a:prstGeom>
          <a:noFill/>
          <a:ln/>
        </p:spPr>
        <p:txBody>
          <a:bodyPr wrap="square" lIns="0" tIns="0" rIns="0" bIns="0" rtlCol="0" anchor="t"/>
          <a:lstStyle/>
          <a:p>
            <a:pPr indent="0" marL="0">
              <a:buNone/>
            </a:pPr>
            <a:r>
              <a:rPr lang="en-US" sz="2400" b="1" dirty="0">
                <a:solidFill>
                  <a:schemeClr val="tx2"/>
                </a:solidFill>
              </a:rPr>
              <a:t>This deck</a:t>
            </a:r>
            <a:endParaRPr lang="en-US" sz="2400" dirty="0"/>
          </a:p>
        </p:txBody>
      </p:sp>
      <p:sp>
        <p:nvSpPr>
          <p:cNvPr id="23" name="Text 20"/>
          <p:cNvSpPr txBox="1"/>
          <p:nvPr/>
        </p:nvSpPr>
        <p:spPr>
          <a:xfrm>
            <a:off x="11384280" y="3886200"/>
            <a:ext cx="2377440" cy="685800"/>
          </a:xfrm>
          <a:prstGeom prst="rect">
            <a:avLst/>
          </a:prstGeom>
          <a:noFill/>
          <a:ln/>
        </p:spPr>
        <p:txBody>
          <a:bodyPr wrap="square" lIns="0" tIns="0" rIns="0" bIns="0" rtlCol="0" anchor="t"/>
          <a:lstStyle/>
          <a:p>
            <a:pPr indent="0" marL="0">
              <a:buNone/>
            </a:pPr>
            <a:r>
              <a:rPr lang="en-US" sz="1800" dirty="0">
                <a:solidFill>
                  <a:schemeClr val="tx1"/>
                </a:solidFill>
              </a:rPr>
              <a:t>understanding and direction</a:t>
            </a:r>
            <a:endParaRPr lang="en-US" sz="1800" dirty="0"/>
          </a:p>
        </p:txBody>
      </p:sp>
      <p:sp>
        <p:nvSpPr>
          <p:cNvPr id="24" name="Shape 21"/>
          <p:cNvSpPr/>
          <p:nvPr/>
        </p:nvSpPr>
        <p:spPr>
          <a:xfrm>
            <a:off x="14109192" y="3474720"/>
            <a:ext cx="356616" cy="914"/>
          </a:xfrm>
          <a:prstGeom prst="line">
            <a:avLst/>
          </a:prstGeom>
          <a:noFill/>
          <a:ln w="38100">
            <a:solidFill>
              <a:srgbClr val="6F6F6F"/>
            </a:solidFill>
            <a:prstDash val="solid"/>
            <a:tailEnd type="triangle"/>
          </a:ln>
        </p:spPr>
      </p:sp>
      <p:sp>
        <p:nvSpPr>
          <p:cNvPr id="25" name="Shape 22"/>
          <p:cNvSpPr/>
          <p:nvPr/>
        </p:nvSpPr>
        <p:spPr>
          <a:xfrm>
            <a:off x="14538960" y="2286000"/>
            <a:ext cx="2926080" cy="2377440"/>
          </a:xfrm>
          <a:prstGeom prst="rect">
            <a:avLst/>
          </a:prstGeom>
          <a:solidFill>
            <a:schemeClr val="bg1"/>
          </a:solidFill>
          <a:ln w="25400">
            <a:solidFill>
              <a:srgbClr val="6F6F6F"/>
            </a:solidFill>
            <a:prstDash val="dash"/>
          </a:ln>
        </p:spPr>
      </p:sp>
      <p:sp>
        <p:nvSpPr>
          <p:cNvPr id="26" name="Text 23"/>
          <p:cNvSpPr txBox="1"/>
          <p:nvPr/>
        </p:nvSpPr>
        <p:spPr>
          <a:xfrm>
            <a:off x="14813280" y="2514600"/>
            <a:ext cx="2377440" cy="457200"/>
          </a:xfrm>
          <a:prstGeom prst="rect">
            <a:avLst/>
          </a:prstGeom>
          <a:noFill/>
          <a:ln/>
        </p:spPr>
        <p:txBody>
          <a:bodyPr wrap="square" lIns="0" tIns="0" rIns="0" bIns="0" rtlCol="0" anchor="t"/>
          <a:lstStyle/>
          <a:p>
            <a:pPr indent="0" marL="0">
              <a:buNone/>
            </a:pPr>
            <a:r>
              <a:rPr lang="en-US" sz="2000" b="1" dirty="0">
                <a:solidFill>
                  <a:schemeClr val="accent2"/>
                </a:solidFill>
              </a:rPr>
              <a:t>Nov 6</a:t>
            </a:r>
            <a:endParaRPr lang="en-US" sz="2000" dirty="0"/>
          </a:p>
        </p:txBody>
      </p:sp>
      <p:sp>
        <p:nvSpPr>
          <p:cNvPr id="27" name="Text 24"/>
          <p:cNvSpPr txBox="1"/>
          <p:nvPr/>
        </p:nvSpPr>
        <p:spPr>
          <a:xfrm>
            <a:off x="14813280" y="2971800"/>
            <a:ext cx="2377440" cy="868680"/>
          </a:xfrm>
          <a:prstGeom prst="rect">
            <a:avLst/>
          </a:prstGeom>
          <a:noFill/>
          <a:ln/>
        </p:spPr>
        <p:txBody>
          <a:bodyPr wrap="square" lIns="0" tIns="0" rIns="0" bIns="0" rtlCol="0" anchor="t"/>
          <a:lstStyle/>
          <a:p>
            <a:pPr indent="0" marL="0">
              <a:buNone/>
            </a:pPr>
            <a:r>
              <a:rPr lang="en-US" sz="2400" b="1" dirty="0">
                <a:solidFill>
                  <a:schemeClr val="tx2"/>
                </a:solidFill>
              </a:rPr>
              <a:t>Costed proposal</a:t>
            </a:r>
            <a:endParaRPr lang="en-US" sz="2400" dirty="0"/>
          </a:p>
        </p:txBody>
      </p:sp>
      <p:sp>
        <p:nvSpPr>
          <p:cNvPr id="28" name="Text 25"/>
          <p:cNvSpPr txBox="1"/>
          <p:nvPr/>
        </p:nvSpPr>
        <p:spPr>
          <a:xfrm>
            <a:off x="14813280" y="3886200"/>
            <a:ext cx="2377440" cy="685800"/>
          </a:xfrm>
          <a:prstGeom prst="rect">
            <a:avLst/>
          </a:prstGeom>
          <a:noFill/>
          <a:ln/>
        </p:spPr>
        <p:txBody>
          <a:bodyPr wrap="square" lIns="0" tIns="0" rIns="0" bIns="0" rtlCol="0" anchor="t"/>
          <a:lstStyle/>
          <a:p>
            <a:pPr indent="0" marL="0">
              <a:buNone/>
            </a:pPr>
            <a:r>
              <a:rPr lang="en-US" sz="1800" dirty="0">
                <a:solidFill>
                  <a:schemeClr val="tx1"/>
                </a:solidFill>
              </a:rPr>
              <a:t>scope, plan, estimate</a:t>
            </a:r>
            <a:endParaRPr lang="en-US" sz="1800" dirty="0"/>
          </a:p>
        </p:txBody>
      </p:sp>
      <p:sp>
        <p:nvSpPr>
          <p:cNvPr id="29" name="Shape 26"/>
          <p:cNvSpPr/>
          <p:nvPr/>
        </p:nvSpPr>
        <p:spPr>
          <a:xfrm>
            <a:off x="822960" y="5212080"/>
            <a:ext cx="8138160" cy="3749040"/>
          </a:xfrm>
          <a:prstGeom prst="rect">
            <a:avLst/>
          </a:prstGeom>
          <a:solidFill>
            <a:schemeClr val="bg2"/>
          </a:solidFill>
          <a:ln w="12700">
            <a:solidFill>
              <a:schemeClr val="bg2"/>
            </a:solidFill>
            <a:prstDash val="solid"/>
          </a:ln>
        </p:spPr>
      </p:sp>
      <p:sp>
        <p:nvSpPr>
          <p:cNvPr id="30" name="Text 27"/>
          <p:cNvSpPr txBox="1"/>
          <p:nvPr/>
        </p:nvSpPr>
        <p:spPr>
          <a:xfrm>
            <a:off x="1280160" y="5486400"/>
            <a:ext cx="7315200" cy="640080"/>
          </a:xfrm>
          <a:prstGeom prst="rect">
            <a:avLst/>
          </a:prstGeom>
          <a:noFill/>
          <a:ln/>
        </p:spPr>
        <p:txBody>
          <a:bodyPr wrap="square" lIns="0" tIns="0" rIns="0" bIns="0" rtlCol="0" anchor="t"/>
          <a:lstStyle/>
          <a:p>
            <a:pPr indent="0" marL="0">
              <a:buNone/>
            </a:pPr>
            <a:r>
              <a:rPr lang="en-US" sz="2800" b="1" dirty="0">
                <a:solidFill>
                  <a:schemeClr val="tx2"/>
                </a:solidFill>
              </a:rPr>
              <a:t>What this deck is</a:t>
            </a:r>
            <a:endParaRPr lang="en-US" sz="2800" dirty="0"/>
          </a:p>
        </p:txBody>
      </p:sp>
      <p:sp>
        <p:nvSpPr>
          <p:cNvPr id="31" name="Text 28"/>
          <p:cNvSpPr txBox="1"/>
          <p:nvPr/>
        </p:nvSpPr>
        <p:spPr>
          <a:xfrm>
            <a:off x="1280160" y="6217920"/>
            <a:ext cx="7315200" cy="256032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How we understood your request</a:t>
            </a:r>
            <a:endParaRPr lang="en-US" sz="2200" dirty="0"/>
          </a:p>
          <a:p>
            <a:pPr marL="342900" indent="-342900">
              <a:spcAft>
                <a:spcPts val="600"/>
              </a:spcAft>
              <a:buSzPct val="100000"/>
              <a:buChar char="•"/>
            </a:pPr>
            <a:r>
              <a:rPr lang="en-US" sz="2200" dirty="0">
                <a:solidFill>
                  <a:schemeClr val="tx1"/>
                </a:solidFill>
              </a:rPr>
              <a:t>Where the facts moved since the brief</a:t>
            </a:r>
            <a:endParaRPr lang="en-US" sz="2200" dirty="0"/>
          </a:p>
          <a:p>
            <a:pPr marL="342900" indent="-342900">
              <a:spcAft>
                <a:spcPts val="600"/>
              </a:spcAft>
              <a:buSzPct val="100000"/>
              <a:buChar char="•"/>
            </a:pPr>
            <a:r>
              <a:rPr lang="en-US" sz="2200" dirty="0">
                <a:solidFill>
                  <a:schemeClr val="tx1"/>
                </a:solidFill>
              </a:rPr>
              <a:t>Architecture and solution direction</a:t>
            </a:r>
            <a:endParaRPr lang="en-US" sz="2200" dirty="0"/>
          </a:p>
          <a:p>
            <a:pPr marL="342900" indent="-342900">
              <a:spcAft>
                <a:spcPts val="600"/>
              </a:spcAft>
              <a:buSzPct val="100000"/>
              <a:buChar char="•"/>
            </a:pPr>
            <a:r>
              <a:rPr lang="en-US" sz="2200" dirty="0">
                <a:solidFill>
                  <a:schemeClr val="tx1"/>
                </a:solidFill>
              </a:rPr>
              <a:t>Phase outline and team shape</a:t>
            </a:r>
            <a:endParaRPr lang="en-US" sz="2200" dirty="0"/>
          </a:p>
          <a:p>
            <a:pPr marL="342900" indent="-342900">
              <a:spcAft>
                <a:spcPts val="600"/>
              </a:spcAft>
              <a:buSzPct val="100000"/>
              <a:buChar char="•"/>
            </a:pPr>
            <a:r>
              <a:rPr lang="en-US" sz="2200" dirty="0">
                <a:solidFill>
                  <a:schemeClr val="tx1"/>
                </a:solidFill>
              </a:rPr>
              <a:t>The questions we need answered</a:t>
            </a:r>
            <a:endParaRPr lang="en-US" sz="2200" dirty="0"/>
          </a:p>
        </p:txBody>
      </p:sp>
      <p:sp>
        <p:nvSpPr>
          <p:cNvPr id="32" name="Shape 29"/>
          <p:cNvSpPr/>
          <p:nvPr/>
        </p:nvSpPr>
        <p:spPr>
          <a:xfrm>
            <a:off x="9326880" y="5212080"/>
            <a:ext cx="8138160" cy="3749040"/>
          </a:xfrm>
          <a:prstGeom prst="rect">
            <a:avLst/>
          </a:prstGeom>
          <a:solidFill>
            <a:schemeClr val="tx2"/>
          </a:solidFill>
          <a:ln w="12700">
            <a:solidFill>
              <a:schemeClr val="tx2"/>
            </a:solidFill>
            <a:prstDash val="solid"/>
          </a:ln>
        </p:spPr>
      </p:sp>
      <p:sp>
        <p:nvSpPr>
          <p:cNvPr id="33" name="Text 30"/>
          <p:cNvSpPr txBox="1"/>
          <p:nvPr/>
        </p:nvSpPr>
        <p:spPr>
          <a:xfrm>
            <a:off x="9784080" y="5486400"/>
            <a:ext cx="7315200" cy="640080"/>
          </a:xfrm>
          <a:prstGeom prst="rect">
            <a:avLst/>
          </a:prstGeom>
          <a:noFill/>
          <a:ln/>
        </p:spPr>
        <p:txBody>
          <a:bodyPr wrap="square" lIns="0" tIns="0" rIns="0" bIns="0" rtlCol="0" anchor="t"/>
          <a:lstStyle/>
          <a:p>
            <a:pPr indent="0" marL="0">
              <a:buNone/>
            </a:pPr>
            <a:r>
              <a:rPr lang="en-US" sz="2800" b="1" dirty="0">
                <a:solidFill>
                  <a:schemeClr val="accent1"/>
                </a:solidFill>
              </a:rPr>
              <a:t>What it is not (yet)</a:t>
            </a:r>
            <a:endParaRPr lang="en-US" sz="2800" dirty="0"/>
          </a:p>
        </p:txBody>
      </p:sp>
      <p:sp>
        <p:nvSpPr>
          <p:cNvPr id="34" name="Text 31"/>
          <p:cNvSpPr txBox="1"/>
          <p:nvPr/>
        </p:nvSpPr>
        <p:spPr>
          <a:xfrm>
            <a:off x="9784080" y="6217920"/>
            <a:ext cx="7315200" cy="256032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bg1"/>
                </a:solidFill>
              </a:rPr>
              <a:t>A detailed estimate or price</a:t>
            </a:r>
            <a:endParaRPr lang="en-US" sz="2200" dirty="0"/>
          </a:p>
          <a:p>
            <a:pPr marL="342900" indent="-342900">
              <a:spcAft>
                <a:spcPts val="600"/>
              </a:spcAft>
              <a:buSzPct val="100000"/>
              <a:buChar char="•"/>
            </a:pPr>
            <a:r>
              <a:rPr lang="en-US" sz="2200" dirty="0">
                <a:solidFill>
                  <a:schemeClr val="bg1"/>
                </a:solidFill>
              </a:rPr>
              <a:t>A fixed scope or delivery plan</a:t>
            </a:r>
            <a:endParaRPr lang="en-US" sz="2200" dirty="0"/>
          </a:p>
          <a:p>
            <a:pPr marL="342900" indent="-342900">
              <a:spcAft>
                <a:spcPts val="600"/>
              </a:spcAft>
              <a:buSzPct val="100000"/>
              <a:buChar char="•"/>
            </a:pPr>
            <a:r>
              <a:rPr lang="en-US" sz="2200" dirty="0">
                <a:solidFill>
                  <a:schemeClr val="bg1"/>
                </a:solidFill>
              </a:rPr>
              <a:t>A final business-model decision</a:t>
            </a:r>
            <a:endParaRPr lang="en-US" sz="2200" dirty="0"/>
          </a:p>
        </p:txBody>
      </p:sp>
      <p:sp>
        <p:nvSpPr>
          <p:cNvPr id="25" name="Slide Number Placeholder 0"/>
          <p:cNvSpPr>
            <a:spLocks noGrp="1"/>
          </p:cNvSpPr>
          <p:nvPr>
            <p:ph type="sldNum" sz="quarter" idx="4294967295"/>
          </p:nvPr>
        </p:nvSpPr>
        <p:spPr>
          <a:xfrm>
            <a:off x="16642080" y="9646920"/>
            <a:ext cx="822960" cy="347472"/>
          </a:xfrm>
          <a:prstGeom prst="rect">
            <a:avLst/>
          </a:prstGeom>
          <a:extLst>
            <a:ext uri="{C572A759-6A51-4108-AA02-DFA0A04FC94B}">
              <ma14:wrappingTextBoxFlag xmlns:ma14="http://schemas.microsoft.com/office/mac/drawingml/2011/main" val="0"/>
            </a:ext>
          </a:extLst>
        </p:spPr>
        <p:txBody>
          <a:bodyPr/>
          <a:lstStyle>
            <a:lvl1pPr>
              <a:defRPr sz="1500">
                <a:solidFill>
                  <a:schemeClr val="tx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header"/>
          <p:cNvSpPr txBox="1"/>
          <p:nvPr/>
        </p:nvSpPr>
        <p:spPr>
          <a:xfrm>
            <a:off x="822960" y="219456"/>
            <a:ext cx="10972800" cy="347472"/>
          </a:xfrm>
          <a:prstGeom prst="rect">
            <a:avLst/>
          </a:prstGeom>
          <a:noFill/>
          <a:ln/>
        </p:spPr>
        <p:txBody>
          <a:bodyPr wrap="square" lIns="0" tIns="0" rIns="0" bIns="0" rtlCol="0" anchor="ctr"/>
          <a:lstStyle/>
          <a:p>
            <a:pPr indent="0" marL="0">
              <a:buNone/>
            </a:pPr>
            <a:r>
              <a:rPr lang="en-US" sz="1500" dirty="0">
                <a:solidFill>
                  <a:schemeClr val="tx1"/>
                </a:solidFill>
              </a:rPr>
              <a:t>amperlane/01-understanding</a:t>
            </a:r>
            <a:endParaRPr lang="en-US" sz="1500" dirty="0"/>
          </a:p>
        </p:txBody>
      </p:sp>
      <p:sp>
        <p:nvSpPr>
          <p:cNvPr id="3" name="Text 0"/>
          <p:cNvSpPr/>
          <p:nvPr>
            <p:ph idx="100" type="title" hasCustomPrompt="1"/>
          </p:nvPr>
        </p:nvSpPr>
        <p:spPr>
          <a:xfrm>
            <a:off x="822960" y="841248"/>
            <a:ext cx="16642080" cy="1005840"/>
          </a:xfrm>
          <a:prstGeom prst="rect">
            <a:avLst/>
          </a:prstGeom>
          <a:noFill/>
          <a:ln/>
        </p:spPr>
        <p:txBody>
          <a:bodyPr wrap="square" lIns="0" tIns="0" rIns="0" bIns="0" rtlCol="0" anchor="t"/>
          <a:lstStyle/>
          <a:p>
            <a:pPr algn="l" indent="0" marL="0">
              <a:buNone/>
            </a:pPr>
            <a:r>
              <a:rPr lang="en-US" sz="4500" dirty="0">
                <a:solidFill>
                  <a:schemeClr val="tx1"/>
                </a:solidFill>
              </a:rPr>
              <a:t>What we heard: the problem in your words</a:t>
            </a:r>
            <a:endParaRPr lang="en-US" sz="4500" dirty="0"/>
          </a:p>
        </p:txBody>
      </p:sp>
      <p:sp>
        <p:nvSpPr>
          <p:cNvPr id="5" name="Text 2"/>
          <p:cNvSpPr txBox="1"/>
          <p:nvPr/>
        </p:nvSpPr>
        <p:spPr>
          <a:xfrm>
            <a:off x="822960" y="1783080"/>
            <a:ext cx="5120640" cy="1737360"/>
          </a:xfrm>
          <a:prstGeom prst="rect">
            <a:avLst/>
          </a:prstGeom>
          <a:noFill/>
          <a:ln/>
        </p:spPr>
        <p:txBody>
          <a:bodyPr wrap="square" lIns="0" tIns="0" rIns="0" bIns="0" rtlCol="0" anchor="b"/>
          <a:lstStyle/>
          <a:p>
            <a:pPr indent="0" marL="0">
              <a:buNone/>
            </a:pPr>
            <a:r>
              <a:rPr lang="en-US" sz="8000" b="1" dirty="0">
                <a:solidFill>
                  <a:schemeClr val="tx1"/>
                </a:solidFill>
              </a:rPr>
              <a:t>25%</a:t>
            </a:r>
            <a:endParaRPr lang="en-US" sz="8000" dirty="0"/>
          </a:p>
        </p:txBody>
      </p:sp>
      <p:sp>
        <p:nvSpPr>
          <p:cNvPr id="6" name="Text 3"/>
          <p:cNvSpPr txBox="1"/>
          <p:nvPr/>
        </p:nvSpPr>
        <p:spPr>
          <a:xfrm>
            <a:off x="822960" y="3611880"/>
            <a:ext cx="5120640" cy="1188720"/>
          </a:xfrm>
          <a:prstGeom prst="rect">
            <a:avLst/>
          </a:prstGeom>
          <a:noFill/>
          <a:ln/>
        </p:spPr>
        <p:txBody>
          <a:bodyPr wrap="square" lIns="0" tIns="0" rIns="0" bIns="0" rtlCol="0" anchor="t"/>
          <a:lstStyle/>
          <a:p>
            <a:pPr indent="0" marL="0">
              <a:buNone/>
            </a:pPr>
            <a:r>
              <a:rPr lang="en-US" sz="2000" dirty="0">
                <a:solidFill>
                  <a:schemeClr val="tx1"/>
                </a:solidFill>
              </a:rPr>
              <a:t>of Uber/Lyft trips must be zero-emission or WAV in 2026 (industry at 22.7% in March)</a:t>
            </a:r>
            <a:endParaRPr lang="en-US" sz="2000" dirty="0"/>
          </a:p>
        </p:txBody>
      </p:sp>
      <p:sp>
        <p:nvSpPr>
          <p:cNvPr id="7" name="Text 4"/>
          <p:cNvSpPr txBox="1"/>
          <p:nvPr/>
        </p:nvSpPr>
        <p:spPr>
          <a:xfrm>
            <a:off x="6583680" y="1783080"/>
            <a:ext cx="5120640" cy="1737360"/>
          </a:xfrm>
          <a:prstGeom prst="rect">
            <a:avLst/>
          </a:prstGeom>
          <a:noFill/>
          <a:ln/>
        </p:spPr>
        <p:txBody>
          <a:bodyPr wrap="square" lIns="0" tIns="0" rIns="0" bIns="0" rtlCol="0" anchor="b"/>
          <a:lstStyle/>
          <a:p>
            <a:pPr indent="0" marL="0">
              <a:buNone/>
            </a:pPr>
            <a:r>
              <a:rPr lang="en-US" sz="8000" b="1" dirty="0">
                <a:solidFill>
                  <a:schemeClr val="tx1"/>
                </a:solidFill>
              </a:rPr>
              <a:t>13,020</a:t>
            </a:r>
            <a:endParaRPr lang="en-US" sz="8000" dirty="0"/>
          </a:p>
        </p:txBody>
      </p:sp>
      <p:sp>
        <p:nvSpPr>
          <p:cNvPr id="8" name="Text 5"/>
          <p:cNvSpPr txBox="1"/>
          <p:nvPr/>
        </p:nvSpPr>
        <p:spPr>
          <a:xfrm>
            <a:off x="6583680" y="3611880"/>
            <a:ext cx="5120640" cy="1188720"/>
          </a:xfrm>
          <a:prstGeom prst="rect">
            <a:avLst/>
          </a:prstGeom>
          <a:noFill/>
          <a:ln/>
        </p:spPr>
        <p:txBody>
          <a:bodyPr wrap="square" lIns="0" tIns="0" rIns="0" bIns="0" rtlCol="0" anchor="t"/>
          <a:lstStyle/>
          <a:p>
            <a:pPr indent="0" marL="0">
              <a:buNone/>
            </a:pPr>
            <a:r>
              <a:rPr lang="en-US" sz="2000" dirty="0">
                <a:solidFill>
                  <a:schemeClr val="tx1"/>
                </a:solidFill>
              </a:rPr>
              <a:t>electric FHVs in NYC, against about 360 fast-charging ports</a:t>
            </a:r>
            <a:endParaRPr lang="en-US" sz="2000" dirty="0"/>
          </a:p>
        </p:txBody>
      </p:sp>
      <p:sp>
        <p:nvSpPr>
          <p:cNvPr id="9" name="Text 6"/>
          <p:cNvSpPr txBox="1"/>
          <p:nvPr/>
        </p:nvSpPr>
        <p:spPr>
          <a:xfrm>
            <a:off x="12344400" y="1783080"/>
            <a:ext cx="5120640" cy="1737360"/>
          </a:xfrm>
          <a:prstGeom prst="rect">
            <a:avLst/>
          </a:prstGeom>
          <a:noFill/>
          <a:ln/>
        </p:spPr>
        <p:txBody>
          <a:bodyPr wrap="square" lIns="0" tIns="0" rIns="0" bIns="0" rtlCol="0" anchor="b"/>
          <a:lstStyle/>
          <a:p>
            <a:pPr indent="0" marL="0">
              <a:buNone/>
            </a:pPr>
            <a:r>
              <a:rPr lang="en-US" sz="8000" b="1" dirty="0">
                <a:solidFill>
                  <a:schemeClr val="accent3"/>
                </a:solidFill>
              </a:rPr>
              <a:t>15.9%</a:t>
            </a:r>
            <a:endParaRPr lang="en-US" sz="8000" dirty="0"/>
          </a:p>
        </p:txBody>
      </p:sp>
      <p:sp>
        <p:nvSpPr>
          <p:cNvPr id="10" name="Text 7"/>
          <p:cNvSpPr txBox="1"/>
          <p:nvPr/>
        </p:nvSpPr>
        <p:spPr>
          <a:xfrm>
            <a:off x="12344400" y="3611880"/>
            <a:ext cx="5120640" cy="1188720"/>
          </a:xfrm>
          <a:prstGeom prst="rect">
            <a:avLst/>
          </a:prstGeom>
          <a:noFill/>
          <a:ln/>
        </p:spPr>
        <p:txBody>
          <a:bodyPr wrap="square" lIns="0" tIns="0" rIns="0" bIns="0" rtlCol="0" anchor="t"/>
          <a:lstStyle/>
          <a:p>
            <a:pPr indent="0" marL="0">
              <a:buNone/>
            </a:pPr>
            <a:r>
              <a:rPr lang="en-US" sz="2000" dirty="0">
                <a:solidFill>
                  <a:schemeClr val="tx1"/>
                </a:solidFill>
              </a:rPr>
              <a:t>average US DC fast-charger utilisation (21.1% in the top 30 metros)</a:t>
            </a:r>
            <a:endParaRPr lang="en-US" sz="2000" dirty="0"/>
          </a:p>
        </p:txBody>
      </p:sp>
      <p:sp>
        <p:nvSpPr>
          <p:cNvPr id="11" name="Shape 8"/>
          <p:cNvSpPr/>
          <p:nvPr/>
        </p:nvSpPr>
        <p:spPr>
          <a:xfrm>
            <a:off x="822960" y="5349240"/>
            <a:ext cx="8138160" cy="3291840"/>
          </a:xfrm>
          <a:prstGeom prst="rect">
            <a:avLst/>
          </a:prstGeom>
          <a:solidFill>
            <a:schemeClr val="bg2"/>
          </a:solidFill>
          <a:ln w="12700">
            <a:solidFill>
              <a:schemeClr val="bg2"/>
            </a:solidFill>
            <a:prstDash val="solid"/>
          </a:ln>
        </p:spPr>
      </p:sp>
      <p:sp>
        <p:nvSpPr>
          <p:cNvPr id="12" name="Shape 9"/>
          <p:cNvSpPr/>
          <p:nvPr/>
        </p:nvSpPr>
        <p:spPr>
          <a:xfrm>
            <a:off x="1188720" y="5669280"/>
            <a:ext cx="822960" cy="822960"/>
          </a:xfrm>
          <a:prstGeom prst="ellipse">
            <a:avLst/>
          </a:prstGeom>
          <a:solidFill>
            <a:schemeClr val="accent1"/>
          </a:solidFill>
          <a:ln w="12700">
            <a:solidFill>
              <a:schemeClr val="accent1"/>
            </a:solidFill>
            <a:prstDash val="solid"/>
          </a:ln>
        </p:spPr>
      </p:sp>
      <p:pic>
        <p:nvPicPr>
          <p:cNvPr id="13" name="Image 0" descr="preencoded.png">    </p:cNvPr>
          <p:cNvPicPr>
            <a:picLocks noChangeAspect="1"/>
          </p:cNvPicPr>
          <p:nvPr/>
        </p:nvPicPr>
        <p:blipFill>
          <a:blip r:embed="rId1"/>
          <a:stretch>
            <a:fillRect/>
          </a:stretch>
        </p:blipFill>
        <p:spPr>
          <a:xfrm>
            <a:off x="1394460" y="5875020"/>
            <a:ext cx="411480" cy="411480"/>
          </a:xfrm>
          <a:prstGeom prst="rect">
            <a:avLst/>
          </a:prstGeom>
        </p:spPr>
      </p:pic>
      <p:sp>
        <p:nvSpPr>
          <p:cNvPr id="14" name="Text 10"/>
          <p:cNvSpPr txBox="1"/>
          <p:nvPr/>
        </p:nvSpPr>
        <p:spPr>
          <a:xfrm>
            <a:off x="2194560" y="5669280"/>
            <a:ext cx="6400800" cy="822960"/>
          </a:xfrm>
          <a:prstGeom prst="rect">
            <a:avLst/>
          </a:prstGeom>
          <a:noFill/>
          <a:ln/>
        </p:spPr>
        <p:txBody>
          <a:bodyPr wrap="square" lIns="0" tIns="0" rIns="0" bIns="0" rtlCol="0" anchor="ctr"/>
          <a:lstStyle/>
          <a:p>
            <a:pPr indent="0" marL="0">
              <a:buNone/>
            </a:pPr>
            <a:r>
              <a:rPr lang="en-US" sz="2600" b="1" dirty="0">
                <a:solidFill>
                  <a:schemeClr val="tx2"/>
                </a:solidFill>
              </a:rPr>
              <a:t>Fleets and drivers</a:t>
            </a:r>
            <a:endParaRPr lang="en-US" sz="2600" dirty="0"/>
          </a:p>
        </p:txBody>
      </p:sp>
      <p:sp>
        <p:nvSpPr>
          <p:cNvPr id="15" name="Text 11"/>
          <p:cNvSpPr txBox="1"/>
          <p:nvPr/>
        </p:nvSpPr>
        <p:spPr>
          <a:xfrm>
            <a:off x="1188720" y="6675120"/>
            <a:ext cx="7406640" cy="1188720"/>
          </a:xfrm>
          <a:prstGeom prst="rect">
            <a:avLst/>
          </a:prstGeom>
          <a:noFill/>
          <a:ln/>
        </p:spPr>
        <p:txBody>
          <a:bodyPr wrap="square" lIns="0" tIns="0" rIns="0" bIns="0" rtlCol="0" anchor="t"/>
          <a:lstStyle/>
          <a:p>
            <a:pPr indent="0" marL="0">
              <a:buNone/>
            </a:pPr>
            <a:r>
              <a:rPr lang="en-US" sz="2000" dirty="0">
                <a:solidFill>
                  <a:schemeClr val="tx1"/>
                </a:solidFill>
              </a:rPr>
              <a:t>Drivers lose 30+ minutes finding and waiting for chargers, plus deadhead miles. On a weekly lease, idle time is lost income.</a:t>
            </a:r>
            <a:endParaRPr lang="en-US" sz="2000" dirty="0"/>
          </a:p>
        </p:txBody>
      </p:sp>
      <p:sp>
        <p:nvSpPr>
          <p:cNvPr id="16" name="Text 12"/>
          <p:cNvSpPr txBox="1"/>
          <p:nvPr/>
        </p:nvSpPr>
        <p:spPr>
          <a:xfrm>
            <a:off x="1188720" y="7909560"/>
            <a:ext cx="7406640" cy="457200"/>
          </a:xfrm>
          <a:prstGeom prst="rect">
            <a:avLst/>
          </a:prstGeom>
          <a:noFill/>
          <a:ln/>
        </p:spPr>
        <p:txBody>
          <a:bodyPr wrap="square" lIns="0" tIns="0" rIns="0" bIns="0" rtlCol="0" anchor="t"/>
          <a:lstStyle/>
          <a:p>
            <a:pPr indent="0" marL="0">
              <a:buNone/>
            </a:pPr>
            <a:r>
              <a:rPr lang="en-US" sz="2000" b="1" dirty="0">
                <a:solidFill>
                  <a:schemeClr val="accent2"/>
                </a:solidFill>
              </a:rPr>
              <a:t>Pilot: median wait 31 → 6 min*</a:t>
            </a:r>
            <a:endParaRPr lang="en-US" sz="2000" dirty="0"/>
          </a:p>
        </p:txBody>
      </p:sp>
      <p:sp>
        <p:nvSpPr>
          <p:cNvPr id="17" name="Shape 13"/>
          <p:cNvSpPr/>
          <p:nvPr/>
        </p:nvSpPr>
        <p:spPr>
          <a:xfrm>
            <a:off x="9326880" y="5349240"/>
            <a:ext cx="8138160" cy="3291840"/>
          </a:xfrm>
          <a:prstGeom prst="rect">
            <a:avLst/>
          </a:prstGeom>
          <a:solidFill>
            <a:schemeClr val="bg2"/>
          </a:solidFill>
          <a:ln w="12700">
            <a:solidFill>
              <a:schemeClr val="bg2"/>
            </a:solidFill>
            <a:prstDash val="solid"/>
          </a:ln>
        </p:spPr>
      </p:sp>
      <p:sp>
        <p:nvSpPr>
          <p:cNvPr id="18" name="Shape 14"/>
          <p:cNvSpPr/>
          <p:nvPr/>
        </p:nvSpPr>
        <p:spPr>
          <a:xfrm>
            <a:off x="9692640" y="5669280"/>
            <a:ext cx="822960" cy="822960"/>
          </a:xfrm>
          <a:prstGeom prst="ellipse">
            <a:avLst/>
          </a:prstGeom>
          <a:solidFill>
            <a:schemeClr val="accent1"/>
          </a:solidFill>
          <a:ln w="12700">
            <a:solidFill>
              <a:schemeClr val="accent1"/>
            </a:solidFill>
            <a:prstDash val="solid"/>
          </a:ln>
        </p:spPr>
      </p:sp>
      <p:pic>
        <p:nvPicPr>
          <p:cNvPr id="19" name="Image 1" descr="preencoded.png">    </p:cNvPr>
          <p:cNvPicPr>
            <a:picLocks noChangeAspect="1"/>
          </p:cNvPicPr>
          <p:nvPr/>
        </p:nvPicPr>
        <p:blipFill>
          <a:blip r:embed="rId2"/>
          <a:stretch>
            <a:fillRect/>
          </a:stretch>
        </p:blipFill>
        <p:spPr>
          <a:xfrm>
            <a:off x="9898380" y="5875020"/>
            <a:ext cx="411480" cy="411480"/>
          </a:xfrm>
          <a:prstGeom prst="rect">
            <a:avLst/>
          </a:prstGeom>
        </p:spPr>
      </p:pic>
      <p:sp>
        <p:nvSpPr>
          <p:cNvPr id="20" name="Text 15"/>
          <p:cNvSpPr txBox="1"/>
          <p:nvPr/>
        </p:nvSpPr>
        <p:spPr>
          <a:xfrm>
            <a:off x="10698480" y="5669280"/>
            <a:ext cx="6400800" cy="822960"/>
          </a:xfrm>
          <a:prstGeom prst="rect">
            <a:avLst/>
          </a:prstGeom>
          <a:noFill/>
          <a:ln/>
        </p:spPr>
        <p:txBody>
          <a:bodyPr wrap="square" lIns="0" tIns="0" rIns="0" bIns="0" rtlCol="0" anchor="ctr"/>
          <a:lstStyle/>
          <a:p>
            <a:pPr indent="0" marL="0">
              <a:buNone/>
            </a:pPr>
            <a:r>
              <a:rPr lang="en-US" sz="2600" b="1" dirty="0">
                <a:solidFill>
                  <a:schemeClr val="tx2"/>
                </a:solidFill>
              </a:rPr>
              <a:t>Charging stations</a:t>
            </a:r>
            <a:endParaRPr lang="en-US" sz="2600" dirty="0"/>
          </a:p>
        </p:txBody>
      </p:sp>
      <p:sp>
        <p:nvSpPr>
          <p:cNvPr id="21" name="Text 16"/>
          <p:cNvSpPr txBox="1"/>
          <p:nvPr/>
        </p:nvSpPr>
        <p:spPr>
          <a:xfrm>
            <a:off x="9692640" y="6675120"/>
            <a:ext cx="7406640" cy="1188720"/>
          </a:xfrm>
          <a:prstGeom prst="rect">
            <a:avLst/>
          </a:prstGeom>
          <a:noFill/>
          <a:ln/>
        </p:spPr>
        <p:txBody>
          <a:bodyPr wrap="square" lIns="0" tIns="0" rIns="0" bIns="0" rtlCol="0" anchor="t"/>
          <a:lstStyle/>
          <a:p>
            <a:pPr indent="0" marL="0">
              <a:buNone/>
            </a:pPr>
            <a:r>
              <a:rPr lang="en-US" sz="2000" dirty="0">
                <a:solidFill>
                  <a:schemeClr val="tx1"/>
                </a:solidFill>
              </a:rPr>
              <a:t>Low utilisation and thin margins after demand charges. A held stall that sits empty costs real money.</a:t>
            </a:r>
            <a:endParaRPr lang="en-US" sz="2000" dirty="0"/>
          </a:p>
        </p:txBody>
      </p:sp>
      <p:sp>
        <p:nvSpPr>
          <p:cNvPr id="22" name="Text 17"/>
          <p:cNvSpPr txBox="1"/>
          <p:nvPr/>
        </p:nvSpPr>
        <p:spPr>
          <a:xfrm>
            <a:off x="9692640" y="7909560"/>
            <a:ext cx="7406640" cy="457200"/>
          </a:xfrm>
          <a:prstGeom prst="rect">
            <a:avLst/>
          </a:prstGeom>
          <a:noFill/>
          <a:ln/>
        </p:spPr>
        <p:txBody>
          <a:bodyPr wrap="square" lIns="0" tIns="0" rIns="0" bIns="0" rtlCol="0" anchor="t"/>
          <a:lstStyle/>
          <a:p>
            <a:pPr indent="0" marL="0">
              <a:buNone/>
            </a:pPr>
            <a:r>
              <a:rPr lang="en-US" sz="2000" b="1" dirty="0">
                <a:solidFill>
                  <a:schemeClr val="accent2"/>
                </a:solidFill>
              </a:rPr>
              <a:t>Pilot: Gowanus off-peak utilisation 14% → 23%</a:t>
            </a:r>
            <a:endParaRPr lang="en-US" sz="2000" dirty="0"/>
          </a:p>
        </p:txBody>
      </p:sp>
      <p:sp>
        <p:nvSpPr>
          <p:cNvPr id="23" name="Text 18"/>
          <p:cNvSpPr txBox="1"/>
          <p:nvPr/>
        </p:nvSpPr>
        <p:spPr>
          <a:xfrm>
            <a:off x="822960" y="8778240"/>
            <a:ext cx="16642080" cy="594360"/>
          </a:xfrm>
          <a:prstGeom prst="rect">
            <a:avLst/>
          </a:prstGeom>
          <a:noFill/>
          <a:ln/>
        </p:spPr>
        <p:txBody>
          <a:bodyPr wrap="square" lIns="0" tIns="0" rIns="0" bIns="0" rtlCol="0" anchor="t"/>
          <a:lstStyle/>
          <a:p>
            <a:pPr indent="0" marL="0">
              <a:buNone/>
            </a:pPr>
            <a:r>
              <a:rPr lang="en-US" sz="1400" dirty="0">
                <a:solidFill>
                  <a:srgbClr val="6F6F6F"/>
                </a:solidFill>
              </a:rPr>
              <a:t>Sources: NYC TLC Green Rides rule (nyc.gov, Aug 2023); TLC testimony, Mar 17, 2026; Mayor’s Management Report FY2026 (Jul–Oct 2025 fleet data); TLC Climate Week, Sep 2025 (port count); Paren Q3 2026 via mgrid, Oct 16, 2026.  *Pilot figure, self-reported driver survey, n=212.</a:t>
            </a:r>
            <a:endParaRPr lang="en-US" sz="1400" dirty="0"/>
          </a:p>
        </p:txBody>
      </p:sp>
      <p:sp>
        <p:nvSpPr>
          <p:cNvPr id="25" name="Slide Number Placeholder 0"/>
          <p:cNvSpPr>
            <a:spLocks noGrp="1"/>
          </p:cNvSpPr>
          <p:nvPr>
            <p:ph type="sldNum" sz="quarter" idx="4294967295"/>
          </p:nvPr>
        </p:nvSpPr>
        <p:spPr>
          <a:xfrm>
            <a:off x="16642080" y="9646920"/>
            <a:ext cx="822960" cy="347472"/>
          </a:xfrm>
          <a:prstGeom prst="rect">
            <a:avLst/>
          </a:prstGeom>
          <a:extLst>
            <a:ext uri="{C572A759-6A51-4108-AA02-DFA0A04FC94B}">
              <ma14:wrappingTextBoxFlag xmlns:ma14="http://schemas.microsoft.com/office/mac/drawingml/2011/main" val="0"/>
            </a:ext>
          </a:extLst>
        </p:spPr>
        <p:txBody>
          <a:bodyPr/>
          <a:lstStyle>
            <a:lvl1pPr>
              <a:defRPr sz="1500">
                <a:solidFill>
                  <a:schemeClr val="tx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header"/>
          <p:cNvSpPr txBox="1"/>
          <p:nvPr/>
        </p:nvSpPr>
        <p:spPr>
          <a:xfrm>
            <a:off x="822960" y="219456"/>
            <a:ext cx="10972800" cy="347472"/>
          </a:xfrm>
          <a:prstGeom prst="rect">
            <a:avLst/>
          </a:prstGeom>
          <a:noFill/>
          <a:ln/>
        </p:spPr>
        <p:txBody>
          <a:bodyPr wrap="square" lIns="0" tIns="0" rIns="0" bIns="0" rtlCol="0" anchor="ctr"/>
          <a:lstStyle/>
          <a:p>
            <a:pPr indent="0" marL="0">
              <a:buNone/>
            </a:pPr>
            <a:r>
              <a:rPr lang="en-US" sz="1500" dirty="0">
                <a:solidFill>
                  <a:schemeClr val="tx1"/>
                </a:solidFill>
              </a:rPr>
              <a:t>amperlane/01-understanding</a:t>
            </a:r>
            <a:endParaRPr lang="en-US" sz="1500" dirty="0"/>
          </a:p>
        </p:txBody>
      </p:sp>
      <p:sp>
        <p:nvSpPr>
          <p:cNvPr id="3" name="Text 0"/>
          <p:cNvSpPr/>
          <p:nvPr>
            <p:ph idx="100" type="title" hasCustomPrompt="1"/>
          </p:nvPr>
        </p:nvSpPr>
        <p:spPr>
          <a:xfrm>
            <a:off x="822960" y="841248"/>
            <a:ext cx="16642080" cy="1005840"/>
          </a:xfrm>
          <a:prstGeom prst="rect">
            <a:avLst/>
          </a:prstGeom>
          <a:noFill/>
          <a:ln/>
        </p:spPr>
        <p:txBody>
          <a:bodyPr wrap="square" lIns="0" tIns="0" rIns="0" bIns="0" rtlCol="0" anchor="t"/>
          <a:lstStyle/>
          <a:p>
            <a:pPr algn="l" indent="0" marL="0">
              <a:buNone/>
            </a:pPr>
            <a:r>
              <a:rPr lang="en-US" sz="4500" dirty="0">
                <a:solidFill>
                  <a:schemeClr val="tx1"/>
                </a:solidFill>
              </a:rPr>
              <a:t>What changed since your brief (1/2)</a:t>
            </a:r>
            <a:endParaRPr lang="en-US" sz="4500" dirty="0"/>
          </a:p>
        </p:txBody>
      </p:sp>
      <p:sp>
        <p:nvSpPr>
          <p:cNvPr id="5" name="Text 2"/>
          <p:cNvSpPr txBox="1"/>
          <p:nvPr/>
        </p:nvSpPr>
        <p:spPr>
          <a:xfrm>
            <a:off x="1965960" y="2011680"/>
            <a:ext cx="3749040" cy="411480"/>
          </a:xfrm>
          <a:prstGeom prst="rect">
            <a:avLst/>
          </a:prstGeom>
          <a:noFill/>
          <a:ln/>
        </p:spPr>
        <p:txBody>
          <a:bodyPr wrap="square" lIns="0" tIns="0" rIns="0" bIns="0" rtlCol="0" anchor="t"/>
          <a:lstStyle/>
          <a:p>
            <a:pPr indent="0" marL="0">
              <a:buNone/>
            </a:pPr>
            <a:r>
              <a:rPr lang="en-US" sz="1800" b="1" dirty="0">
                <a:solidFill>
                  <a:srgbClr val="6F6F6F"/>
                </a:solidFill>
              </a:rPr>
              <a:t>Brief said</a:t>
            </a:r>
            <a:endParaRPr lang="en-US" sz="1800" dirty="0"/>
          </a:p>
        </p:txBody>
      </p:sp>
      <p:sp>
        <p:nvSpPr>
          <p:cNvPr id="6" name="Text 3"/>
          <p:cNvSpPr txBox="1"/>
          <p:nvPr/>
        </p:nvSpPr>
        <p:spPr>
          <a:xfrm>
            <a:off x="5989320" y="2011680"/>
            <a:ext cx="5715000" cy="411480"/>
          </a:xfrm>
          <a:prstGeom prst="rect">
            <a:avLst/>
          </a:prstGeom>
          <a:noFill/>
          <a:ln/>
        </p:spPr>
        <p:txBody>
          <a:bodyPr wrap="square" lIns="0" tIns="0" rIns="0" bIns="0" rtlCol="0" anchor="t"/>
          <a:lstStyle/>
          <a:p>
            <a:pPr indent="0" marL="0">
              <a:buNone/>
            </a:pPr>
            <a:r>
              <a:rPr lang="en-US" sz="1800" b="1" dirty="0">
                <a:solidFill>
                  <a:srgbClr val="6F6F6F"/>
                </a:solidFill>
              </a:rPr>
              <a:t>We learned</a:t>
            </a:r>
            <a:endParaRPr lang="en-US" sz="1800" dirty="0"/>
          </a:p>
        </p:txBody>
      </p:sp>
      <p:sp>
        <p:nvSpPr>
          <p:cNvPr id="7" name="Text 4"/>
          <p:cNvSpPr txBox="1"/>
          <p:nvPr/>
        </p:nvSpPr>
        <p:spPr>
          <a:xfrm>
            <a:off x="12161520" y="2011680"/>
            <a:ext cx="5303520" cy="411480"/>
          </a:xfrm>
          <a:prstGeom prst="rect">
            <a:avLst/>
          </a:prstGeom>
          <a:noFill/>
          <a:ln/>
        </p:spPr>
        <p:txBody>
          <a:bodyPr wrap="square" lIns="0" tIns="0" rIns="0" bIns="0" rtlCol="0" anchor="t"/>
          <a:lstStyle/>
          <a:p>
            <a:pPr indent="0" marL="0">
              <a:buNone/>
            </a:pPr>
            <a:r>
              <a:rPr lang="en-US" sz="1800" b="1" dirty="0">
                <a:solidFill>
                  <a:srgbClr val="6F6F6F"/>
                </a:solidFill>
              </a:rPr>
              <a:t>Implication</a:t>
            </a:r>
            <a:endParaRPr lang="en-US" sz="1800" dirty="0"/>
          </a:p>
        </p:txBody>
      </p:sp>
      <p:sp>
        <p:nvSpPr>
          <p:cNvPr id="8" name="Shape 5"/>
          <p:cNvSpPr/>
          <p:nvPr/>
        </p:nvSpPr>
        <p:spPr>
          <a:xfrm>
            <a:off x="822960" y="2560320"/>
            <a:ext cx="11155680" cy="1243584"/>
          </a:xfrm>
          <a:prstGeom prst="rect">
            <a:avLst/>
          </a:prstGeom>
          <a:solidFill>
            <a:schemeClr val="bg2"/>
          </a:solidFill>
          <a:ln w="12700">
            <a:solidFill>
              <a:schemeClr val="bg2"/>
            </a:solidFill>
            <a:prstDash val="solid"/>
          </a:ln>
        </p:spPr>
      </p:sp>
      <p:sp>
        <p:nvSpPr>
          <p:cNvPr id="9" name="Shape 6"/>
          <p:cNvSpPr/>
          <p:nvPr/>
        </p:nvSpPr>
        <p:spPr>
          <a:xfrm>
            <a:off x="11978640" y="2560320"/>
            <a:ext cx="5486400" cy="1243584"/>
          </a:xfrm>
          <a:prstGeom prst="rect">
            <a:avLst/>
          </a:prstGeom>
          <a:solidFill>
            <a:srgbClr val="CFFFEA"/>
          </a:solidFill>
          <a:ln w="12700">
            <a:solidFill>
              <a:srgbClr val="CFFFEA"/>
            </a:solidFill>
            <a:prstDash val="solid"/>
          </a:ln>
        </p:spPr>
      </p:sp>
      <p:sp>
        <p:nvSpPr>
          <p:cNvPr id="10" name="Shape 7"/>
          <p:cNvSpPr/>
          <p:nvPr/>
        </p:nvSpPr>
        <p:spPr>
          <a:xfrm>
            <a:off x="960120" y="2724912"/>
            <a:ext cx="731520" cy="731520"/>
          </a:xfrm>
          <a:prstGeom prst="ellipse">
            <a:avLst/>
          </a:prstGeom>
          <a:solidFill>
            <a:schemeClr val="tx2"/>
          </a:solidFill>
          <a:ln w="12700">
            <a:solidFill>
              <a:schemeClr val="tx2"/>
            </a:solidFill>
            <a:prstDash val="solid"/>
          </a:ln>
        </p:spPr>
      </p:sp>
      <p:sp>
        <p:nvSpPr>
          <p:cNvPr id="11" name="Text 8"/>
          <p:cNvSpPr txBox="1"/>
          <p:nvPr/>
        </p:nvSpPr>
        <p:spPr>
          <a:xfrm>
            <a:off x="960120" y="2724912"/>
            <a:ext cx="731520" cy="731520"/>
          </a:xfrm>
          <a:prstGeom prst="rect">
            <a:avLst/>
          </a:prstGeom>
          <a:noFill/>
          <a:ln/>
        </p:spPr>
        <p:txBody>
          <a:bodyPr wrap="square" lIns="0" tIns="0" rIns="0" bIns="0" rtlCol="0" anchor="ctr"/>
          <a:lstStyle/>
          <a:p>
            <a:pPr algn="ctr" indent="0" marL="0">
              <a:buNone/>
            </a:pPr>
            <a:r>
              <a:rPr lang="en-US" sz="1800" b="1" dirty="0">
                <a:solidFill>
                  <a:schemeClr val="accent1"/>
                </a:solidFill>
              </a:rPr>
              <a:t>G1</a:t>
            </a:r>
            <a:endParaRPr lang="en-US" sz="1800" dirty="0"/>
          </a:p>
        </p:txBody>
      </p:sp>
      <p:sp>
        <p:nvSpPr>
          <p:cNvPr id="12" name="Text 9"/>
          <p:cNvSpPr txBox="1"/>
          <p:nvPr/>
        </p:nvSpPr>
        <p:spPr>
          <a:xfrm>
            <a:off x="822960" y="3474720"/>
            <a:ext cx="1005840" cy="274320"/>
          </a:xfrm>
          <a:prstGeom prst="rect">
            <a:avLst/>
          </a:prstGeom>
          <a:noFill/>
          <a:ln/>
        </p:spPr>
        <p:txBody>
          <a:bodyPr wrap="square" lIns="0" tIns="0" rIns="0" bIns="0" rtlCol="0" anchor="t"/>
          <a:lstStyle/>
          <a:p>
            <a:pPr algn="ctr" indent="0" marL="0">
              <a:buNone/>
            </a:pPr>
            <a:r>
              <a:rPr lang="en-US" sz="1300" dirty="0">
                <a:solidFill>
                  <a:srgbClr val="6F6F6F"/>
                </a:solidFill>
              </a:rPr>
              <a:t>Call 2</a:t>
            </a:r>
            <a:endParaRPr lang="en-US" sz="1300" dirty="0"/>
          </a:p>
        </p:txBody>
      </p:sp>
      <p:sp>
        <p:nvSpPr>
          <p:cNvPr id="13" name="Text 10"/>
          <p:cNvSpPr txBox="1"/>
          <p:nvPr/>
        </p:nvSpPr>
        <p:spPr>
          <a:xfrm>
            <a:off x="1965960" y="2560320"/>
            <a:ext cx="3749040" cy="1243584"/>
          </a:xfrm>
          <a:prstGeom prst="rect">
            <a:avLst/>
          </a:prstGeom>
          <a:noFill/>
          <a:ln/>
        </p:spPr>
        <p:txBody>
          <a:bodyPr wrap="square" lIns="0" tIns="0" rIns="0" bIns="0" rtlCol="0" anchor="ctr"/>
          <a:lstStyle/>
          <a:p>
            <a:pPr indent="0" marL="0">
              <a:buNone/>
            </a:pPr>
            <a:r>
              <a:rPr lang="en-US" sz="1800" i="1" dirty="0">
                <a:solidFill>
                  <a:srgbClr val="4A4A4A"/>
                </a:solidFill>
              </a:rPr>
              <a:t>“Real-time reservation on every charger (OCPP)”</a:t>
            </a:r>
            <a:endParaRPr lang="en-US" sz="1800" dirty="0"/>
          </a:p>
        </p:txBody>
      </p:sp>
      <p:sp>
        <p:nvSpPr>
          <p:cNvPr id="14" name="Text 11"/>
          <p:cNvSpPr txBox="1"/>
          <p:nvPr/>
        </p:nvSpPr>
        <p:spPr>
          <a:xfrm>
            <a:off x="5989320" y="2560320"/>
            <a:ext cx="5715000" cy="1243584"/>
          </a:xfrm>
          <a:prstGeom prst="rect">
            <a:avLst/>
          </a:prstGeom>
          <a:noFill/>
          <a:ln/>
        </p:spPr>
        <p:txBody>
          <a:bodyPr wrap="square" lIns="0" tIns="0" rIns="0" bIns="0" rtlCol="0" anchor="ctr"/>
          <a:lstStyle/>
          <a:p>
            <a:pPr indent="0" marL="0">
              <a:buNone/>
            </a:pPr>
            <a:r>
              <a:rPr lang="en-US" sz="1800" dirty="0">
                <a:solidFill>
                  <a:schemeClr val="tx1"/>
                </a:solidFill>
              </a:rPr>
              <a:t>Only Gowanus can reserve, on 10 of 16 chargers. JFK: status only. LIC: CSV export. ReserveNow is optional and means “hold now”, not a future slot.</a:t>
            </a:r>
            <a:endParaRPr lang="en-US" sz="1800" dirty="0"/>
          </a:p>
        </p:txBody>
      </p:sp>
      <p:sp>
        <p:nvSpPr>
          <p:cNvPr id="15" name="Text 12"/>
          <p:cNvSpPr txBox="1"/>
          <p:nvPr/>
        </p:nvSpPr>
        <p:spPr>
          <a:xfrm>
            <a:off x="12252960" y="2560320"/>
            <a:ext cx="4983480" cy="1243584"/>
          </a:xfrm>
          <a:prstGeom prst="rect">
            <a:avLst/>
          </a:prstGeom>
          <a:noFill/>
          <a:ln/>
        </p:spPr>
        <p:txBody>
          <a:bodyPr wrap="square" lIns="0" tIns="0" rIns="0" bIns="0" rtlCol="0" anchor="ctr"/>
          <a:lstStyle/>
          <a:p>
            <a:pPr indent="0" marL="0">
              <a:buNone/>
            </a:pPr>
            <a:r>
              <a:rPr lang="en-US" sz="1800" b="1" dirty="0">
                <a:solidFill>
                  <a:schemeClr val="tx2"/>
                </a:solidFill>
              </a:rPr>
              <a:t>Amperlane owns the slot calendar: soft holds, ReserveNow at T-15 min where supported, ops fallback.</a:t>
            </a:r>
            <a:endParaRPr lang="en-US" sz="1800" dirty="0"/>
          </a:p>
        </p:txBody>
      </p:sp>
      <p:sp>
        <p:nvSpPr>
          <p:cNvPr id="16" name="Shape 13"/>
          <p:cNvSpPr/>
          <p:nvPr/>
        </p:nvSpPr>
        <p:spPr>
          <a:xfrm>
            <a:off x="822960" y="3895344"/>
            <a:ext cx="11155680" cy="1243584"/>
          </a:xfrm>
          <a:prstGeom prst="rect">
            <a:avLst/>
          </a:prstGeom>
          <a:solidFill>
            <a:schemeClr val="bg2"/>
          </a:solidFill>
          <a:ln w="12700">
            <a:solidFill>
              <a:schemeClr val="bg2"/>
            </a:solidFill>
            <a:prstDash val="solid"/>
          </a:ln>
        </p:spPr>
      </p:sp>
      <p:sp>
        <p:nvSpPr>
          <p:cNvPr id="17" name="Shape 14"/>
          <p:cNvSpPr/>
          <p:nvPr/>
        </p:nvSpPr>
        <p:spPr>
          <a:xfrm>
            <a:off x="11978640" y="3895344"/>
            <a:ext cx="5486400" cy="1243584"/>
          </a:xfrm>
          <a:prstGeom prst="rect">
            <a:avLst/>
          </a:prstGeom>
          <a:solidFill>
            <a:srgbClr val="CFFFEA"/>
          </a:solidFill>
          <a:ln w="12700">
            <a:solidFill>
              <a:srgbClr val="CFFFEA"/>
            </a:solidFill>
            <a:prstDash val="solid"/>
          </a:ln>
        </p:spPr>
      </p:sp>
      <p:sp>
        <p:nvSpPr>
          <p:cNvPr id="18" name="Shape 15"/>
          <p:cNvSpPr/>
          <p:nvPr/>
        </p:nvSpPr>
        <p:spPr>
          <a:xfrm>
            <a:off x="960120" y="4059936"/>
            <a:ext cx="731520" cy="731520"/>
          </a:xfrm>
          <a:prstGeom prst="ellipse">
            <a:avLst/>
          </a:prstGeom>
          <a:solidFill>
            <a:schemeClr val="tx2"/>
          </a:solidFill>
          <a:ln w="12700">
            <a:solidFill>
              <a:schemeClr val="tx2"/>
            </a:solidFill>
            <a:prstDash val="solid"/>
          </a:ln>
        </p:spPr>
      </p:sp>
      <p:sp>
        <p:nvSpPr>
          <p:cNvPr id="19" name="Text 16"/>
          <p:cNvSpPr txBox="1"/>
          <p:nvPr/>
        </p:nvSpPr>
        <p:spPr>
          <a:xfrm>
            <a:off x="960120" y="4059936"/>
            <a:ext cx="731520" cy="731520"/>
          </a:xfrm>
          <a:prstGeom prst="rect">
            <a:avLst/>
          </a:prstGeom>
          <a:noFill/>
          <a:ln/>
        </p:spPr>
        <p:txBody>
          <a:bodyPr wrap="square" lIns="0" tIns="0" rIns="0" bIns="0" rtlCol="0" anchor="ctr"/>
          <a:lstStyle/>
          <a:p>
            <a:pPr algn="ctr" indent="0" marL="0">
              <a:buNone/>
            </a:pPr>
            <a:r>
              <a:rPr lang="en-US" sz="1800" b="1" dirty="0">
                <a:solidFill>
                  <a:schemeClr val="accent1"/>
                </a:solidFill>
              </a:rPr>
              <a:t>G2</a:t>
            </a:r>
            <a:endParaRPr lang="en-US" sz="1800" dirty="0"/>
          </a:p>
        </p:txBody>
      </p:sp>
      <p:sp>
        <p:nvSpPr>
          <p:cNvPr id="20" name="Text 17"/>
          <p:cNvSpPr txBox="1"/>
          <p:nvPr/>
        </p:nvSpPr>
        <p:spPr>
          <a:xfrm>
            <a:off x="822960" y="4809744"/>
            <a:ext cx="1005840" cy="274320"/>
          </a:xfrm>
          <a:prstGeom prst="rect">
            <a:avLst/>
          </a:prstGeom>
          <a:noFill/>
          <a:ln/>
        </p:spPr>
        <p:txBody>
          <a:bodyPr wrap="square" lIns="0" tIns="0" rIns="0" bIns="0" rtlCol="0" anchor="t"/>
          <a:lstStyle/>
          <a:p>
            <a:pPr algn="ctr" indent="0" marL="0">
              <a:buNone/>
            </a:pPr>
            <a:r>
              <a:rPr lang="en-US" sz="1300" dirty="0">
                <a:solidFill>
                  <a:srgbClr val="6F6F6F"/>
                </a:solidFill>
              </a:rPr>
              <a:t>Call 2</a:t>
            </a:r>
            <a:endParaRPr lang="en-US" sz="1300" dirty="0"/>
          </a:p>
        </p:txBody>
      </p:sp>
      <p:sp>
        <p:nvSpPr>
          <p:cNvPr id="21" name="Text 18"/>
          <p:cNvSpPr txBox="1"/>
          <p:nvPr/>
        </p:nvSpPr>
        <p:spPr>
          <a:xfrm>
            <a:off x="1965960" y="3895344"/>
            <a:ext cx="3749040" cy="1243584"/>
          </a:xfrm>
          <a:prstGeom prst="rect">
            <a:avLst/>
          </a:prstGeom>
          <a:noFill/>
          <a:ln/>
        </p:spPr>
        <p:txBody>
          <a:bodyPr wrap="square" lIns="0" tIns="0" rIns="0" bIns="0" rtlCol="0" anchor="ctr"/>
          <a:lstStyle/>
          <a:p>
            <a:pPr indent="0" marL="0">
              <a:buNone/>
            </a:pPr>
            <a:r>
              <a:rPr lang="en-US" sz="1800" i="1" dirty="0">
                <a:solidFill>
                  <a:srgbClr val="4A4A4A"/>
                </a:solidFill>
              </a:rPr>
              <a:t>“NREL API for real-time station availability”</a:t>
            </a:r>
            <a:endParaRPr lang="en-US" sz="1800" dirty="0"/>
          </a:p>
        </p:txBody>
      </p:sp>
      <p:sp>
        <p:nvSpPr>
          <p:cNvPr id="22" name="Text 19"/>
          <p:cNvSpPr txBox="1"/>
          <p:nvPr/>
        </p:nvSpPr>
        <p:spPr>
          <a:xfrm>
            <a:off x="5989320" y="3895344"/>
            <a:ext cx="5715000" cy="1243584"/>
          </a:xfrm>
          <a:prstGeom prst="rect">
            <a:avLst/>
          </a:prstGeom>
          <a:noFill/>
          <a:ln/>
        </p:spPr>
        <p:txBody>
          <a:bodyPr wrap="square" lIns="0" tIns="0" rIns="0" bIns="0" rtlCol="0" anchor="ctr"/>
          <a:lstStyle/>
          <a:p>
            <a:pPr indent="0" marL="0">
              <a:buNone/>
            </a:pPr>
            <a:r>
              <a:rPr lang="en-US" sz="1800" dirty="0">
                <a:solidFill>
                  <a:schemeClr val="tx1"/>
                </a:solidFill>
              </a:rPr>
              <a:t>NREL is now NLR (since Dec 2025). The AFDC station API has static data only, no real-time availability.</a:t>
            </a:r>
            <a:endParaRPr lang="en-US" sz="1800" dirty="0"/>
          </a:p>
        </p:txBody>
      </p:sp>
      <p:sp>
        <p:nvSpPr>
          <p:cNvPr id="23" name="Text 20"/>
          <p:cNvSpPr txBox="1"/>
          <p:nvPr/>
        </p:nvSpPr>
        <p:spPr>
          <a:xfrm>
            <a:off x="12252960" y="3895344"/>
            <a:ext cx="4983480" cy="1243584"/>
          </a:xfrm>
          <a:prstGeom prst="rect">
            <a:avLst/>
          </a:prstGeom>
          <a:noFill/>
          <a:ln/>
        </p:spPr>
        <p:txBody>
          <a:bodyPr wrap="square" lIns="0" tIns="0" rIns="0" bIns="0" rtlCol="0" anchor="ctr"/>
          <a:lstStyle/>
          <a:p>
            <a:pPr indent="0" marL="0">
              <a:buNone/>
            </a:pPr>
            <a:r>
              <a:rPr lang="en-US" sz="1800" b="1" dirty="0">
                <a:solidFill>
                  <a:schemeClr val="tx2"/>
                </a:solidFill>
              </a:rPr>
              <a:t>Live status from CSMS APIs or OCPI 2.2.1 Locations. AFDC and Open Charge Map for discovery only.</a:t>
            </a:r>
            <a:endParaRPr lang="en-US" sz="1800" dirty="0"/>
          </a:p>
        </p:txBody>
      </p:sp>
      <p:sp>
        <p:nvSpPr>
          <p:cNvPr id="24" name="Shape 21"/>
          <p:cNvSpPr/>
          <p:nvPr/>
        </p:nvSpPr>
        <p:spPr>
          <a:xfrm>
            <a:off x="822960" y="5230368"/>
            <a:ext cx="11155680" cy="1243584"/>
          </a:xfrm>
          <a:prstGeom prst="rect">
            <a:avLst/>
          </a:prstGeom>
          <a:solidFill>
            <a:schemeClr val="bg2"/>
          </a:solidFill>
          <a:ln w="12700">
            <a:solidFill>
              <a:schemeClr val="bg2"/>
            </a:solidFill>
            <a:prstDash val="solid"/>
          </a:ln>
        </p:spPr>
      </p:sp>
      <p:sp>
        <p:nvSpPr>
          <p:cNvPr id="25" name="Shape 22"/>
          <p:cNvSpPr/>
          <p:nvPr/>
        </p:nvSpPr>
        <p:spPr>
          <a:xfrm>
            <a:off x="11978640" y="5230368"/>
            <a:ext cx="5486400" cy="1243584"/>
          </a:xfrm>
          <a:prstGeom prst="rect">
            <a:avLst/>
          </a:prstGeom>
          <a:solidFill>
            <a:srgbClr val="CFFFEA"/>
          </a:solidFill>
          <a:ln w="12700">
            <a:solidFill>
              <a:srgbClr val="CFFFEA"/>
            </a:solidFill>
            <a:prstDash val="solid"/>
          </a:ln>
        </p:spPr>
      </p:sp>
      <p:sp>
        <p:nvSpPr>
          <p:cNvPr id="26" name="Shape 23"/>
          <p:cNvSpPr/>
          <p:nvPr/>
        </p:nvSpPr>
        <p:spPr>
          <a:xfrm>
            <a:off x="960120" y="5394960"/>
            <a:ext cx="731520" cy="731520"/>
          </a:xfrm>
          <a:prstGeom prst="ellipse">
            <a:avLst/>
          </a:prstGeom>
          <a:solidFill>
            <a:schemeClr val="tx2"/>
          </a:solidFill>
          <a:ln w="12700">
            <a:solidFill>
              <a:schemeClr val="tx2"/>
            </a:solidFill>
            <a:prstDash val="solid"/>
          </a:ln>
        </p:spPr>
      </p:sp>
      <p:sp>
        <p:nvSpPr>
          <p:cNvPr id="27" name="Text 24"/>
          <p:cNvSpPr txBox="1"/>
          <p:nvPr/>
        </p:nvSpPr>
        <p:spPr>
          <a:xfrm>
            <a:off x="960120" y="5394960"/>
            <a:ext cx="731520" cy="731520"/>
          </a:xfrm>
          <a:prstGeom prst="rect">
            <a:avLst/>
          </a:prstGeom>
          <a:noFill/>
          <a:ln/>
        </p:spPr>
        <p:txBody>
          <a:bodyPr wrap="square" lIns="0" tIns="0" rIns="0" bIns="0" rtlCol="0" anchor="ctr"/>
          <a:lstStyle/>
          <a:p>
            <a:pPr algn="ctr" indent="0" marL="0">
              <a:buNone/>
            </a:pPr>
            <a:r>
              <a:rPr lang="en-US" sz="1800" b="1" dirty="0">
                <a:solidFill>
                  <a:schemeClr val="accent1"/>
                </a:solidFill>
              </a:rPr>
              <a:t>G3</a:t>
            </a:r>
            <a:endParaRPr lang="en-US" sz="1800" dirty="0"/>
          </a:p>
        </p:txBody>
      </p:sp>
      <p:sp>
        <p:nvSpPr>
          <p:cNvPr id="28" name="Text 25"/>
          <p:cNvSpPr txBox="1"/>
          <p:nvPr/>
        </p:nvSpPr>
        <p:spPr>
          <a:xfrm>
            <a:off x="822960" y="6144768"/>
            <a:ext cx="1005840" cy="274320"/>
          </a:xfrm>
          <a:prstGeom prst="rect">
            <a:avLst/>
          </a:prstGeom>
          <a:noFill/>
          <a:ln/>
        </p:spPr>
        <p:txBody>
          <a:bodyPr wrap="square" lIns="0" tIns="0" rIns="0" bIns="0" rtlCol="0" anchor="t"/>
          <a:lstStyle/>
          <a:p>
            <a:pPr algn="ctr" indent="0" marL="0">
              <a:buNone/>
            </a:pPr>
            <a:r>
              <a:rPr lang="en-US" sz="1300" dirty="0">
                <a:solidFill>
                  <a:srgbClr val="6F6F6F"/>
                </a:solidFill>
              </a:rPr>
              <a:t>Call 1</a:t>
            </a:r>
            <a:endParaRPr lang="en-US" sz="1300" dirty="0"/>
          </a:p>
        </p:txBody>
      </p:sp>
      <p:sp>
        <p:nvSpPr>
          <p:cNvPr id="29" name="Text 26"/>
          <p:cNvSpPr txBox="1"/>
          <p:nvPr/>
        </p:nvSpPr>
        <p:spPr>
          <a:xfrm>
            <a:off x="1965960" y="5230368"/>
            <a:ext cx="3749040" cy="1243584"/>
          </a:xfrm>
          <a:prstGeom prst="rect">
            <a:avLst/>
          </a:prstGeom>
          <a:noFill/>
          <a:ln/>
        </p:spPr>
        <p:txBody>
          <a:bodyPr wrap="square" lIns="0" tIns="0" rIns="0" bIns="0" rtlCol="0" anchor="ctr"/>
          <a:lstStyle/>
          <a:p>
            <a:pPr indent="0" marL="0">
              <a:buNone/>
            </a:pPr>
            <a:r>
              <a:rPr lang="en-US" sz="1800" i="1" dirty="0">
                <a:solidFill>
                  <a:srgbClr val="4A4A4A"/>
                </a:solidFill>
              </a:rPr>
              <a:t>“10–12% take rate on charging GMV, paid by stations”</a:t>
            </a:r>
            <a:endParaRPr lang="en-US" sz="1800" dirty="0"/>
          </a:p>
        </p:txBody>
      </p:sp>
      <p:sp>
        <p:nvSpPr>
          <p:cNvPr id="30" name="Text 27"/>
          <p:cNvSpPr txBox="1"/>
          <p:nvPr/>
        </p:nvSpPr>
        <p:spPr>
          <a:xfrm>
            <a:off x="5989320" y="5230368"/>
            <a:ext cx="5715000" cy="1243584"/>
          </a:xfrm>
          <a:prstGeom prst="rect">
            <a:avLst/>
          </a:prstGeom>
          <a:noFill/>
          <a:ln/>
        </p:spPr>
        <p:txBody>
          <a:bodyPr wrap="square" lIns="0" tIns="0" rIns="0" bIns="0" rtlCol="0" anchor="ctr"/>
          <a:lstStyle/>
          <a:p>
            <a:pPr indent="0" marL="0">
              <a:buNone/>
            </a:pPr>
            <a:r>
              <a:rPr lang="en-US" sz="1800" dirty="0">
                <a:solidFill>
                  <a:schemeClr val="tx1"/>
                </a:solidFill>
              </a:rPr>
              <a:t>Stations refuse a % of energy revenue (single-digit margins). They value incremental off-peak bookings. Fleets want one net-30 invoice.</a:t>
            </a:r>
            <a:endParaRPr lang="en-US" sz="1800" dirty="0"/>
          </a:p>
        </p:txBody>
      </p:sp>
      <p:sp>
        <p:nvSpPr>
          <p:cNvPr id="31" name="Text 28"/>
          <p:cNvSpPr txBox="1"/>
          <p:nvPr/>
        </p:nvSpPr>
        <p:spPr>
          <a:xfrm>
            <a:off x="12252960" y="5230368"/>
            <a:ext cx="4983480" cy="1243584"/>
          </a:xfrm>
          <a:prstGeom prst="rect">
            <a:avLst/>
          </a:prstGeom>
          <a:noFill/>
          <a:ln/>
        </p:spPr>
        <p:txBody>
          <a:bodyPr wrap="square" lIns="0" tIns="0" rIns="0" bIns="0" rtlCol="0" anchor="ctr"/>
          <a:lstStyle/>
          <a:p>
            <a:pPr indent="0" marL="0">
              <a:buNone/>
            </a:pPr>
            <a:r>
              <a:rPr lang="en-US" sz="1800" b="1" dirty="0">
                <a:solidFill>
                  <a:schemeClr val="tx2"/>
                </a:solidFill>
              </a:rPr>
              <a:t>Option on the table: Amperlane as eMSP and merchant of record, earning a spread. Decision needed.</a:t>
            </a:r>
            <a:endParaRPr lang="en-US" sz="1800" dirty="0"/>
          </a:p>
        </p:txBody>
      </p:sp>
      <p:sp>
        <p:nvSpPr>
          <p:cNvPr id="32" name="Shape 29"/>
          <p:cNvSpPr/>
          <p:nvPr/>
        </p:nvSpPr>
        <p:spPr>
          <a:xfrm>
            <a:off x="822960" y="6565392"/>
            <a:ext cx="11155680" cy="1243584"/>
          </a:xfrm>
          <a:prstGeom prst="rect">
            <a:avLst/>
          </a:prstGeom>
          <a:solidFill>
            <a:schemeClr val="bg2"/>
          </a:solidFill>
          <a:ln w="12700">
            <a:solidFill>
              <a:schemeClr val="bg2"/>
            </a:solidFill>
            <a:prstDash val="solid"/>
          </a:ln>
        </p:spPr>
      </p:sp>
      <p:sp>
        <p:nvSpPr>
          <p:cNvPr id="33" name="Shape 30"/>
          <p:cNvSpPr/>
          <p:nvPr/>
        </p:nvSpPr>
        <p:spPr>
          <a:xfrm>
            <a:off x="11978640" y="6565392"/>
            <a:ext cx="5486400" cy="1243584"/>
          </a:xfrm>
          <a:prstGeom prst="rect">
            <a:avLst/>
          </a:prstGeom>
          <a:solidFill>
            <a:srgbClr val="CFFFEA"/>
          </a:solidFill>
          <a:ln w="12700">
            <a:solidFill>
              <a:srgbClr val="CFFFEA"/>
            </a:solidFill>
            <a:prstDash val="solid"/>
          </a:ln>
        </p:spPr>
      </p:sp>
      <p:sp>
        <p:nvSpPr>
          <p:cNvPr id="34" name="Shape 31"/>
          <p:cNvSpPr/>
          <p:nvPr/>
        </p:nvSpPr>
        <p:spPr>
          <a:xfrm>
            <a:off x="960120" y="6729984"/>
            <a:ext cx="731520" cy="731520"/>
          </a:xfrm>
          <a:prstGeom prst="ellipse">
            <a:avLst/>
          </a:prstGeom>
          <a:solidFill>
            <a:schemeClr val="tx2"/>
          </a:solidFill>
          <a:ln w="12700">
            <a:solidFill>
              <a:schemeClr val="tx2"/>
            </a:solidFill>
            <a:prstDash val="solid"/>
          </a:ln>
        </p:spPr>
      </p:sp>
      <p:sp>
        <p:nvSpPr>
          <p:cNvPr id="35" name="Text 32"/>
          <p:cNvSpPr txBox="1"/>
          <p:nvPr/>
        </p:nvSpPr>
        <p:spPr>
          <a:xfrm>
            <a:off x="960120" y="6729984"/>
            <a:ext cx="731520" cy="731520"/>
          </a:xfrm>
          <a:prstGeom prst="rect">
            <a:avLst/>
          </a:prstGeom>
          <a:noFill/>
          <a:ln/>
        </p:spPr>
        <p:txBody>
          <a:bodyPr wrap="square" lIns="0" tIns="0" rIns="0" bIns="0" rtlCol="0" anchor="ctr"/>
          <a:lstStyle/>
          <a:p>
            <a:pPr algn="ctr" indent="0" marL="0">
              <a:buNone/>
            </a:pPr>
            <a:r>
              <a:rPr lang="en-US" sz="1800" b="1" dirty="0">
                <a:solidFill>
                  <a:schemeClr val="accent1"/>
                </a:solidFill>
              </a:rPr>
              <a:t>G4</a:t>
            </a:r>
            <a:endParaRPr lang="en-US" sz="1800" dirty="0"/>
          </a:p>
        </p:txBody>
      </p:sp>
      <p:sp>
        <p:nvSpPr>
          <p:cNvPr id="36" name="Text 33"/>
          <p:cNvSpPr txBox="1"/>
          <p:nvPr/>
        </p:nvSpPr>
        <p:spPr>
          <a:xfrm>
            <a:off x="822960" y="7479792"/>
            <a:ext cx="1005840" cy="274320"/>
          </a:xfrm>
          <a:prstGeom prst="rect">
            <a:avLst/>
          </a:prstGeom>
          <a:noFill/>
          <a:ln/>
        </p:spPr>
        <p:txBody>
          <a:bodyPr wrap="square" lIns="0" tIns="0" rIns="0" bIns="0" rtlCol="0" anchor="t"/>
          <a:lstStyle/>
          <a:p>
            <a:pPr algn="ctr" indent="0" marL="0">
              <a:buNone/>
            </a:pPr>
            <a:r>
              <a:rPr lang="en-US" sz="1300" dirty="0">
                <a:solidFill>
                  <a:srgbClr val="6F6F6F"/>
                </a:solidFill>
              </a:rPr>
              <a:t>Call 1</a:t>
            </a:r>
            <a:endParaRPr lang="en-US" sz="1300" dirty="0"/>
          </a:p>
        </p:txBody>
      </p:sp>
      <p:sp>
        <p:nvSpPr>
          <p:cNvPr id="37" name="Text 34"/>
          <p:cNvSpPr txBox="1"/>
          <p:nvPr/>
        </p:nvSpPr>
        <p:spPr>
          <a:xfrm>
            <a:off x="1965960" y="6565392"/>
            <a:ext cx="3749040" cy="1243584"/>
          </a:xfrm>
          <a:prstGeom prst="rect">
            <a:avLst/>
          </a:prstGeom>
          <a:noFill/>
          <a:ln/>
        </p:spPr>
        <p:txBody>
          <a:bodyPr wrap="square" lIns="0" tIns="0" rIns="0" bIns="0" rtlCol="0" anchor="ctr"/>
          <a:lstStyle/>
          <a:p>
            <a:pPr indent="0" marL="0">
              <a:buNone/>
            </a:pPr>
            <a:r>
              <a:rPr lang="en-US" sz="1800" i="1" dirty="0">
                <a:solidFill>
                  <a:srgbClr val="4A4A4A"/>
                </a:solidFill>
              </a:rPr>
              <a:t>No mention of no-shows or late arrivals</a:t>
            </a:r>
            <a:endParaRPr lang="en-US" sz="1800" dirty="0"/>
          </a:p>
        </p:txBody>
      </p:sp>
      <p:sp>
        <p:nvSpPr>
          <p:cNvPr id="38" name="Text 35"/>
          <p:cNvSpPr txBox="1"/>
          <p:nvPr/>
        </p:nvSpPr>
        <p:spPr>
          <a:xfrm>
            <a:off x="5989320" y="6565392"/>
            <a:ext cx="5715000" cy="1243584"/>
          </a:xfrm>
          <a:prstGeom prst="rect">
            <a:avLst/>
          </a:prstGeom>
          <a:noFill/>
          <a:ln/>
        </p:spPr>
        <p:txBody>
          <a:bodyPr wrap="square" lIns="0" tIns="0" rIns="0" bIns="0" rtlCol="0" anchor="ctr"/>
          <a:lstStyle/>
          <a:p>
            <a:pPr indent="0" marL="0">
              <a:buNone/>
            </a:pPr>
            <a:r>
              <a:rPr lang="en-US" sz="1800" dirty="0">
                <a:solidFill>
                  <a:schemeClr val="tx1"/>
                </a:solidFill>
              </a:rPr>
              <a:t>Pilot: 17% no-shows, 22% arrive more than 10 min late. Stations demand a no-show fee and a 10-min grace period.</a:t>
            </a:r>
            <a:endParaRPr lang="en-US" sz="1800" dirty="0"/>
          </a:p>
        </p:txBody>
      </p:sp>
      <p:sp>
        <p:nvSpPr>
          <p:cNvPr id="39" name="Text 36"/>
          <p:cNvSpPr txBox="1"/>
          <p:nvPr/>
        </p:nvSpPr>
        <p:spPr>
          <a:xfrm>
            <a:off x="12252960" y="6565392"/>
            <a:ext cx="4983480" cy="1243584"/>
          </a:xfrm>
          <a:prstGeom prst="rect">
            <a:avLst/>
          </a:prstGeom>
          <a:noFill/>
          <a:ln/>
        </p:spPr>
        <p:txBody>
          <a:bodyPr wrap="square" lIns="0" tIns="0" rIns="0" bIns="0" rtlCol="0" anchor="ctr"/>
          <a:lstStyle/>
          <a:p>
            <a:pPr indent="0" marL="0">
              <a:buNone/>
            </a:pPr>
            <a:r>
              <a:rPr lang="en-US" sz="1800" b="1" dirty="0">
                <a:solidFill>
                  <a:schemeClr val="tx2"/>
                </a:solidFill>
              </a:rPr>
              <a:t>Auto-release after 10-min grace; no-show fee with payer as fleet policy; one-tap “cancel / running late” and instant re-offer to late drivers.</a:t>
            </a:r>
            <a:endParaRPr lang="en-US" sz="1800" dirty="0"/>
          </a:p>
        </p:txBody>
      </p:sp>
      <p:sp>
        <p:nvSpPr>
          <p:cNvPr id="40" name="Shape 37"/>
          <p:cNvSpPr/>
          <p:nvPr/>
        </p:nvSpPr>
        <p:spPr>
          <a:xfrm>
            <a:off x="822960" y="7900416"/>
            <a:ext cx="11155680" cy="1243584"/>
          </a:xfrm>
          <a:prstGeom prst="rect">
            <a:avLst/>
          </a:prstGeom>
          <a:solidFill>
            <a:schemeClr val="bg2"/>
          </a:solidFill>
          <a:ln w="12700">
            <a:solidFill>
              <a:schemeClr val="bg2"/>
            </a:solidFill>
            <a:prstDash val="solid"/>
          </a:ln>
        </p:spPr>
      </p:sp>
      <p:sp>
        <p:nvSpPr>
          <p:cNvPr id="41" name="Shape 38"/>
          <p:cNvSpPr/>
          <p:nvPr/>
        </p:nvSpPr>
        <p:spPr>
          <a:xfrm>
            <a:off x="11978640" y="7900416"/>
            <a:ext cx="5486400" cy="1243584"/>
          </a:xfrm>
          <a:prstGeom prst="rect">
            <a:avLst/>
          </a:prstGeom>
          <a:solidFill>
            <a:srgbClr val="CFFFEA"/>
          </a:solidFill>
          <a:ln w="12700">
            <a:solidFill>
              <a:srgbClr val="CFFFEA"/>
            </a:solidFill>
            <a:prstDash val="solid"/>
          </a:ln>
        </p:spPr>
      </p:sp>
      <p:sp>
        <p:nvSpPr>
          <p:cNvPr id="42" name="Shape 39"/>
          <p:cNvSpPr/>
          <p:nvPr/>
        </p:nvSpPr>
        <p:spPr>
          <a:xfrm>
            <a:off x="960120" y="8065008"/>
            <a:ext cx="731520" cy="731520"/>
          </a:xfrm>
          <a:prstGeom prst="ellipse">
            <a:avLst/>
          </a:prstGeom>
          <a:solidFill>
            <a:schemeClr val="tx2"/>
          </a:solidFill>
          <a:ln w="12700">
            <a:solidFill>
              <a:schemeClr val="tx2"/>
            </a:solidFill>
            <a:prstDash val="solid"/>
          </a:ln>
        </p:spPr>
      </p:sp>
      <p:sp>
        <p:nvSpPr>
          <p:cNvPr id="43" name="Text 40"/>
          <p:cNvSpPr txBox="1"/>
          <p:nvPr/>
        </p:nvSpPr>
        <p:spPr>
          <a:xfrm>
            <a:off x="960120" y="8065008"/>
            <a:ext cx="731520" cy="731520"/>
          </a:xfrm>
          <a:prstGeom prst="rect">
            <a:avLst/>
          </a:prstGeom>
          <a:noFill/>
          <a:ln/>
        </p:spPr>
        <p:txBody>
          <a:bodyPr wrap="square" lIns="0" tIns="0" rIns="0" bIns="0" rtlCol="0" anchor="ctr"/>
          <a:lstStyle/>
          <a:p>
            <a:pPr algn="ctr" indent="0" marL="0">
              <a:buNone/>
            </a:pPr>
            <a:r>
              <a:rPr lang="en-US" sz="1800" b="1" dirty="0">
                <a:solidFill>
                  <a:schemeClr val="accent1"/>
                </a:solidFill>
              </a:rPr>
              <a:t>G5</a:t>
            </a:r>
            <a:endParaRPr lang="en-US" sz="1800" dirty="0"/>
          </a:p>
        </p:txBody>
      </p:sp>
      <p:sp>
        <p:nvSpPr>
          <p:cNvPr id="44" name="Text 41"/>
          <p:cNvSpPr txBox="1"/>
          <p:nvPr/>
        </p:nvSpPr>
        <p:spPr>
          <a:xfrm>
            <a:off x="822960" y="8814816"/>
            <a:ext cx="1005840" cy="274320"/>
          </a:xfrm>
          <a:prstGeom prst="rect">
            <a:avLst/>
          </a:prstGeom>
          <a:noFill/>
          <a:ln/>
        </p:spPr>
        <p:txBody>
          <a:bodyPr wrap="square" lIns="0" tIns="0" rIns="0" bIns="0" rtlCol="0" anchor="t"/>
          <a:lstStyle/>
          <a:p>
            <a:pPr algn="ctr" indent="0" marL="0">
              <a:buNone/>
            </a:pPr>
            <a:r>
              <a:rPr lang="en-US" sz="1300" dirty="0">
                <a:solidFill>
                  <a:srgbClr val="6F6F6F"/>
                </a:solidFill>
              </a:rPr>
              <a:t>Call 1</a:t>
            </a:r>
            <a:endParaRPr lang="en-US" sz="1300" dirty="0"/>
          </a:p>
        </p:txBody>
      </p:sp>
      <p:sp>
        <p:nvSpPr>
          <p:cNvPr id="45" name="Text 42"/>
          <p:cNvSpPr txBox="1"/>
          <p:nvPr/>
        </p:nvSpPr>
        <p:spPr>
          <a:xfrm>
            <a:off x="1965960" y="7900416"/>
            <a:ext cx="3749040" cy="1243584"/>
          </a:xfrm>
          <a:prstGeom prst="rect">
            <a:avLst/>
          </a:prstGeom>
          <a:noFill/>
          <a:ln/>
        </p:spPr>
        <p:txBody>
          <a:bodyPr wrap="square" lIns="0" tIns="0" rIns="0" bIns="0" rtlCol="0" anchor="ctr"/>
          <a:lstStyle/>
          <a:p>
            <a:pPr indent="0" marL="0">
              <a:buNone/>
            </a:pPr>
            <a:r>
              <a:rPr lang="en-US" sz="1800" i="1" dirty="0">
                <a:solidFill>
                  <a:srgbClr val="4A4A4A"/>
                </a:solidFill>
              </a:rPr>
              <a:t>“Driver app + fleet portal”</a:t>
            </a:r>
            <a:endParaRPr lang="en-US" sz="1800" dirty="0"/>
          </a:p>
        </p:txBody>
      </p:sp>
      <p:sp>
        <p:nvSpPr>
          <p:cNvPr id="46" name="Text 43"/>
          <p:cNvSpPr txBox="1"/>
          <p:nvPr/>
        </p:nvSpPr>
        <p:spPr>
          <a:xfrm>
            <a:off x="5989320" y="7900416"/>
            <a:ext cx="5715000" cy="1243584"/>
          </a:xfrm>
          <a:prstGeom prst="rect">
            <a:avLst/>
          </a:prstGeom>
          <a:noFill/>
          <a:ln/>
        </p:spPr>
        <p:txBody>
          <a:bodyPr wrap="square" lIns="0" tIns="0" rIns="0" bIns="0" rtlCol="0" anchor="ctr"/>
          <a:lstStyle/>
          <a:p>
            <a:pPr indent="0" marL="0">
              <a:buNone/>
            </a:pPr>
            <a:r>
              <a:rPr lang="en-US" sz="1800" dirty="0">
                <a:solidFill>
                  <a:schemeClr val="tx1"/>
                </a:solidFill>
              </a:rPr>
              <a:t>Five actor types (six with finance). Drivers live in the Uber/Lyft apps all day and won’t install a heavy app: SMS/WhatsApp, in EN, ES and BN.</a:t>
            </a:r>
            <a:endParaRPr lang="en-US" sz="1800" dirty="0"/>
          </a:p>
        </p:txBody>
      </p:sp>
      <p:sp>
        <p:nvSpPr>
          <p:cNvPr id="47" name="Text 44"/>
          <p:cNvSpPr txBox="1"/>
          <p:nvPr/>
        </p:nvSpPr>
        <p:spPr>
          <a:xfrm>
            <a:off x="12252960" y="7900416"/>
            <a:ext cx="4983480" cy="1243584"/>
          </a:xfrm>
          <a:prstGeom prst="rect">
            <a:avLst/>
          </a:prstGeom>
          <a:noFill/>
          <a:ln/>
        </p:spPr>
        <p:txBody>
          <a:bodyPr wrap="square" lIns="0" tIns="0" rIns="0" bIns="0" rtlCol="0" anchor="ctr"/>
          <a:lstStyle/>
          <a:p>
            <a:pPr indent="0" marL="0">
              <a:buNone/>
            </a:pPr>
            <a:r>
              <a:rPr lang="en-US" sz="1800" b="1" dirty="0">
                <a:solidFill>
                  <a:schemeClr val="tx2"/>
                </a:solidFill>
              </a:rPr>
              <a:t>Light mobile web app (PWA) plus messaging. Station portal and ops console join the scope.</a:t>
            </a:r>
            <a:endParaRPr lang="en-US" sz="1800" dirty="0"/>
          </a:p>
        </p:txBody>
      </p:sp>
      <p:sp>
        <p:nvSpPr>
          <p:cNvPr id="25" name="Slide Number Placeholder 0"/>
          <p:cNvSpPr>
            <a:spLocks noGrp="1"/>
          </p:cNvSpPr>
          <p:nvPr>
            <p:ph type="sldNum" sz="quarter" idx="4294967295"/>
          </p:nvPr>
        </p:nvSpPr>
        <p:spPr>
          <a:xfrm>
            <a:off x="16642080" y="9646920"/>
            <a:ext cx="822960" cy="347472"/>
          </a:xfrm>
          <a:prstGeom prst="rect">
            <a:avLst/>
          </a:prstGeom>
          <a:extLst>
            <a:ext uri="{C572A759-6A51-4108-AA02-DFA0A04FC94B}">
              <ma14:wrappingTextBoxFlag xmlns:ma14="http://schemas.microsoft.com/office/mac/drawingml/2011/main" val="0"/>
            </a:ext>
          </a:extLst>
        </p:spPr>
        <p:txBody>
          <a:bodyPr/>
          <a:lstStyle>
            <a:lvl1pPr>
              <a:defRPr sz="1500">
                <a:solidFill>
                  <a:schemeClr val="tx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header"/>
          <p:cNvSpPr txBox="1"/>
          <p:nvPr/>
        </p:nvSpPr>
        <p:spPr>
          <a:xfrm>
            <a:off x="822960" y="219456"/>
            <a:ext cx="10972800" cy="347472"/>
          </a:xfrm>
          <a:prstGeom prst="rect">
            <a:avLst/>
          </a:prstGeom>
          <a:noFill/>
          <a:ln/>
        </p:spPr>
        <p:txBody>
          <a:bodyPr wrap="square" lIns="0" tIns="0" rIns="0" bIns="0" rtlCol="0" anchor="ctr"/>
          <a:lstStyle/>
          <a:p>
            <a:pPr indent="0" marL="0">
              <a:buNone/>
            </a:pPr>
            <a:r>
              <a:rPr lang="en-US" sz="1500" dirty="0">
                <a:solidFill>
                  <a:schemeClr val="tx1"/>
                </a:solidFill>
              </a:rPr>
              <a:t>amperlane/01-understanding</a:t>
            </a:r>
            <a:endParaRPr lang="en-US" sz="1500" dirty="0"/>
          </a:p>
        </p:txBody>
      </p:sp>
      <p:sp>
        <p:nvSpPr>
          <p:cNvPr id="3" name="Text 0"/>
          <p:cNvSpPr/>
          <p:nvPr>
            <p:ph idx="100" type="title" hasCustomPrompt="1"/>
          </p:nvPr>
        </p:nvSpPr>
        <p:spPr>
          <a:xfrm>
            <a:off x="822960" y="841248"/>
            <a:ext cx="16642080" cy="1005840"/>
          </a:xfrm>
          <a:prstGeom prst="rect">
            <a:avLst/>
          </a:prstGeom>
          <a:noFill/>
          <a:ln/>
        </p:spPr>
        <p:txBody>
          <a:bodyPr wrap="square" lIns="0" tIns="0" rIns="0" bIns="0" rtlCol="0" anchor="t"/>
          <a:lstStyle/>
          <a:p>
            <a:pPr algn="l" indent="0" marL="0">
              <a:buNone/>
            </a:pPr>
            <a:r>
              <a:rPr lang="en-US" sz="4500" dirty="0">
                <a:solidFill>
                  <a:schemeClr val="tx1"/>
                </a:solidFill>
              </a:rPr>
              <a:t>What changed since your brief (2/2)</a:t>
            </a:r>
            <a:endParaRPr lang="en-US" sz="4500" dirty="0"/>
          </a:p>
        </p:txBody>
      </p:sp>
      <p:sp>
        <p:nvSpPr>
          <p:cNvPr id="5" name="Text 2"/>
          <p:cNvSpPr txBox="1"/>
          <p:nvPr/>
        </p:nvSpPr>
        <p:spPr>
          <a:xfrm>
            <a:off x="1965960" y="2011680"/>
            <a:ext cx="3749040" cy="411480"/>
          </a:xfrm>
          <a:prstGeom prst="rect">
            <a:avLst/>
          </a:prstGeom>
          <a:noFill/>
          <a:ln/>
        </p:spPr>
        <p:txBody>
          <a:bodyPr wrap="square" lIns="0" tIns="0" rIns="0" bIns="0" rtlCol="0" anchor="t"/>
          <a:lstStyle/>
          <a:p>
            <a:pPr indent="0" marL="0">
              <a:buNone/>
            </a:pPr>
            <a:r>
              <a:rPr lang="en-US" sz="1800" b="1" dirty="0">
                <a:solidFill>
                  <a:srgbClr val="6F6F6F"/>
                </a:solidFill>
              </a:rPr>
              <a:t>Brief said</a:t>
            </a:r>
            <a:endParaRPr lang="en-US" sz="1800" dirty="0"/>
          </a:p>
        </p:txBody>
      </p:sp>
      <p:sp>
        <p:nvSpPr>
          <p:cNvPr id="6" name="Text 3"/>
          <p:cNvSpPr txBox="1"/>
          <p:nvPr/>
        </p:nvSpPr>
        <p:spPr>
          <a:xfrm>
            <a:off x="5989320" y="2011680"/>
            <a:ext cx="5715000" cy="411480"/>
          </a:xfrm>
          <a:prstGeom prst="rect">
            <a:avLst/>
          </a:prstGeom>
          <a:noFill/>
          <a:ln/>
        </p:spPr>
        <p:txBody>
          <a:bodyPr wrap="square" lIns="0" tIns="0" rIns="0" bIns="0" rtlCol="0" anchor="t"/>
          <a:lstStyle/>
          <a:p>
            <a:pPr indent="0" marL="0">
              <a:buNone/>
            </a:pPr>
            <a:r>
              <a:rPr lang="en-US" sz="1800" b="1" dirty="0">
                <a:solidFill>
                  <a:srgbClr val="6F6F6F"/>
                </a:solidFill>
              </a:rPr>
              <a:t>We learned</a:t>
            </a:r>
            <a:endParaRPr lang="en-US" sz="1800" dirty="0"/>
          </a:p>
        </p:txBody>
      </p:sp>
      <p:sp>
        <p:nvSpPr>
          <p:cNvPr id="7" name="Text 4"/>
          <p:cNvSpPr txBox="1"/>
          <p:nvPr/>
        </p:nvSpPr>
        <p:spPr>
          <a:xfrm>
            <a:off x="12161520" y="2011680"/>
            <a:ext cx="5303520" cy="411480"/>
          </a:xfrm>
          <a:prstGeom prst="rect">
            <a:avLst/>
          </a:prstGeom>
          <a:noFill/>
          <a:ln/>
        </p:spPr>
        <p:txBody>
          <a:bodyPr wrap="square" lIns="0" tIns="0" rIns="0" bIns="0" rtlCol="0" anchor="t"/>
          <a:lstStyle/>
          <a:p>
            <a:pPr indent="0" marL="0">
              <a:buNone/>
            </a:pPr>
            <a:r>
              <a:rPr lang="en-US" sz="1800" b="1" dirty="0">
                <a:solidFill>
                  <a:srgbClr val="6F6F6F"/>
                </a:solidFill>
              </a:rPr>
              <a:t>Implication</a:t>
            </a:r>
            <a:endParaRPr lang="en-US" sz="1800" dirty="0"/>
          </a:p>
        </p:txBody>
      </p:sp>
      <p:sp>
        <p:nvSpPr>
          <p:cNvPr id="8" name="Shape 5"/>
          <p:cNvSpPr/>
          <p:nvPr/>
        </p:nvSpPr>
        <p:spPr>
          <a:xfrm>
            <a:off x="822960" y="2560320"/>
            <a:ext cx="11155680" cy="1243584"/>
          </a:xfrm>
          <a:prstGeom prst="rect">
            <a:avLst/>
          </a:prstGeom>
          <a:solidFill>
            <a:schemeClr val="bg2"/>
          </a:solidFill>
          <a:ln w="12700">
            <a:solidFill>
              <a:schemeClr val="bg2"/>
            </a:solidFill>
            <a:prstDash val="solid"/>
          </a:ln>
        </p:spPr>
      </p:sp>
      <p:sp>
        <p:nvSpPr>
          <p:cNvPr id="9" name="Shape 6"/>
          <p:cNvSpPr/>
          <p:nvPr/>
        </p:nvSpPr>
        <p:spPr>
          <a:xfrm>
            <a:off x="11978640" y="2560320"/>
            <a:ext cx="5486400" cy="1243584"/>
          </a:xfrm>
          <a:prstGeom prst="rect">
            <a:avLst/>
          </a:prstGeom>
          <a:solidFill>
            <a:srgbClr val="CFFFEA"/>
          </a:solidFill>
          <a:ln w="12700">
            <a:solidFill>
              <a:srgbClr val="CFFFEA"/>
            </a:solidFill>
            <a:prstDash val="solid"/>
          </a:ln>
        </p:spPr>
      </p:sp>
      <p:sp>
        <p:nvSpPr>
          <p:cNvPr id="10" name="Shape 7"/>
          <p:cNvSpPr/>
          <p:nvPr/>
        </p:nvSpPr>
        <p:spPr>
          <a:xfrm>
            <a:off x="960120" y="2724912"/>
            <a:ext cx="731520" cy="731520"/>
          </a:xfrm>
          <a:prstGeom prst="ellipse">
            <a:avLst/>
          </a:prstGeom>
          <a:solidFill>
            <a:schemeClr val="tx2"/>
          </a:solidFill>
          <a:ln w="12700">
            <a:solidFill>
              <a:schemeClr val="tx2"/>
            </a:solidFill>
            <a:prstDash val="solid"/>
          </a:ln>
        </p:spPr>
      </p:sp>
      <p:sp>
        <p:nvSpPr>
          <p:cNvPr id="11" name="Text 8"/>
          <p:cNvSpPr txBox="1"/>
          <p:nvPr/>
        </p:nvSpPr>
        <p:spPr>
          <a:xfrm>
            <a:off x="960120" y="2724912"/>
            <a:ext cx="731520" cy="731520"/>
          </a:xfrm>
          <a:prstGeom prst="rect">
            <a:avLst/>
          </a:prstGeom>
          <a:noFill/>
          <a:ln/>
        </p:spPr>
        <p:txBody>
          <a:bodyPr wrap="square" lIns="0" tIns="0" rIns="0" bIns="0" rtlCol="0" anchor="ctr"/>
          <a:lstStyle/>
          <a:p>
            <a:pPr algn="ctr" indent="0" marL="0">
              <a:buNone/>
            </a:pPr>
            <a:r>
              <a:rPr lang="en-US" sz="1800" b="1" dirty="0">
                <a:solidFill>
                  <a:schemeClr val="accent1"/>
                </a:solidFill>
              </a:rPr>
              <a:t>G6</a:t>
            </a:r>
            <a:endParaRPr lang="en-US" sz="1800" dirty="0"/>
          </a:p>
        </p:txBody>
      </p:sp>
      <p:sp>
        <p:nvSpPr>
          <p:cNvPr id="12" name="Text 9"/>
          <p:cNvSpPr txBox="1"/>
          <p:nvPr/>
        </p:nvSpPr>
        <p:spPr>
          <a:xfrm>
            <a:off x="822960" y="3474720"/>
            <a:ext cx="1005840" cy="274320"/>
          </a:xfrm>
          <a:prstGeom prst="rect">
            <a:avLst/>
          </a:prstGeom>
          <a:noFill/>
          <a:ln/>
        </p:spPr>
        <p:txBody>
          <a:bodyPr wrap="square" lIns="0" tIns="0" rIns="0" bIns="0" rtlCol="0" anchor="t"/>
          <a:lstStyle/>
          <a:p>
            <a:pPr algn="ctr" indent="0" marL="0">
              <a:buNone/>
            </a:pPr>
            <a:r>
              <a:rPr lang="en-US" sz="1300" dirty="0">
                <a:solidFill>
                  <a:srgbClr val="6F6F6F"/>
                </a:solidFill>
              </a:rPr>
              <a:t>Call 1</a:t>
            </a:r>
            <a:endParaRPr lang="en-US" sz="1300" dirty="0"/>
          </a:p>
        </p:txBody>
      </p:sp>
      <p:sp>
        <p:nvSpPr>
          <p:cNvPr id="13" name="Text 10"/>
          <p:cNvSpPr txBox="1"/>
          <p:nvPr/>
        </p:nvSpPr>
        <p:spPr>
          <a:xfrm>
            <a:off x="1965960" y="2560320"/>
            <a:ext cx="3749040" cy="1243584"/>
          </a:xfrm>
          <a:prstGeom prst="rect">
            <a:avLst/>
          </a:prstGeom>
          <a:noFill/>
          <a:ln/>
        </p:spPr>
        <p:txBody>
          <a:bodyPr wrap="square" lIns="0" tIns="0" rIns="0" bIns="0" rtlCol="0" anchor="ctr"/>
          <a:lstStyle/>
          <a:p>
            <a:pPr indent="0" marL="0">
              <a:buNone/>
            </a:pPr>
            <a:r>
              <a:rPr lang="en-US" sz="1800" i="1" dirty="0">
                <a:solidFill>
                  <a:srgbClr val="4A4A4A"/>
                </a:solidFill>
              </a:rPr>
              <a:t>Stations give all their ports</a:t>
            </a:r>
            <a:endParaRPr lang="en-US" sz="1800" dirty="0"/>
          </a:p>
        </p:txBody>
      </p:sp>
      <p:sp>
        <p:nvSpPr>
          <p:cNvPr id="14" name="Text 11"/>
          <p:cNvSpPr txBox="1"/>
          <p:nvPr/>
        </p:nvSpPr>
        <p:spPr>
          <a:xfrm>
            <a:off x="5989320" y="2560320"/>
            <a:ext cx="5715000" cy="1243584"/>
          </a:xfrm>
          <a:prstGeom prst="rect">
            <a:avLst/>
          </a:prstGeom>
          <a:noFill/>
          <a:ln/>
        </p:spPr>
        <p:txBody>
          <a:bodyPr wrap="square" lIns="0" tIns="0" rIns="0" bIns="0" rtlCol="0" anchor="ctr"/>
          <a:lstStyle/>
          <a:p>
            <a:pPr indent="0" marL="0">
              <a:buNone/>
            </a:pPr>
            <a:r>
              <a:rPr lang="en-US" sz="1800" dirty="0">
                <a:solidFill>
                  <a:schemeClr val="tx1"/>
                </a:solidFill>
              </a:rPr>
              <a:t>Bookable capacity is capped at 30–50% of ports at peak, more off-peak. Walk-up capacity and NEVI public-access rules apply.</a:t>
            </a:r>
            <a:endParaRPr lang="en-US" sz="1800" dirty="0"/>
          </a:p>
        </p:txBody>
      </p:sp>
      <p:sp>
        <p:nvSpPr>
          <p:cNvPr id="15" name="Text 12"/>
          <p:cNvSpPr txBox="1"/>
          <p:nvPr/>
        </p:nvSpPr>
        <p:spPr>
          <a:xfrm>
            <a:off x="12252960" y="2560320"/>
            <a:ext cx="4983480" cy="1243584"/>
          </a:xfrm>
          <a:prstGeom prst="rect">
            <a:avLst/>
          </a:prstGeom>
          <a:noFill/>
          <a:ln/>
        </p:spPr>
        <p:txBody>
          <a:bodyPr wrap="square" lIns="0" tIns="0" rIns="0" bIns="0" rtlCol="0" anchor="ctr"/>
          <a:lstStyle/>
          <a:p>
            <a:pPr indent="0" marL="0">
              <a:buNone/>
            </a:pPr>
            <a:r>
              <a:rPr lang="en-US" sz="1800" b="1" dirty="0">
                <a:solidFill>
                  <a:schemeClr val="tx2"/>
                </a:solidFill>
              </a:rPr>
              <a:t>Capacity rules per site and per time window are a first-class part of the domain.</a:t>
            </a:r>
            <a:endParaRPr lang="en-US" sz="1800" dirty="0"/>
          </a:p>
        </p:txBody>
      </p:sp>
      <p:sp>
        <p:nvSpPr>
          <p:cNvPr id="16" name="Shape 13"/>
          <p:cNvSpPr/>
          <p:nvPr/>
        </p:nvSpPr>
        <p:spPr>
          <a:xfrm>
            <a:off x="822960" y="3895344"/>
            <a:ext cx="11155680" cy="1243584"/>
          </a:xfrm>
          <a:prstGeom prst="rect">
            <a:avLst/>
          </a:prstGeom>
          <a:solidFill>
            <a:schemeClr val="bg2"/>
          </a:solidFill>
          <a:ln w="12700">
            <a:solidFill>
              <a:schemeClr val="bg2"/>
            </a:solidFill>
            <a:prstDash val="solid"/>
          </a:ln>
        </p:spPr>
      </p:sp>
      <p:sp>
        <p:nvSpPr>
          <p:cNvPr id="17" name="Shape 14"/>
          <p:cNvSpPr/>
          <p:nvPr/>
        </p:nvSpPr>
        <p:spPr>
          <a:xfrm>
            <a:off x="11978640" y="3895344"/>
            <a:ext cx="5486400" cy="1243584"/>
          </a:xfrm>
          <a:prstGeom prst="rect">
            <a:avLst/>
          </a:prstGeom>
          <a:solidFill>
            <a:srgbClr val="CFFFEA"/>
          </a:solidFill>
          <a:ln w="12700">
            <a:solidFill>
              <a:srgbClr val="CFFFEA"/>
            </a:solidFill>
            <a:prstDash val="solid"/>
          </a:ln>
        </p:spPr>
      </p:sp>
      <p:sp>
        <p:nvSpPr>
          <p:cNvPr id="18" name="Shape 15"/>
          <p:cNvSpPr/>
          <p:nvPr/>
        </p:nvSpPr>
        <p:spPr>
          <a:xfrm>
            <a:off x="960120" y="4059936"/>
            <a:ext cx="731520" cy="731520"/>
          </a:xfrm>
          <a:prstGeom prst="ellipse">
            <a:avLst/>
          </a:prstGeom>
          <a:solidFill>
            <a:schemeClr val="tx2"/>
          </a:solidFill>
          <a:ln w="12700">
            <a:solidFill>
              <a:schemeClr val="tx2"/>
            </a:solidFill>
            <a:prstDash val="solid"/>
          </a:ln>
        </p:spPr>
      </p:sp>
      <p:sp>
        <p:nvSpPr>
          <p:cNvPr id="19" name="Text 16"/>
          <p:cNvSpPr txBox="1"/>
          <p:nvPr/>
        </p:nvSpPr>
        <p:spPr>
          <a:xfrm>
            <a:off x="960120" y="4059936"/>
            <a:ext cx="731520" cy="731520"/>
          </a:xfrm>
          <a:prstGeom prst="rect">
            <a:avLst/>
          </a:prstGeom>
          <a:noFill/>
          <a:ln/>
        </p:spPr>
        <p:txBody>
          <a:bodyPr wrap="square" lIns="0" tIns="0" rIns="0" bIns="0" rtlCol="0" anchor="ctr"/>
          <a:lstStyle/>
          <a:p>
            <a:pPr algn="ctr" indent="0" marL="0">
              <a:buNone/>
            </a:pPr>
            <a:r>
              <a:rPr lang="en-US" sz="1800" b="1" dirty="0">
                <a:solidFill>
                  <a:schemeClr val="accent1"/>
                </a:solidFill>
              </a:rPr>
              <a:t>G7</a:t>
            </a:r>
            <a:endParaRPr lang="en-US" sz="1800" dirty="0"/>
          </a:p>
        </p:txBody>
      </p:sp>
      <p:sp>
        <p:nvSpPr>
          <p:cNvPr id="20" name="Text 17"/>
          <p:cNvSpPr txBox="1"/>
          <p:nvPr/>
        </p:nvSpPr>
        <p:spPr>
          <a:xfrm>
            <a:off x="822960" y="4809744"/>
            <a:ext cx="1005840" cy="274320"/>
          </a:xfrm>
          <a:prstGeom prst="rect">
            <a:avLst/>
          </a:prstGeom>
          <a:noFill/>
          <a:ln/>
        </p:spPr>
        <p:txBody>
          <a:bodyPr wrap="square" lIns="0" tIns="0" rIns="0" bIns="0" rtlCol="0" anchor="t"/>
          <a:lstStyle/>
          <a:p>
            <a:pPr algn="ctr" indent="0" marL="0">
              <a:buNone/>
            </a:pPr>
            <a:r>
              <a:rPr lang="en-US" sz="1300" dirty="0">
                <a:solidFill>
                  <a:srgbClr val="6F6F6F"/>
                </a:solidFill>
              </a:rPr>
              <a:t>Call 2</a:t>
            </a:r>
            <a:endParaRPr lang="en-US" sz="1300" dirty="0"/>
          </a:p>
        </p:txBody>
      </p:sp>
      <p:sp>
        <p:nvSpPr>
          <p:cNvPr id="21" name="Text 18"/>
          <p:cNvSpPr txBox="1"/>
          <p:nvPr/>
        </p:nvSpPr>
        <p:spPr>
          <a:xfrm>
            <a:off x="1965960" y="3895344"/>
            <a:ext cx="3749040" cy="1243584"/>
          </a:xfrm>
          <a:prstGeom prst="rect">
            <a:avLst/>
          </a:prstGeom>
          <a:noFill/>
          <a:ln/>
        </p:spPr>
        <p:txBody>
          <a:bodyPr wrap="square" lIns="0" tIns="0" rIns="0" bIns="0" rtlCol="0" anchor="ctr"/>
          <a:lstStyle/>
          <a:p>
            <a:pPr indent="0" marL="0">
              <a:buNone/>
            </a:pPr>
            <a:r>
              <a:rPr lang="en-US" sz="1800" i="1" dirty="0">
                <a:solidFill>
                  <a:srgbClr val="4A4A4A"/>
                </a:solidFill>
              </a:rPr>
              <a:t>“Tesla API for vehicle battery data”</a:t>
            </a:r>
            <a:endParaRPr lang="en-US" sz="1800" dirty="0"/>
          </a:p>
        </p:txBody>
      </p:sp>
      <p:sp>
        <p:nvSpPr>
          <p:cNvPr id="22" name="Text 19"/>
          <p:cNvSpPr txBox="1"/>
          <p:nvPr/>
        </p:nvSpPr>
        <p:spPr>
          <a:xfrm>
            <a:off x="5989320" y="3895344"/>
            <a:ext cx="5715000" cy="1243584"/>
          </a:xfrm>
          <a:prstGeom prst="rect">
            <a:avLst/>
          </a:prstGeom>
          <a:noFill/>
          <a:ln/>
        </p:spPr>
        <p:txBody>
          <a:bodyPr wrap="square" lIns="0" tIns="0" rIns="0" bIns="0" rtlCol="0" anchor="ctr"/>
          <a:lstStyle/>
          <a:p>
            <a:pPr indent="0" marL="0">
              <a:buNone/>
            </a:pPr>
            <a:r>
              <a:rPr lang="en-US" sz="1800" dirty="0">
                <a:solidFill>
                  <a:schemeClr val="tx1"/>
                </a:solidFill>
              </a:rPr>
              <a:t>Geotab covers the non-Teslas only. Teslas (~55%) have no integration and Tesla Fleet API is pay-per-use. The cab company has no telematics.</a:t>
            </a:r>
            <a:endParaRPr lang="en-US" sz="1800" dirty="0"/>
          </a:p>
        </p:txBody>
      </p:sp>
      <p:sp>
        <p:nvSpPr>
          <p:cNvPr id="23" name="Text 20"/>
          <p:cNvSpPr txBox="1"/>
          <p:nvPr/>
        </p:nvSpPr>
        <p:spPr>
          <a:xfrm>
            <a:off x="12252960" y="3895344"/>
            <a:ext cx="4983480" cy="1243584"/>
          </a:xfrm>
          <a:prstGeom prst="rect">
            <a:avLst/>
          </a:prstGeom>
          <a:noFill/>
          <a:ln/>
        </p:spPr>
        <p:txBody>
          <a:bodyPr wrap="square" lIns="0" tIns="0" rIns="0" bIns="0" rtlCol="0" anchor="ctr"/>
          <a:lstStyle/>
          <a:p>
            <a:pPr indent="0" marL="0">
              <a:buNone/>
            </a:pPr>
            <a:r>
              <a:rPr lang="en-US" sz="1800" b="1" dirty="0">
                <a:solidFill>
                  <a:schemeClr val="tx2"/>
                </a:solidFill>
              </a:rPr>
              <a:t>Pluggable telematics: Geotab, Tesla Fleet API, Smartcar fallback, manual SoC. Driver consent built in.</a:t>
            </a:r>
            <a:endParaRPr lang="en-US" sz="1800" dirty="0"/>
          </a:p>
        </p:txBody>
      </p:sp>
      <p:sp>
        <p:nvSpPr>
          <p:cNvPr id="24" name="Shape 21"/>
          <p:cNvSpPr/>
          <p:nvPr/>
        </p:nvSpPr>
        <p:spPr>
          <a:xfrm>
            <a:off x="822960" y="5230368"/>
            <a:ext cx="11155680" cy="1243584"/>
          </a:xfrm>
          <a:prstGeom prst="rect">
            <a:avLst/>
          </a:prstGeom>
          <a:solidFill>
            <a:schemeClr val="bg2"/>
          </a:solidFill>
          <a:ln w="12700">
            <a:solidFill>
              <a:schemeClr val="bg2"/>
            </a:solidFill>
            <a:prstDash val="solid"/>
          </a:ln>
        </p:spPr>
      </p:sp>
      <p:sp>
        <p:nvSpPr>
          <p:cNvPr id="25" name="Shape 22"/>
          <p:cNvSpPr/>
          <p:nvPr/>
        </p:nvSpPr>
        <p:spPr>
          <a:xfrm>
            <a:off x="11978640" y="5230368"/>
            <a:ext cx="5486400" cy="1243584"/>
          </a:xfrm>
          <a:prstGeom prst="rect">
            <a:avLst/>
          </a:prstGeom>
          <a:solidFill>
            <a:srgbClr val="CFFFEA"/>
          </a:solidFill>
          <a:ln w="12700">
            <a:solidFill>
              <a:srgbClr val="CFFFEA"/>
            </a:solidFill>
            <a:prstDash val="solid"/>
          </a:ln>
        </p:spPr>
      </p:sp>
      <p:sp>
        <p:nvSpPr>
          <p:cNvPr id="26" name="Shape 23"/>
          <p:cNvSpPr/>
          <p:nvPr/>
        </p:nvSpPr>
        <p:spPr>
          <a:xfrm>
            <a:off x="960120" y="5394960"/>
            <a:ext cx="731520" cy="731520"/>
          </a:xfrm>
          <a:prstGeom prst="ellipse">
            <a:avLst/>
          </a:prstGeom>
          <a:solidFill>
            <a:schemeClr val="tx2"/>
          </a:solidFill>
          <a:ln w="12700">
            <a:solidFill>
              <a:schemeClr val="tx2"/>
            </a:solidFill>
            <a:prstDash val="solid"/>
          </a:ln>
        </p:spPr>
      </p:sp>
      <p:sp>
        <p:nvSpPr>
          <p:cNvPr id="27" name="Text 24"/>
          <p:cNvSpPr txBox="1"/>
          <p:nvPr/>
        </p:nvSpPr>
        <p:spPr>
          <a:xfrm>
            <a:off x="960120" y="5394960"/>
            <a:ext cx="731520" cy="731520"/>
          </a:xfrm>
          <a:prstGeom prst="rect">
            <a:avLst/>
          </a:prstGeom>
          <a:noFill/>
          <a:ln/>
        </p:spPr>
        <p:txBody>
          <a:bodyPr wrap="square" lIns="0" tIns="0" rIns="0" bIns="0" rtlCol="0" anchor="ctr"/>
          <a:lstStyle/>
          <a:p>
            <a:pPr algn="ctr" indent="0" marL="0">
              <a:buNone/>
            </a:pPr>
            <a:r>
              <a:rPr lang="en-US" sz="1800" b="1" dirty="0">
                <a:solidFill>
                  <a:schemeClr val="accent1"/>
                </a:solidFill>
              </a:rPr>
              <a:t>G8</a:t>
            </a:r>
            <a:endParaRPr lang="en-US" sz="1800" dirty="0"/>
          </a:p>
        </p:txBody>
      </p:sp>
      <p:sp>
        <p:nvSpPr>
          <p:cNvPr id="28" name="Text 25"/>
          <p:cNvSpPr txBox="1"/>
          <p:nvPr/>
        </p:nvSpPr>
        <p:spPr>
          <a:xfrm>
            <a:off x="822960" y="6144768"/>
            <a:ext cx="1005840" cy="274320"/>
          </a:xfrm>
          <a:prstGeom prst="rect">
            <a:avLst/>
          </a:prstGeom>
          <a:noFill/>
          <a:ln/>
        </p:spPr>
        <p:txBody>
          <a:bodyPr wrap="square" lIns="0" tIns="0" rIns="0" bIns="0" rtlCol="0" anchor="t"/>
          <a:lstStyle/>
          <a:p>
            <a:pPr algn="ctr" indent="0" marL="0">
              <a:buNone/>
            </a:pPr>
            <a:r>
              <a:rPr lang="en-US" sz="1300" dirty="0">
                <a:solidFill>
                  <a:srgbClr val="6F6F6F"/>
                </a:solidFill>
              </a:rPr>
              <a:t>Call 2</a:t>
            </a:r>
            <a:endParaRPr lang="en-US" sz="1300" dirty="0"/>
          </a:p>
        </p:txBody>
      </p:sp>
      <p:sp>
        <p:nvSpPr>
          <p:cNvPr id="29" name="Text 26"/>
          <p:cNvSpPr txBox="1"/>
          <p:nvPr/>
        </p:nvSpPr>
        <p:spPr>
          <a:xfrm>
            <a:off x="1965960" y="5230368"/>
            <a:ext cx="3749040" cy="1243584"/>
          </a:xfrm>
          <a:prstGeom prst="rect">
            <a:avLst/>
          </a:prstGeom>
          <a:noFill/>
          <a:ln/>
        </p:spPr>
        <p:txBody>
          <a:bodyPr wrap="square" lIns="0" tIns="0" rIns="0" bIns="0" rtlCol="0" anchor="ctr"/>
          <a:lstStyle/>
          <a:p>
            <a:pPr indent="0" marL="0">
              <a:buNone/>
            </a:pPr>
            <a:r>
              <a:rPr lang="en-US" sz="1800" i="1" dirty="0">
                <a:solidFill>
                  <a:srgbClr val="4A4A4A"/>
                </a:solidFill>
              </a:rPr>
              <a:t>“Uber/Lyft driver apps (deep link + data)”</a:t>
            </a:r>
            <a:endParaRPr lang="en-US" sz="1800" dirty="0"/>
          </a:p>
        </p:txBody>
      </p:sp>
      <p:sp>
        <p:nvSpPr>
          <p:cNvPr id="30" name="Text 27"/>
          <p:cNvSpPr txBox="1"/>
          <p:nvPr/>
        </p:nvSpPr>
        <p:spPr>
          <a:xfrm>
            <a:off x="5989320" y="5230368"/>
            <a:ext cx="5715000" cy="1243584"/>
          </a:xfrm>
          <a:prstGeom prst="rect">
            <a:avLst/>
          </a:prstGeom>
          <a:noFill/>
          <a:ln/>
        </p:spPr>
        <p:txBody>
          <a:bodyPr wrap="square" lIns="0" tIns="0" rIns="0" bIns="0" rtlCol="0" anchor="ctr"/>
          <a:lstStyle/>
          <a:p>
            <a:pPr indent="0" marL="0">
              <a:buNone/>
            </a:pPr>
            <a:r>
              <a:rPr lang="en-US" sz="1800" dirty="0">
                <a:solidFill>
                  <a:schemeClr val="tx1"/>
                </a:solidFill>
              </a:rPr>
              <a:t>Uber Driver API is limited-access with no vehicle data; Lyft has no public API. A large platform’s EV team wants SOC 2 Type I within 12 months.</a:t>
            </a:r>
            <a:endParaRPr lang="en-US" sz="1800" dirty="0"/>
          </a:p>
        </p:txBody>
      </p:sp>
      <p:sp>
        <p:nvSpPr>
          <p:cNvPr id="31" name="Text 28"/>
          <p:cNvSpPr txBox="1"/>
          <p:nvPr/>
        </p:nvSpPr>
        <p:spPr>
          <a:xfrm>
            <a:off x="12252960" y="5230368"/>
            <a:ext cx="4983480" cy="1243584"/>
          </a:xfrm>
          <a:prstGeom prst="rect">
            <a:avLst/>
          </a:prstGeom>
          <a:noFill/>
          <a:ln/>
        </p:spPr>
        <p:txBody>
          <a:bodyPr wrap="square" lIns="0" tIns="0" rIns="0" bIns="0" rtlCol="0" anchor="ctr"/>
          <a:lstStyle/>
          <a:p>
            <a:pPr indent="0" marL="0">
              <a:buNone/>
            </a:pPr>
            <a:r>
              <a:rPr lang="en-US" sz="1800" b="1" dirty="0">
                <a:solidFill>
                  <a:schemeClr val="tx2"/>
                </a:solidFill>
              </a:rPr>
              <a:t>Deep links only in the MVP. Start the SOC 2 readiness path now.</a:t>
            </a:r>
            <a:endParaRPr lang="en-US" sz="1800" dirty="0"/>
          </a:p>
        </p:txBody>
      </p:sp>
      <p:sp>
        <p:nvSpPr>
          <p:cNvPr id="32" name="Shape 29"/>
          <p:cNvSpPr/>
          <p:nvPr/>
        </p:nvSpPr>
        <p:spPr>
          <a:xfrm>
            <a:off x="822960" y="6565392"/>
            <a:ext cx="11155680" cy="1243584"/>
          </a:xfrm>
          <a:prstGeom prst="rect">
            <a:avLst/>
          </a:prstGeom>
          <a:solidFill>
            <a:schemeClr val="bg2"/>
          </a:solidFill>
          <a:ln w="12700">
            <a:solidFill>
              <a:schemeClr val="bg2"/>
            </a:solidFill>
            <a:prstDash val="solid"/>
          </a:ln>
        </p:spPr>
      </p:sp>
      <p:sp>
        <p:nvSpPr>
          <p:cNvPr id="33" name="Shape 30"/>
          <p:cNvSpPr/>
          <p:nvPr/>
        </p:nvSpPr>
        <p:spPr>
          <a:xfrm>
            <a:off x="11978640" y="6565392"/>
            <a:ext cx="5486400" cy="1243584"/>
          </a:xfrm>
          <a:prstGeom prst="rect">
            <a:avLst/>
          </a:prstGeom>
          <a:solidFill>
            <a:srgbClr val="CFFFEA"/>
          </a:solidFill>
          <a:ln w="12700">
            <a:solidFill>
              <a:srgbClr val="CFFFEA"/>
            </a:solidFill>
            <a:prstDash val="solid"/>
          </a:ln>
        </p:spPr>
      </p:sp>
      <p:sp>
        <p:nvSpPr>
          <p:cNvPr id="34" name="Shape 31"/>
          <p:cNvSpPr/>
          <p:nvPr/>
        </p:nvSpPr>
        <p:spPr>
          <a:xfrm>
            <a:off x="960120" y="6729984"/>
            <a:ext cx="731520" cy="731520"/>
          </a:xfrm>
          <a:prstGeom prst="ellipse">
            <a:avLst/>
          </a:prstGeom>
          <a:solidFill>
            <a:schemeClr val="tx2"/>
          </a:solidFill>
          <a:ln w="12700">
            <a:solidFill>
              <a:schemeClr val="tx2"/>
            </a:solidFill>
            <a:prstDash val="solid"/>
          </a:ln>
        </p:spPr>
      </p:sp>
      <p:sp>
        <p:nvSpPr>
          <p:cNvPr id="35" name="Text 32"/>
          <p:cNvSpPr txBox="1"/>
          <p:nvPr/>
        </p:nvSpPr>
        <p:spPr>
          <a:xfrm>
            <a:off x="960120" y="6729984"/>
            <a:ext cx="731520" cy="731520"/>
          </a:xfrm>
          <a:prstGeom prst="rect">
            <a:avLst/>
          </a:prstGeom>
          <a:noFill/>
          <a:ln/>
        </p:spPr>
        <p:txBody>
          <a:bodyPr wrap="square" lIns="0" tIns="0" rIns="0" bIns="0" rtlCol="0" anchor="ctr"/>
          <a:lstStyle/>
          <a:p>
            <a:pPr algn="ctr" indent="0" marL="0">
              <a:buNone/>
            </a:pPr>
            <a:r>
              <a:rPr lang="en-US" sz="1600" b="1" dirty="0">
                <a:solidFill>
                  <a:schemeClr val="accent1"/>
                </a:solidFill>
              </a:rPr>
              <a:t>G10</a:t>
            </a:r>
            <a:endParaRPr lang="en-US" sz="1600" dirty="0"/>
          </a:p>
        </p:txBody>
      </p:sp>
      <p:sp>
        <p:nvSpPr>
          <p:cNvPr id="36" name="Text 33"/>
          <p:cNvSpPr txBox="1"/>
          <p:nvPr/>
        </p:nvSpPr>
        <p:spPr>
          <a:xfrm>
            <a:off x="822960" y="7479792"/>
            <a:ext cx="1005840" cy="274320"/>
          </a:xfrm>
          <a:prstGeom prst="rect">
            <a:avLst/>
          </a:prstGeom>
          <a:noFill/>
          <a:ln/>
        </p:spPr>
        <p:txBody>
          <a:bodyPr wrap="square" lIns="0" tIns="0" rIns="0" bIns="0" rtlCol="0" anchor="t"/>
          <a:lstStyle/>
          <a:p>
            <a:pPr algn="ctr" indent="0" marL="0">
              <a:buNone/>
            </a:pPr>
            <a:r>
              <a:rPr lang="en-US" sz="1300" dirty="0">
                <a:solidFill>
                  <a:srgbClr val="6F6F6F"/>
                </a:solidFill>
              </a:rPr>
              <a:t>Call 1</a:t>
            </a:r>
            <a:endParaRPr lang="en-US" sz="1300" dirty="0"/>
          </a:p>
        </p:txBody>
      </p:sp>
      <p:sp>
        <p:nvSpPr>
          <p:cNvPr id="37" name="Text 34"/>
          <p:cNvSpPr txBox="1"/>
          <p:nvPr/>
        </p:nvSpPr>
        <p:spPr>
          <a:xfrm>
            <a:off x="1965960" y="6565392"/>
            <a:ext cx="3749040" cy="1243584"/>
          </a:xfrm>
          <a:prstGeom prst="rect">
            <a:avLst/>
          </a:prstGeom>
          <a:noFill/>
          <a:ln/>
        </p:spPr>
        <p:txBody>
          <a:bodyPr wrap="square" lIns="0" tIns="0" rIns="0" bIns="0" rtlCol="0" anchor="ctr"/>
          <a:lstStyle/>
          <a:p>
            <a:pPr indent="0" marL="0">
              <a:buNone/>
            </a:pPr>
            <a:r>
              <a:rPr lang="en-US" sz="1800" i="1" dirty="0">
                <a:solidFill>
                  <a:srgbClr val="4A4A4A"/>
                </a:solidFill>
              </a:rPr>
              <a:t>“MVP in 12 weeks”, no budget, no date</a:t>
            </a:r>
            <a:endParaRPr lang="en-US" sz="1800" dirty="0"/>
          </a:p>
        </p:txBody>
      </p:sp>
      <p:sp>
        <p:nvSpPr>
          <p:cNvPr id="38" name="Text 35"/>
          <p:cNvSpPr txBox="1"/>
          <p:nvPr/>
        </p:nvSpPr>
        <p:spPr>
          <a:xfrm>
            <a:off x="5989320" y="6565392"/>
            <a:ext cx="5715000" cy="1243584"/>
          </a:xfrm>
          <a:prstGeom prst="rect">
            <a:avLst/>
          </a:prstGeom>
          <a:noFill/>
          <a:ln/>
        </p:spPr>
        <p:txBody>
          <a:bodyPr wrap="square" lIns="0" tIns="0" rIns="0" bIns="0" rtlCol="0" anchor="ctr"/>
          <a:lstStyle/>
          <a:p>
            <a:pPr indent="0" marL="0">
              <a:buNone/>
            </a:pPr>
            <a:r>
              <a:rPr lang="en-US" sz="1800" dirty="0">
                <a:solidFill>
                  <a:schemeClr val="tx1"/>
                </a:solidFill>
              </a:rPr>
              <a:t>Hard date: NYC production launch by March 1, 2027. Phase 1 budget around $1M. LA next (Q3 2027); 10 metros is a 2028 ambition.</a:t>
            </a:r>
            <a:endParaRPr lang="en-US" sz="1800" dirty="0"/>
          </a:p>
        </p:txBody>
      </p:sp>
      <p:sp>
        <p:nvSpPr>
          <p:cNvPr id="39" name="Text 36"/>
          <p:cNvSpPr txBox="1"/>
          <p:nvPr/>
        </p:nvSpPr>
        <p:spPr>
          <a:xfrm>
            <a:off x="12252960" y="6565392"/>
            <a:ext cx="4983480" cy="1243584"/>
          </a:xfrm>
          <a:prstGeom prst="rect">
            <a:avLst/>
          </a:prstGeom>
          <a:noFill/>
          <a:ln/>
        </p:spPr>
        <p:txBody>
          <a:bodyPr wrap="square" lIns="0" tIns="0" rIns="0" bIns="0" rtlCol="0" anchor="ctr"/>
          <a:lstStyle/>
          <a:p>
            <a:pPr indent="0" marL="0">
              <a:buNone/>
            </a:pPr>
            <a:r>
              <a:rPr lang="en-US" sz="1800" b="1" dirty="0">
                <a:solidFill>
                  <a:schemeClr val="tx2"/>
                </a:solidFill>
              </a:rPr>
              <a:t>Scope is cut to the date: NYC-first MVP, LA and scale in Phase 2.</a:t>
            </a:r>
            <a:endParaRPr lang="en-US" sz="1800" dirty="0"/>
          </a:p>
        </p:txBody>
      </p:sp>
      <p:sp>
        <p:nvSpPr>
          <p:cNvPr id="40" name="Shape 37"/>
          <p:cNvSpPr/>
          <p:nvPr/>
        </p:nvSpPr>
        <p:spPr>
          <a:xfrm>
            <a:off x="822960" y="7900416"/>
            <a:ext cx="11155680" cy="1243584"/>
          </a:xfrm>
          <a:prstGeom prst="rect">
            <a:avLst/>
          </a:prstGeom>
          <a:solidFill>
            <a:schemeClr val="bg2"/>
          </a:solidFill>
          <a:ln w="12700">
            <a:solidFill>
              <a:schemeClr val="bg2"/>
            </a:solidFill>
            <a:prstDash val="solid"/>
          </a:ln>
        </p:spPr>
      </p:sp>
      <p:sp>
        <p:nvSpPr>
          <p:cNvPr id="41" name="Shape 38"/>
          <p:cNvSpPr/>
          <p:nvPr/>
        </p:nvSpPr>
        <p:spPr>
          <a:xfrm>
            <a:off x="11978640" y="7900416"/>
            <a:ext cx="5486400" cy="1243584"/>
          </a:xfrm>
          <a:prstGeom prst="rect">
            <a:avLst/>
          </a:prstGeom>
          <a:solidFill>
            <a:srgbClr val="CFFFEA"/>
          </a:solidFill>
          <a:ln w="12700">
            <a:solidFill>
              <a:srgbClr val="CFFFEA"/>
            </a:solidFill>
            <a:prstDash val="solid"/>
          </a:ln>
        </p:spPr>
      </p:sp>
      <p:sp>
        <p:nvSpPr>
          <p:cNvPr id="42" name="Shape 39"/>
          <p:cNvSpPr/>
          <p:nvPr/>
        </p:nvSpPr>
        <p:spPr>
          <a:xfrm>
            <a:off x="960120" y="8065008"/>
            <a:ext cx="731520" cy="731520"/>
          </a:xfrm>
          <a:prstGeom prst="ellipse">
            <a:avLst/>
          </a:prstGeom>
          <a:solidFill>
            <a:schemeClr val="tx2"/>
          </a:solidFill>
          <a:ln w="12700">
            <a:solidFill>
              <a:schemeClr val="tx2"/>
            </a:solidFill>
            <a:prstDash val="solid"/>
          </a:ln>
        </p:spPr>
      </p:sp>
      <p:sp>
        <p:nvSpPr>
          <p:cNvPr id="43" name="Text 40"/>
          <p:cNvSpPr txBox="1"/>
          <p:nvPr/>
        </p:nvSpPr>
        <p:spPr>
          <a:xfrm>
            <a:off x="960120" y="8065008"/>
            <a:ext cx="731520" cy="731520"/>
          </a:xfrm>
          <a:prstGeom prst="rect">
            <a:avLst/>
          </a:prstGeom>
          <a:noFill/>
          <a:ln/>
        </p:spPr>
        <p:txBody>
          <a:bodyPr wrap="square" lIns="0" tIns="0" rIns="0" bIns="0" rtlCol="0" anchor="ctr"/>
          <a:lstStyle/>
          <a:p>
            <a:pPr algn="ctr" indent="0" marL="0">
              <a:buNone/>
            </a:pPr>
            <a:r>
              <a:rPr lang="en-US" sz="1600" b="1" dirty="0">
                <a:solidFill>
                  <a:schemeClr val="accent1"/>
                </a:solidFill>
              </a:rPr>
              <a:t>G12</a:t>
            </a:r>
            <a:endParaRPr lang="en-US" sz="1600" dirty="0"/>
          </a:p>
        </p:txBody>
      </p:sp>
      <p:sp>
        <p:nvSpPr>
          <p:cNvPr id="44" name="Text 41"/>
          <p:cNvSpPr txBox="1"/>
          <p:nvPr/>
        </p:nvSpPr>
        <p:spPr>
          <a:xfrm>
            <a:off x="822960" y="8814816"/>
            <a:ext cx="1005840" cy="274320"/>
          </a:xfrm>
          <a:prstGeom prst="rect">
            <a:avLst/>
          </a:prstGeom>
          <a:noFill/>
          <a:ln/>
        </p:spPr>
        <p:txBody>
          <a:bodyPr wrap="square" lIns="0" tIns="0" rIns="0" bIns="0" rtlCol="0" anchor="t"/>
          <a:lstStyle/>
          <a:p>
            <a:pPr algn="ctr" indent="0" marL="0">
              <a:buNone/>
            </a:pPr>
            <a:r>
              <a:rPr lang="en-US" sz="1300" dirty="0">
                <a:solidFill>
                  <a:srgbClr val="6F6F6F"/>
                </a:solidFill>
              </a:rPr>
              <a:t>Call 2</a:t>
            </a:r>
            <a:endParaRPr lang="en-US" sz="1300" dirty="0"/>
          </a:p>
        </p:txBody>
      </p:sp>
      <p:sp>
        <p:nvSpPr>
          <p:cNvPr id="45" name="Text 42"/>
          <p:cNvSpPr txBox="1"/>
          <p:nvPr/>
        </p:nvSpPr>
        <p:spPr>
          <a:xfrm>
            <a:off x="1965960" y="7900416"/>
            <a:ext cx="3749040" cy="1243584"/>
          </a:xfrm>
          <a:prstGeom prst="rect">
            <a:avLst/>
          </a:prstGeom>
          <a:noFill/>
          <a:ln/>
        </p:spPr>
        <p:txBody>
          <a:bodyPr wrap="square" lIns="0" tIns="0" rIns="0" bIns="0" rtlCol="0" anchor="ctr"/>
          <a:lstStyle/>
          <a:p>
            <a:pPr indent="0" marL="0">
              <a:buNone/>
            </a:pPr>
            <a:r>
              <a:rPr lang="en-US" sz="1800" i="1" dirty="0">
                <a:solidFill>
                  <a:srgbClr val="4A4A4A"/>
                </a:solidFill>
              </a:rPr>
              <a:t>Settlement not mentioned</a:t>
            </a:r>
            <a:endParaRPr lang="en-US" sz="1800" dirty="0"/>
          </a:p>
        </p:txBody>
      </p:sp>
      <p:sp>
        <p:nvSpPr>
          <p:cNvPr id="46" name="Text 43"/>
          <p:cNvSpPr txBox="1"/>
          <p:nvPr/>
        </p:nvSpPr>
        <p:spPr>
          <a:xfrm>
            <a:off x="5989320" y="7900416"/>
            <a:ext cx="5715000" cy="1243584"/>
          </a:xfrm>
          <a:prstGeom prst="rect">
            <a:avLst/>
          </a:prstGeom>
          <a:noFill/>
          <a:ln/>
        </p:spPr>
        <p:txBody>
          <a:bodyPr wrap="square" lIns="0" tIns="0" rIns="0" bIns="0" rtlCol="0" anchor="ctr"/>
          <a:lstStyle/>
          <a:p>
            <a:pPr indent="0" marL="0">
              <a:buNone/>
            </a:pPr>
            <a:r>
              <a:rPr lang="en-US" sz="1800" dirty="0">
                <a:solidFill>
                  <a:schemeClr val="tx1"/>
                </a:solidFill>
              </a:rPr>
              <a:t>Stations want weekly payouts, fleets pay net-30, and disputes are settled against OCPI CDRs or CSMS session records.</a:t>
            </a:r>
            <a:endParaRPr lang="en-US" sz="1800" dirty="0"/>
          </a:p>
        </p:txBody>
      </p:sp>
      <p:sp>
        <p:nvSpPr>
          <p:cNvPr id="47" name="Text 44"/>
          <p:cNvSpPr txBox="1"/>
          <p:nvPr/>
        </p:nvSpPr>
        <p:spPr>
          <a:xfrm>
            <a:off x="12252960" y="7900416"/>
            <a:ext cx="4983480" cy="1243584"/>
          </a:xfrm>
          <a:prstGeom prst="rect">
            <a:avLst/>
          </a:prstGeom>
          <a:noFill/>
          <a:ln/>
        </p:spPr>
        <p:txBody>
          <a:bodyPr wrap="square" lIns="0" tIns="0" rIns="0" bIns="0" rtlCol="0" anchor="ctr"/>
          <a:lstStyle/>
          <a:p>
            <a:pPr indent="0" marL="0">
              <a:buNone/>
            </a:pPr>
            <a:r>
              <a:rPr lang="en-US" sz="1800" b="1" dirty="0">
                <a:solidFill>
                  <a:schemeClr val="tx2"/>
                </a:solidFill>
              </a:rPr>
              <a:t>Stripe Connect for payouts (it can file &amp; deliver 1099s), funds kept inside Stripe, CDR-based reconciliation.</a:t>
            </a:r>
            <a:endParaRPr lang="en-US" sz="1800" dirty="0"/>
          </a:p>
        </p:txBody>
      </p:sp>
      <p:sp>
        <p:nvSpPr>
          <p:cNvPr id="25" name="Slide Number Placeholder 0"/>
          <p:cNvSpPr>
            <a:spLocks noGrp="1"/>
          </p:cNvSpPr>
          <p:nvPr>
            <p:ph type="sldNum" sz="quarter" idx="4294967295"/>
          </p:nvPr>
        </p:nvSpPr>
        <p:spPr>
          <a:xfrm>
            <a:off x="16642080" y="9646920"/>
            <a:ext cx="822960" cy="347472"/>
          </a:xfrm>
          <a:prstGeom prst="rect">
            <a:avLst/>
          </a:prstGeom>
          <a:extLst>
            <a:ext uri="{C572A759-6A51-4108-AA02-DFA0A04FC94B}">
              <ma14:wrappingTextBoxFlag xmlns:ma14="http://schemas.microsoft.com/office/mac/drawingml/2011/main" val="0"/>
            </a:ext>
          </a:extLst>
        </p:spPr>
        <p:txBody>
          <a:bodyPr/>
          <a:lstStyle>
            <a:lvl1pPr>
              <a:defRPr sz="1500">
                <a:solidFill>
                  <a:schemeClr val="tx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header"/>
          <p:cNvSpPr txBox="1"/>
          <p:nvPr/>
        </p:nvSpPr>
        <p:spPr>
          <a:xfrm>
            <a:off x="822960" y="219456"/>
            <a:ext cx="10972800" cy="347472"/>
          </a:xfrm>
          <a:prstGeom prst="rect">
            <a:avLst/>
          </a:prstGeom>
          <a:noFill/>
          <a:ln/>
        </p:spPr>
        <p:txBody>
          <a:bodyPr wrap="square" lIns="0" tIns="0" rIns="0" bIns="0" rtlCol="0" anchor="ctr"/>
          <a:lstStyle/>
          <a:p>
            <a:pPr indent="0" marL="0">
              <a:buNone/>
            </a:pPr>
            <a:r>
              <a:rPr lang="en-US" sz="1500" dirty="0">
                <a:solidFill>
                  <a:schemeClr val="tx1"/>
                </a:solidFill>
              </a:rPr>
              <a:t>amperlane/01-understanding</a:t>
            </a:r>
            <a:endParaRPr lang="en-US" sz="1500" dirty="0"/>
          </a:p>
        </p:txBody>
      </p:sp>
      <p:sp>
        <p:nvSpPr>
          <p:cNvPr id="3" name="Text 0"/>
          <p:cNvSpPr/>
          <p:nvPr>
            <p:ph idx="100" type="title" hasCustomPrompt="1"/>
          </p:nvPr>
        </p:nvSpPr>
        <p:spPr>
          <a:xfrm>
            <a:off x="822960" y="841248"/>
            <a:ext cx="16642080" cy="1005840"/>
          </a:xfrm>
          <a:prstGeom prst="rect">
            <a:avLst/>
          </a:prstGeom>
          <a:noFill/>
          <a:ln/>
        </p:spPr>
        <p:txBody>
          <a:bodyPr wrap="square" lIns="0" tIns="0" rIns="0" bIns="0" rtlCol="0" anchor="t"/>
          <a:lstStyle/>
          <a:p>
            <a:pPr algn="l" indent="0" marL="0">
              <a:buNone/>
            </a:pPr>
            <a:r>
              <a:rPr lang="en-US" sz="4500" dirty="0">
                <a:solidFill>
                  <a:schemeClr val="tx1"/>
                </a:solidFill>
              </a:rPr>
              <a:t>Actors and their jobs</a:t>
            </a:r>
            <a:endParaRPr lang="en-US" sz="4500" dirty="0"/>
          </a:p>
        </p:txBody>
      </p:sp>
      <p:sp>
        <p:nvSpPr>
          <p:cNvPr id="5" name="Shape 2"/>
          <p:cNvSpPr/>
          <p:nvPr/>
        </p:nvSpPr>
        <p:spPr>
          <a:xfrm>
            <a:off x="822960" y="2103120"/>
            <a:ext cx="5349240" cy="3200400"/>
          </a:xfrm>
          <a:prstGeom prst="rect">
            <a:avLst/>
          </a:prstGeom>
          <a:solidFill>
            <a:schemeClr val="bg2"/>
          </a:solidFill>
          <a:ln w="12700">
            <a:solidFill>
              <a:schemeClr val="bg2"/>
            </a:solidFill>
            <a:prstDash val="solid"/>
          </a:ln>
        </p:spPr>
      </p:sp>
      <p:sp>
        <p:nvSpPr>
          <p:cNvPr id="6" name="Shape 3"/>
          <p:cNvSpPr/>
          <p:nvPr/>
        </p:nvSpPr>
        <p:spPr>
          <a:xfrm>
            <a:off x="1188720" y="2423160"/>
            <a:ext cx="868680" cy="868680"/>
          </a:xfrm>
          <a:prstGeom prst="ellipse">
            <a:avLst/>
          </a:prstGeom>
          <a:solidFill>
            <a:schemeClr val="accent1"/>
          </a:solidFill>
          <a:ln w="12700">
            <a:solidFill>
              <a:schemeClr val="accent1"/>
            </a:solidFill>
            <a:prstDash val="solid"/>
          </a:ln>
        </p:spPr>
      </p:sp>
      <p:pic>
        <p:nvPicPr>
          <p:cNvPr id="7" name="Image 0" descr="preencoded.png">    </p:cNvPr>
          <p:cNvPicPr>
            <a:picLocks noChangeAspect="1"/>
          </p:cNvPicPr>
          <p:nvPr/>
        </p:nvPicPr>
        <p:blipFill>
          <a:blip r:embed="rId1"/>
          <a:stretch>
            <a:fillRect/>
          </a:stretch>
        </p:blipFill>
        <p:spPr>
          <a:xfrm>
            <a:off x="1405890" y="2640330"/>
            <a:ext cx="434340" cy="434340"/>
          </a:xfrm>
          <a:prstGeom prst="rect">
            <a:avLst/>
          </a:prstGeom>
        </p:spPr>
      </p:pic>
      <p:sp>
        <p:nvSpPr>
          <p:cNvPr id="8" name="Text 4"/>
          <p:cNvSpPr txBox="1"/>
          <p:nvPr/>
        </p:nvSpPr>
        <p:spPr>
          <a:xfrm>
            <a:off x="2240280" y="2423160"/>
            <a:ext cx="3611880" cy="868680"/>
          </a:xfrm>
          <a:prstGeom prst="rect">
            <a:avLst/>
          </a:prstGeom>
          <a:noFill/>
          <a:ln/>
        </p:spPr>
        <p:txBody>
          <a:bodyPr wrap="square" lIns="0" tIns="0" rIns="0" bIns="0" rtlCol="0" anchor="ctr"/>
          <a:lstStyle/>
          <a:p>
            <a:pPr indent="0" marL="0">
              <a:buNone/>
            </a:pPr>
            <a:r>
              <a:rPr lang="en-US" sz="2600" b="1" dirty="0">
                <a:solidFill>
                  <a:schemeClr val="tx2"/>
                </a:solidFill>
              </a:rPr>
              <a:t>Fleet manager</a:t>
            </a:r>
            <a:endParaRPr lang="en-US" sz="2600" dirty="0"/>
          </a:p>
        </p:txBody>
      </p:sp>
      <p:sp>
        <p:nvSpPr>
          <p:cNvPr id="9" name="Text 5"/>
          <p:cNvSpPr txBox="1"/>
          <p:nvPr/>
        </p:nvSpPr>
        <p:spPr>
          <a:xfrm>
            <a:off x="1188720" y="3474720"/>
            <a:ext cx="4617720" cy="1188720"/>
          </a:xfrm>
          <a:prstGeom prst="rect">
            <a:avLst/>
          </a:prstGeom>
          <a:noFill/>
          <a:ln/>
        </p:spPr>
        <p:txBody>
          <a:bodyPr wrap="square" lIns="0" tIns="0" rIns="0" bIns="0" rtlCol="0" anchor="t"/>
          <a:lstStyle/>
          <a:p>
            <a:pPr indent="0" marL="0">
              <a:buNone/>
            </a:pPr>
            <a:r>
              <a:rPr lang="en-US" sz="1900" dirty="0">
                <a:solidFill>
                  <a:schemeClr val="tx1"/>
                </a:solidFill>
              </a:rPr>
              <a:t>Set booking policies, see no-shows and utilisation, get one monthly invoice</a:t>
            </a:r>
            <a:endParaRPr lang="en-US" sz="1900" dirty="0"/>
          </a:p>
        </p:txBody>
      </p:sp>
      <p:sp>
        <p:nvSpPr>
          <p:cNvPr id="10" name="Text 6"/>
          <p:cNvSpPr txBox="1"/>
          <p:nvPr/>
        </p:nvSpPr>
        <p:spPr>
          <a:xfrm>
            <a:off x="1188720" y="4709160"/>
            <a:ext cx="4617720" cy="411480"/>
          </a:xfrm>
          <a:prstGeom prst="rect">
            <a:avLst/>
          </a:prstGeom>
          <a:noFill/>
          <a:ln/>
        </p:spPr>
        <p:txBody>
          <a:bodyPr wrap="square" lIns="0" tIns="0" rIns="0" bIns="0" rtlCol="0" anchor="t"/>
          <a:lstStyle/>
          <a:p>
            <a:pPr indent="0" marL="0">
              <a:buNone/>
            </a:pPr>
            <a:r>
              <a:rPr lang="en-US" sz="1800" b="1" dirty="0">
                <a:solidFill>
                  <a:schemeClr val="accent2"/>
                </a:solidFill>
              </a:rPr>
              <a:t>Fleet portal</a:t>
            </a:r>
            <a:endParaRPr lang="en-US" sz="1800" dirty="0"/>
          </a:p>
        </p:txBody>
      </p:sp>
      <p:sp>
        <p:nvSpPr>
          <p:cNvPr id="11" name="Shape 7"/>
          <p:cNvSpPr/>
          <p:nvPr/>
        </p:nvSpPr>
        <p:spPr>
          <a:xfrm>
            <a:off x="6446520" y="2103120"/>
            <a:ext cx="5349240" cy="3200400"/>
          </a:xfrm>
          <a:prstGeom prst="rect">
            <a:avLst/>
          </a:prstGeom>
          <a:solidFill>
            <a:schemeClr val="bg2"/>
          </a:solidFill>
          <a:ln w="12700">
            <a:solidFill>
              <a:schemeClr val="bg2"/>
            </a:solidFill>
            <a:prstDash val="solid"/>
          </a:ln>
        </p:spPr>
      </p:sp>
      <p:sp>
        <p:nvSpPr>
          <p:cNvPr id="12" name="Shape 8"/>
          <p:cNvSpPr/>
          <p:nvPr/>
        </p:nvSpPr>
        <p:spPr>
          <a:xfrm>
            <a:off x="6812280" y="2423160"/>
            <a:ext cx="868680" cy="868680"/>
          </a:xfrm>
          <a:prstGeom prst="ellipse">
            <a:avLst/>
          </a:prstGeom>
          <a:solidFill>
            <a:schemeClr val="accent1"/>
          </a:solidFill>
          <a:ln w="12700">
            <a:solidFill>
              <a:schemeClr val="accent1"/>
            </a:solidFill>
            <a:prstDash val="solid"/>
          </a:ln>
        </p:spPr>
      </p:sp>
      <p:pic>
        <p:nvPicPr>
          <p:cNvPr id="13" name="Image 1" descr="preencoded.png">    </p:cNvPr>
          <p:cNvPicPr>
            <a:picLocks noChangeAspect="1"/>
          </p:cNvPicPr>
          <p:nvPr/>
        </p:nvPicPr>
        <p:blipFill>
          <a:blip r:embed="rId2"/>
          <a:stretch>
            <a:fillRect/>
          </a:stretch>
        </p:blipFill>
        <p:spPr>
          <a:xfrm>
            <a:off x="7029450" y="2640330"/>
            <a:ext cx="434340" cy="434340"/>
          </a:xfrm>
          <a:prstGeom prst="rect">
            <a:avLst/>
          </a:prstGeom>
        </p:spPr>
      </p:pic>
      <p:sp>
        <p:nvSpPr>
          <p:cNvPr id="14" name="Text 9"/>
          <p:cNvSpPr txBox="1"/>
          <p:nvPr/>
        </p:nvSpPr>
        <p:spPr>
          <a:xfrm>
            <a:off x="7863840" y="2423160"/>
            <a:ext cx="3611880" cy="868680"/>
          </a:xfrm>
          <a:prstGeom prst="rect">
            <a:avLst/>
          </a:prstGeom>
          <a:noFill/>
          <a:ln/>
        </p:spPr>
        <p:txBody>
          <a:bodyPr wrap="square" lIns="0" tIns="0" rIns="0" bIns="0" rtlCol="0" anchor="ctr"/>
          <a:lstStyle/>
          <a:p>
            <a:pPr indent="0" marL="0">
              <a:buNone/>
            </a:pPr>
            <a:r>
              <a:rPr lang="en-US" sz="2600" b="1" dirty="0">
                <a:solidFill>
                  <a:schemeClr val="tx2"/>
                </a:solidFill>
              </a:rPr>
              <a:t>Driver</a:t>
            </a:r>
            <a:endParaRPr lang="en-US" sz="2600" dirty="0"/>
          </a:p>
        </p:txBody>
      </p:sp>
      <p:sp>
        <p:nvSpPr>
          <p:cNvPr id="15" name="Text 10"/>
          <p:cNvSpPr txBox="1"/>
          <p:nvPr/>
        </p:nvSpPr>
        <p:spPr>
          <a:xfrm>
            <a:off x="6812280" y="3474720"/>
            <a:ext cx="4617720" cy="1188720"/>
          </a:xfrm>
          <a:prstGeom prst="rect">
            <a:avLst/>
          </a:prstGeom>
          <a:noFill/>
          <a:ln/>
        </p:spPr>
        <p:txBody>
          <a:bodyPr wrap="square" lIns="0" tIns="0" rIns="0" bIns="0" rtlCol="0" anchor="t"/>
          <a:lstStyle/>
          <a:p>
            <a:pPr indent="0" marL="0">
              <a:buNone/>
            </a:pPr>
            <a:r>
              <a:rPr lang="en-US" sz="1900" dirty="0">
                <a:solidFill>
                  <a:schemeClr val="tx1"/>
                </a:solidFill>
              </a:rPr>
              <a:t>Independent contractor. Grab a slot in seconds between trips, arrive, plug in</a:t>
            </a:r>
            <a:endParaRPr lang="en-US" sz="1900" dirty="0"/>
          </a:p>
        </p:txBody>
      </p:sp>
      <p:sp>
        <p:nvSpPr>
          <p:cNvPr id="16" name="Text 11"/>
          <p:cNvSpPr txBox="1"/>
          <p:nvPr/>
        </p:nvSpPr>
        <p:spPr>
          <a:xfrm>
            <a:off x="6812280" y="4709160"/>
            <a:ext cx="4617720" cy="411480"/>
          </a:xfrm>
          <a:prstGeom prst="rect">
            <a:avLst/>
          </a:prstGeom>
          <a:noFill/>
          <a:ln/>
        </p:spPr>
        <p:txBody>
          <a:bodyPr wrap="square" lIns="0" tIns="0" rIns="0" bIns="0" rtlCol="0" anchor="t"/>
          <a:lstStyle/>
          <a:p>
            <a:pPr indent="0" marL="0">
              <a:buNone/>
            </a:pPr>
            <a:r>
              <a:rPr lang="en-US" sz="1800" b="1" dirty="0">
                <a:solidFill>
                  <a:schemeClr val="accent2"/>
                </a:solidFill>
              </a:rPr>
              <a:t>SMS / WhatsApp + PWA · EN, ES, BN</a:t>
            </a:r>
            <a:endParaRPr lang="en-US" sz="1800" dirty="0"/>
          </a:p>
        </p:txBody>
      </p:sp>
      <p:sp>
        <p:nvSpPr>
          <p:cNvPr id="17" name="Shape 12"/>
          <p:cNvSpPr/>
          <p:nvPr/>
        </p:nvSpPr>
        <p:spPr>
          <a:xfrm>
            <a:off x="12070080" y="2103120"/>
            <a:ext cx="5349240" cy="3200400"/>
          </a:xfrm>
          <a:prstGeom prst="rect">
            <a:avLst/>
          </a:prstGeom>
          <a:solidFill>
            <a:schemeClr val="bg2"/>
          </a:solidFill>
          <a:ln w="12700">
            <a:solidFill>
              <a:schemeClr val="bg2"/>
            </a:solidFill>
            <a:prstDash val="solid"/>
          </a:ln>
        </p:spPr>
      </p:sp>
      <p:sp>
        <p:nvSpPr>
          <p:cNvPr id="18" name="Shape 13"/>
          <p:cNvSpPr/>
          <p:nvPr/>
        </p:nvSpPr>
        <p:spPr>
          <a:xfrm>
            <a:off x="12435840" y="2423160"/>
            <a:ext cx="868680" cy="868680"/>
          </a:xfrm>
          <a:prstGeom prst="ellipse">
            <a:avLst/>
          </a:prstGeom>
          <a:solidFill>
            <a:schemeClr val="accent1"/>
          </a:solidFill>
          <a:ln w="12700">
            <a:solidFill>
              <a:schemeClr val="accent1"/>
            </a:solidFill>
            <a:prstDash val="solid"/>
          </a:ln>
        </p:spPr>
      </p:sp>
      <p:pic>
        <p:nvPicPr>
          <p:cNvPr id="19" name="Image 2" descr="preencoded.png">    </p:cNvPr>
          <p:cNvPicPr>
            <a:picLocks noChangeAspect="1"/>
          </p:cNvPicPr>
          <p:nvPr/>
        </p:nvPicPr>
        <p:blipFill>
          <a:blip r:embed="rId3"/>
          <a:stretch>
            <a:fillRect/>
          </a:stretch>
        </p:blipFill>
        <p:spPr>
          <a:xfrm>
            <a:off x="12653010" y="2640330"/>
            <a:ext cx="434340" cy="434340"/>
          </a:xfrm>
          <a:prstGeom prst="rect">
            <a:avLst/>
          </a:prstGeom>
        </p:spPr>
      </p:pic>
      <p:sp>
        <p:nvSpPr>
          <p:cNvPr id="20" name="Text 14"/>
          <p:cNvSpPr txBox="1"/>
          <p:nvPr/>
        </p:nvSpPr>
        <p:spPr>
          <a:xfrm>
            <a:off x="13487400" y="2423160"/>
            <a:ext cx="3611880" cy="868680"/>
          </a:xfrm>
          <a:prstGeom prst="rect">
            <a:avLst/>
          </a:prstGeom>
          <a:noFill/>
          <a:ln/>
        </p:spPr>
        <p:txBody>
          <a:bodyPr wrap="square" lIns="0" tIns="0" rIns="0" bIns="0" rtlCol="0" anchor="ctr"/>
          <a:lstStyle/>
          <a:p>
            <a:pPr indent="0" marL="0">
              <a:buNone/>
            </a:pPr>
            <a:r>
              <a:rPr lang="en-US" sz="2600" b="1" dirty="0">
                <a:solidFill>
                  <a:schemeClr val="tx2"/>
                </a:solidFill>
              </a:rPr>
              <a:t>CPO / station operator</a:t>
            </a:r>
            <a:endParaRPr lang="en-US" sz="2600" dirty="0"/>
          </a:p>
        </p:txBody>
      </p:sp>
      <p:sp>
        <p:nvSpPr>
          <p:cNvPr id="21" name="Text 15"/>
          <p:cNvSpPr txBox="1"/>
          <p:nvPr/>
        </p:nvSpPr>
        <p:spPr>
          <a:xfrm>
            <a:off x="12435840" y="3474720"/>
            <a:ext cx="4617720" cy="1188720"/>
          </a:xfrm>
          <a:prstGeom prst="rect">
            <a:avLst/>
          </a:prstGeom>
          <a:noFill/>
          <a:ln/>
        </p:spPr>
        <p:txBody>
          <a:bodyPr wrap="square" lIns="0" tIns="0" rIns="0" bIns="0" rtlCol="0" anchor="t"/>
          <a:lstStyle/>
          <a:p>
            <a:pPr indent="0" marL="0">
              <a:buNone/>
            </a:pPr>
            <a:r>
              <a:rPr lang="en-US" sz="1900" dirty="0">
                <a:solidFill>
                  <a:schemeClr val="tx1"/>
                </a:solidFill>
              </a:rPr>
              <a:t>Publish capacity rules, protect walk-up capacity, see bookings and payouts</a:t>
            </a:r>
            <a:endParaRPr lang="en-US" sz="1900" dirty="0"/>
          </a:p>
        </p:txBody>
      </p:sp>
      <p:sp>
        <p:nvSpPr>
          <p:cNvPr id="22" name="Text 16"/>
          <p:cNvSpPr txBox="1"/>
          <p:nvPr/>
        </p:nvSpPr>
        <p:spPr>
          <a:xfrm>
            <a:off x="12435840" y="4709160"/>
            <a:ext cx="4617720" cy="411480"/>
          </a:xfrm>
          <a:prstGeom prst="rect">
            <a:avLst/>
          </a:prstGeom>
          <a:noFill/>
          <a:ln/>
        </p:spPr>
        <p:txBody>
          <a:bodyPr wrap="square" lIns="0" tIns="0" rIns="0" bIns="0" rtlCol="0" anchor="t"/>
          <a:lstStyle/>
          <a:p>
            <a:pPr indent="0" marL="0">
              <a:buNone/>
            </a:pPr>
            <a:r>
              <a:rPr lang="en-US" sz="1800" b="1" dirty="0">
                <a:solidFill>
                  <a:schemeClr val="accent2"/>
                </a:solidFill>
              </a:rPr>
              <a:t>Station portal</a:t>
            </a:r>
            <a:endParaRPr lang="en-US" sz="1800" dirty="0"/>
          </a:p>
        </p:txBody>
      </p:sp>
      <p:sp>
        <p:nvSpPr>
          <p:cNvPr id="23" name="Shape 17"/>
          <p:cNvSpPr/>
          <p:nvPr/>
        </p:nvSpPr>
        <p:spPr>
          <a:xfrm>
            <a:off x="822960" y="5577840"/>
            <a:ext cx="5349240" cy="3200400"/>
          </a:xfrm>
          <a:prstGeom prst="rect">
            <a:avLst/>
          </a:prstGeom>
          <a:solidFill>
            <a:schemeClr val="bg2"/>
          </a:solidFill>
          <a:ln w="12700">
            <a:solidFill>
              <a:schemeClr val="bg2"/>
            </a:solidFill>
            <a:prstDash val="solid"/>
          </a:ln>
        </p:spPr>
      </p:sp>
      <p:sp>
        <p:nvSpPr>
          <p:cNvPr id="24" name="Shape 18"/>
          <p:cNvSpPr/>
          <p:nvPr/>
        </p:nvSpPr>
        <p:spPr>
          <a:xfrm>
            <a:off x="1188720" y="5897880"/>
            <a:ext cx="868680" cy="868680"/>
          </a:xfrm>
          <a:prstGeom prst="ellipse">
            <a:avLst/>
          </a:prstGeom>
          <a:solidFill>
            <a:schemeClr val="accent1"/>
          </a:solidFill>
          <a:ln w="12700">
            <a:solidFill>
              <a:schemeClr val="accent1"/>
            </a:solidFill>
            <a:prstDash val="solid"/>
          </a:ln>
        </p:spPr>
      </p:sp>
      <p:pic>
        <p:nvPicPr>
          <p:cNvPr id="25" name="Image 3" descr="preencoded.png">    </p:cNvPr>
          <p:cNvPicPr>
            <a:picLocks noChangeAspect="1"/>
          </p:cNvPicPr>
          <p:nvPr/>
        </p:nvPicPr>
        <p:blipFill>
          <a:blip r:embed="rId4"/>
          <a:stretch>
            <a:fillRect/>
          </a:stretch>
        </p:blipFill>
        <p:spPr>
          <a:xfrm>
            <a:off x="1405890" y="6115050"/>
            <a:ext cx="434340" cy="434340"/>
          </a:xfrm>
          <a:prstGeom prst="rect">
            <a:avLst/>
          </a:prstGeom>
        </p:spPr>
      </p:pic>
      <p:sp>
        <p:nvSpPr>
          <p:cNvPr id="26" name="Text 19"/>
          <p:cNvSpPr txBox="1"/>
          <p:nvPr/>
        </p:nvSpPr>
        <p:spPr>
          <a:xfrm>
            <a:off x="2240280" y="5897880"/>
            <a:ext cx="3611880" cy="868680"/>
          </a:xfrm>
          <a:prstGeom prst="rect">
            <a:avLst/>
          </a:prstGeom>
          <a:noFill/>
          <a:ln/>
        </p:spPr>
        <p:txBody>
          <a:bodyPr wrap="square" lIns="0" tIns="0" rIns="0" bIns="0" rtlCol="0" anchor="ctr"/>
          <a:lstStyle/>
          <a:p>
            <a:pPr indent="0" marL="0">
              <a:buNone/>
            </a:pPr>
            <a:r>
              <a:rPr lang="en-US" sz="2600" b="1" dirty="0">
                <a:solidFill>
                  <a:schemeClr val="tx2"/>
                </a:solidFill>
              </a:rPr>
              <a:t>Site attendant</a:t>
            </a:r>
            <a:endParaRPr lang="en-US" sz="2600" dirty="0"/>
          </a:p>
        </p:txBody>
      </p:sp>
      <p:sp>
        <p:nvSpPr>
          <p:cNvPr id="27" name="Text 20"/>
          <p:cNvSpPr txBox="1"/>
          <p:nvPr/>
        </p:nvSpPr>
        <p:spPr>
          <a:xfrm>
            <a:off x="1188720" y="6949440"/>
            <a:ext cx="4617720" cy="1188720"/>
          </a:xfrm>
          <a:prstGeom prst="rect">
            <a:avLst/>
          </a:prstGeom>
          <a:noFill/>
          <a:ln/>
        </p:spPr>
        <p:txBody>
          <a:bodyPr wrap="square" lIns="0" tIns="0" rIns="0" bIns="0" rtlCol="0" anchor="t"/>
          <a:lstStyle/>
          <a:p>
            <a:pPr indent="0" marL="0">
              <a:buNone/>
            </a:pPr>
            <a:r>
              <a:rPr lang="en-US" sz="1900" dirty="0">
                <a:solidFill>
                  <a:schemeClr val="tx1"/>
                </a:solidFill>
              </a:rPr>
              <a:t>See who is due at which stall, confirm arrivals at sites without an API</a:t>
            </a:r>
            <a:endParaRPr lang="en-US" sz="1900" dirty="0"/>
          </a:p>
        </p:txBody>
      </p:sp>
      <p:sp>
        <p:nvSpPr>
          <p:cNvPr id="28" name="Text 21"/>
          <p:cNvSpPr txBox="1"/>
          <p:nvPr/>
        </p:nvSpPr>
        <p:spPr>
          <a:xfrm>
            <a:off x="1188720" y="8183880"/>
            <a:ext cx="4617720" cy="411480"/>
          </a:xfrm>
          <a:prstGeom prst="rect">
            <a:avLst/>
          </a:prstGeom>
          <a:noFill/>
          <a:ln/>
        </p:spPr>
        <p:txBody>
          <a:bodyPr wrap="square" lIns="0" tIns="0" rIns="0" bIns="0" rtlCol="0" anchor="t"/>
          <a:lstStyle/>
          <a:p>
            <a:pPr indent="0" marL="0">
              <a:buNone/>
            </a:pPr>
            <a:r>
              <a:rPr lang="en-US" sz="1800" b="1" dirty="0">
                <a:solidFill>
                  <a:schemeClr val="accent2"/>
                </a:solidFill>
              </a:rPr>
              <a:t>Attendant view (PWA)</a:t>
            </a:r>
            <a:endParaRPr lang="en-US" sz="1800" dirty="0"/>
          </a:p>
        </p:txBody>
      </p:sp>
      <p:sp>
        <p:nvSpPr>
          <p:cNvPr id="29" name="Shape 22"/>
          <p:cNvSpPr/>
          <p:nvPr/>
        </p:nvSpPr>
        <p:spPr>
          <a:xfrm>
            <a:off x="6446520" y="5577840"/>
            <a:ext cx="5349240" cy="3200400"/>
          </a:xfrm>
          <a:prstGeom prst="rect">
            <a:avLst/>
          </a:prstGeom>
          <a:solidFill>
            <a:schemeClr val="bg2"/>
          </a:solidFill>
          <a:ln w="12700">
            <a:solidFill>
              <a:schemeClr val="bg2"/>
            </a:solidFill>
            <a:prstDash val="solid"/>
          </a:ln>
        </p:spPr>
      </p:sp>
      <p:sp>
        <p:nvSpPr>
          <p:cNvPr id="30" name="Shape 23"/>
          <p:cNvSpPr/>
          <p:nvPr/>
        </p:nvSpPr>
        <p:spPr>
          <a:xfrm>
            <a:off x="6812280" y="5897880"/>
            <a:ext cx="868680" cy="868680"/>
          </a:xfrm>
          <a:prstGeom prst="ellipse">
            <a:avLst/>
          </a:prstGeom>
          <a:solidFill>
            <a:schemeClr val="accent1"/>
          </a:solidFill>
          <a:ln w="12700">
            <a:solidFill>
              <a:schemeClr val="accent1"/>
            </a:solidFill>
            <a:prstDash val="solid"/>
          </a:ln>
        </p:spPr>
      </p:sp>
      <p:pic>
        <p:nvPicPr>
          <p:cNvPr id="31" name="Image 4" descr="preencoded.png">    </p:cNvPr>
          <p:cNvPicPr>
            <a:picLocks noChangeAspect="1"/>
          </p:cNvPicPr>
          <p:nvPr/>
        </p:nvPicPr>
        <p:blipFill>
          <a:blip r:embed="rId5"/>
          <a:stretch>
            <a:fillRect/>
          </a:stretch>
        </p:blipFill>
        <p:spPr>
          <a:xfrm>
            <a:off x="7029450" y="6115050"/>
            <a:ext cx="434340" cy="434340"/>
          </a:xfrm>
          <a:prstGeom prst="rect">
            <a:avLst/>
          </a:prstGeom>
        </p:spPr>
      </p:pic>
      <p:sp>
        <p:nvSpPr>
          <p:cNvPr id="32" name="Text 24"/>
          <p:cNvSpPr txBox="1"/>
          <p:nvPr/>
        </p:nvSpPr>
        <p:spPr>
          <a:xfrm>
            <a:off x="7863840" y="5897880"/>
            <a:ext cx="3611880" cy="868680"/>
          </a:xfrm>
          <a:prstGeom prst="rect">
            <a:avLst/>
          </a:prstGeom>
          <a:noFill/>
          <a:ln/>
        </p:spPr>
        <p:txBody>
          <a:bodyPr wrap="square" lIns="0" tIns="0" rIns="0" bIns="0" rtlCol="0" anchor="ctr"/>
          <a:lstStyle/>
          <a:p>
            <a:pPr indent="0" marL="0">
              <a:buNone/>
            </a:pPr>
            <a:r>
              <a:rPr lang="en-US" sz="2600" b="1" dirty="0">
                <a:solidFill>
                  <a:schemeClr val="tx2"/>
                </a:solidFill>
              </a:rPr>
              <a:t>Amperlane ops</a:t>
            </a:r>
            <a:endParaRPr lang="en-US" sz="2600" dirty="0"/>
          </a:p>
        </p:txBody>
      </p:sp>
      <p:sp>
        <p:nvSpPr>
          <p:cNvPr id="33" name="Text 25"/>
          <p:cNvSpPr txBox="1"/>
          <p:nvPr/>
        </p:nvSpPr>
        <p:spPr>
          <a:xfrm>
            <a:off x="6812280" y="6949440"/>
            <a:ext cx="4617720" cy="1188720"/>
          </a:xfrm>
          <a:prstGeom prst="rect">
            <a:avLst/>
          </a:prstGeom>
          <a:noFill/>
          <a:ln/>
        </p:spPr>
        <p:txBody>
          <a:bodyPr wrap="square" lIns="0" tIns="0" rIns="0" bIns="0" rtlCol="0" anchor="t"/>
          <a:lstStyle/>
          <a:p>
            <a:pPr indent="0" marL="0">
              <a:buNone/>
            </a:pPr>
            <a:r>
              <a:rPr lang="en-US" sz="1900" dirty="0">
                <a:solidFill>
                  <a:schemeClr val="tx1"/>
                </a:solidFill>
              </a:rPr>
              <a:t>Manual holds, overrides, “charger down → rebook everyone”, no-show disputes</a:t>
            </a:r>
            <a:endParaRPr lang="en-US" sz="1900" dirty="0"/>
          </a:p>
        </p:txBody>
      </p:sp>
      <p:sp>
        <p:nvSpPr>
          <p:cNvPr id="34" name="Text 26"/>
          <p:cNvSpPr txBox="1"/>
          <p:nvPr/>
        </p:nvSpPr>
        <p:spPr>
          <a:xfrm>
            <a:off x="6812280" y="8183880"/>
            <a:ext cx="4617720" cy="411480"/>
          </a:xfrm>
          <a:prstGeom prst="rect">
            <a:avLst/>
          </a:prstGeom>
          <a:noFill/>
          <a:ln/>
        </p:spPr>
        <p:txBody>
          <a:bodyPr wrap="square" lIns="0" tIns="0" rIns="0" bIns="0" rtlCol="0" anchor="t"/>
          <a:lstStyle/>
          <a:p>
            <a:pPr indent="0" marL="0">
              <a:buNone/>
            </a:pPr>
            <a:r>
              <a:rPr lang="en-US" sz="1800" b="1" dirty="0">
                <a:solidFill>
                  <a:schemeClr val="accent2"/>
                </a:solidFill>
              </a:rPr>
              <a:t>Ops console</a:t>
            </a:r>
            <a:endParaRPr lang="en-US" sz="1800" dirty="0"/>
          </a:p>
        </p:txBody>
      </p:sp>
      <p:sp>
        <p:nvSpPr>
          <p:cNvPr id="35" name="Shape 27"/>
          <p:cNvSpPr/>
          <p:nvPr/>
        </p:nvSpPr>
        <p:spPr>
          <a:xfrm>
            <a:off x="12070080" y="5577840"/>
            <a:ext cx="5349240" cy="3200400"/>
          </a:xfrm>
          <a:prstGeom prst="rect">
            <a:avLst/>
          </a:prstGeom>
          <a:solidFill>
            <a:schemeClr val="bg2"/>
          </a:solidFill>
          <a:ln w="12700">
            <a:solidFill>
              <a:schemeClr val="bg2"/>
            </a:solidFill>
            <a:prstDash val="solid"/>
          </a:ln>
        </p:spPr>
      </p:sp>
      <p:sp>
        <p:nvSpPr>
          <p:cNvPr id="36" name="Shape 28"/>
          <p:cNvSpPr/>
          <p:nvPr/>
        </p:nvSpPr>
        <p:spPr>
          <a:xfrm>
            <a:off x="12435840" y="5897880"/>
            <a:ext cx="868680" cy="868680"/>
          </a:xfrm>
          <a:prstGeom prst="ellipse">
            <a:avLst/>
          </a:prstGeom>
          <a:solidFill>
            <a:schemeClr val="accent1"/>
          </a:solidFill>
          <a:ln w="12700">
            <a:solidFill>
              <a:schemeClr val="accent1"/>
            </a:solidFill>
            <a:prstDash val="solid"/>
          </a:ln>
        </p:spPr>
      </p:sp>
      <p:pic>
        <p:nvPicPr>
          <p:cNvPr id="37" name="Image 5" descr="preencoded.png">    </p:cNvPr>
          <p:cNvPicPr>
            <a:picLocks noChangeAspect="1"/>
          </p:cNvPicPr>
          <p:nvPr/>
        </p:nvPicPr>
        <p:blipFill>
          <a:blip r:embed="rId6"/>
          <a:stretch>
            <a:fillRect/>
          </a:stretch>
        </p:blipFill>
        <p:spPr>
          <a:xfrm>
            <a:off x="12653010" y="6115050"/>
            <a:ext cx="434340" cy="434340"/>
          </a:xfrm>
          <a:prstGeom prst="rect">
            <a:avLst/>
          </a:prstGeom>
        </p:spPr>
      </p:pic>
      <p:sp>
        <p:nvSpPr>
          <p:cNvPr id="38" name="Text 29"/>
          <p:cNvSpPr txBox="1"/>
          <p:nvPr/>
        </p:nvSpPr>
        <p:spPr>
          <a:xfrm>
            <a:off x="13487400" y="5897880"/>
            <a:ext cx="3611880" cy="868680"/>
          </a:xfrm>
          <a:prstGeom prst="rect">
            <a:avLst/>
          </a:prstGeom>
          <a:noFill/>
          <a:ln/>
        </p:spPr>
        <p:txBody>
          <a:bodyPr wrap="square" lIns="0" tIns="0" rIns="0" bIns="0" rtlCol="0" anchor="ctr"/>
          <a:lstStyle/>
          <a:p>
            <a:pPr indent="0" marL="0">
              <a:buNone/>
            </a:pPr>
            <a:r>
              <a:rPr lang="en-US" sz="2600" b="1" dirty="0">
                <a:solidFill>
                  <a:schemeClr val="tx2"/>
                </a:solidFill>
              </a:rPr>
              <a:t>Finance</a:t>
            </a:r>
            <a:endParaRPr lang="en-US" sz="2600" dirty="0"/>
          </a:p>
        </p:txBody>
      </p:sp>
      <p:sp>
        <p:nvSpPr>
          <p:cNvPr id="39" name="Text 30"/>
          <p:cNvSpPr txBox="1"/>
          <p:nvPr/>
        </p:nvSpPr>
        <p:spPr>
          <a:xfrm>
            <a:off x="12435840" y="6949440"/>
            <a:ext cx="4617720" cy="1188720"/>
          </a:xfrm>
          <a:prstGeom prst="rect">
            <a:avLst/>
          </a:prstGeom>
          <a:noFill/>
          <a:ln/>
        </p:spPr>
        <p:txBody>
          <a:bodyPr wrap="square" lIns="0" tIns="0" rIns="0" bIns="0" rtlCol="0" anchor="t"/>
          <a:lstStyle/>
          <a:p>
            <a:pPr indent="0" marL="0">
              <a:buNone/>
            </a:pPr>
            <a:r>
              <a:rPr lang="en-US" sz="1900" dirty="0">
                <a:solidFill>
                  <a:schemeClr val="tx1"/>
                </a:solidFill>
              </a:rPr>
              <a:t>Weekly station payouts, net-30 fleet invoices, reconciliation against CDRs</a:t>
            </a:r>
            <a:endParaRPr lang="en-US" sz="1900" dirty="0"/>
          </a:p>
        </p:txBody>
      </p:sp>
      <p:sp>
        <p:nvSpPr>
          <p:cNvPr id="40" name="Text 31"/>
          <p:cNvSpPr txBox="1"/>
          <p:nvPr/>
        </p:nvSpPr>
        <p:spPr>
          <a:xfrm>
            <a:off x="12435840" y="8183880"/>
            <a:ext cx="4617720" cy="411480"/>
          </a:xfrm>
          <a:prstGeom prst="rect">
            <a:avLst/>
          </a:prstGeom>
          <a:noFill/>
          <a:ln/>
        </p:spPr>
        <p:txBody>
          <a:bodyPr wrap="square" lIns="0" tIns="0" rIns="0" bIns="0" rtlCol="0" anchor="t"/>
          <a:lstStyle/>
          <a:p>
            <a:pPr indent="0" marL="0">
              <a:buNone/>
            </a:pPr>
            <a:r>
              <a:rPr lang="en-US" sz="1800" b="1" dirty="0">
                <a:solidFill>
                  <a:schemeClr val="accent2"/>
                </a:solidFill>
              </a:rPr>
              <a:t>Finance views + Stripe</a:t>
            </a:r>
            <a:endParaRPr lang="en-US" sz="1800" dirty="0"/>
          </a:p>
        </p:txBody>
      </p:sp>
      <p:sp>
        <p:nvSpPr>
          <p:cNvPr id="25" name="Slide Number Placeholder 0"/>
          <p:cNvSpPr>
            <a:spLocks noGrp="1"/>
          </p:cNvSpPr>
          <p:nvPr>
            <p:ph type="sldNum" sz="quarter" idx="4294967295"/>
          </p:nvPr>
        </p:nvSpPr>
        <p:spPr>
          <a:xfrm>
            <a:off x="16642080" y="9646920"/>
            <a:ext cx="822960" cy="347472"/>
          </a:xfrm>
          <a:prstGeom prst="rect">
            <a:avLst/>
          </a:prstGeom>
          <a:extLst>
            <a:ext uri="{C572A759-6A51-4108-AA02-DFA0A04FC94B}">
              <ma14:wrappingTextBoxFlag xmlns:ma14="http://schemas.microsoft.com/office/mac/drawingml/2011/main" val="0"/>
            </a:ext>
          </a:extLst>
        </p:spPr>
        <p:txBody>
          <a:bodyPr/>
          <a:lstStyle>
            <a:lvl1pPr>
              <a:defRPr sz="1500">
                <a:solidFill>
                  <a:schemeClr val="tx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header"/>
          <p:cNvSpPr txBox="1"/>
          <p:nvPr/>
        </p:nvSpPr>
        <p:spPr>
          <a:xfrm>
            <a:off x="822960" y="219456"/>
            <a:ext cx="10972800" cy="347472"/>
          </a:xfrm>
          <a:prstGeom prst="rect">
            <a:avLst/>
          </a:prstGeom>
          <a:noFill/>
          <a:ln/>
        </p:spPr>
        <p:txBody>
          <a:bodyPr wrap="square" lIns="0" tIns="0" rIns="0" bIns="0" rtlCol="0" anchor="ctr"/>
          <a:lstStyle/>
          <a:p>
            <a:pPr indent="0" marL="0">
              <a:buNone/>
            </a:pPr>
            <a:r>
              <a:rPr lang="en-US" sz="1500" dirty="0">
                <a:solidFill>
                  <a:schemeClr val="tx1"/>
                </a:solidFill>
              </a:rPr>
              <a:t>amperlane/02-solution</a:t>
            </a:r>
            <a:endParaRPr lang="en-US" sz="1500" dirty="0"/>
          </a:p>
        </p:txBody>
      </p:sp>
      <p:sp>
        <p:nvSpPr>
          <p:cNvPr id="3" name="Text 0"/>
          <p:cNvSpPr/>
          <p:nvPr>
            <p:ph idx="100" type="title" hasCustomPrompt="1"/>
          </p:nvPr>
        </p:nvSpPr>
        <p:spPr>
          <a:xfrm>
            <a:off x="822960" y="841248"/>
            <a:ext cx="16642080" cy="1005840"/>
          </a:xfrm>
          <a:prstGeom prst="rect">
            <a:avLst/>
          </a:prstGeom>
          <a:noFill/>
          <a:ln/>
        </p:spPr>
        <p:txBody>
          <a:bodyPr wrap="square" lIns="0" tIns="0" rIns="0" bIns="0" rtlCol="0" anchor="t"/>
          <a:lstStyle/>
          <a:p>
            <a:pPr algn="l" indent="0" marL="0">
              <a:buNone/>
            </a:pPr>
            <a:r>
              <a:rPr lang="en-US" sz="4500" dirty="0">
                <a:solidFill>
                  <a:schemeClr val="tx1"/>
                </a:solidFill>
              </a:rPr>
              <a:t>Core domain: the bookable slot</a:t>
            </a:r>
            <a:endParaRPr lang="en-US" sz="4500" dirty="0"/>
          </a:p>
        </p:txBody>
      </p:sp>
      <p:sp>
        <p:nvSpPr>
          <p:cNvPr id="5" name="Text 2"/>
          <p:cNvSpPr txBox="1"/>
          <p:nvPr/>
        </p:nvSpPr>
        <p:spPr>
          <a:xfrm>
            <a:off x="822960" y="1965960"/>
            <a:ext cx="8229600" cy="411480"/>
          </a:xfrm>
          <a:prstGeom prst="rect">
            <a:avLst/>
          </a:prstGeom>
          <a:noFill/>
          <a:ln/>
        </p:spPr>
        <p:txBody>
          <a:bodyPr wrap="square" lIns="0" tIns="0" rIns="0" bIns="0" rtlCol="0" anchor="t"/>
          <a:lstStyle/>
          <a:p>
            <a:pPr indent="0" marL="0">
              <a:buNone/>
            </a:pPr>
            <a:r>
              <a:rPr lang="en-US" sz="1800" b="1" dirty="0">
                <a:solidFill>
                  <a:srgbClr val="6F6F6F"/>
                </a:solidFill>
              </a:rPr>
              <a:t>Inventory: what can be booked</a:t>
            </a:r>
            <a:endParaRPr lang="en-US" sz="1800" dirty="0"/>
          </a:p>
        </p:txBody>
      </p:sp>
      <p:sp>
        <p:nvSpPr>
          <p:cNvPr id="6" name="Shape 3"/>
          <p:cNvSpPr/>
          <p:nvPr/>
        </p:nvSpPr>
        <p:spPr>
          <a:xfrm>
            <a:off x="822960" y="2468880"/>
            <a:ext cx="2926080" cy="822960"/>
          </a:xfrm>
          <a:prstGeom prst="rect">
            <a:avLst/>
          </a:prstGeom>
          <a:solidFill>
            <a:schemeClr val="bg2"/>
          </a:solidFill>
          <a:ln w="12700">
            <a:solidFill>
              <a:schemeClr val="bg2"/>
            </a:solidFill>
            <a:prstDash val="solid"/>
          </a:ln>
        </p:spPr>
      </p:sp>
      <p:sp>
        <p:nvSpPr>
          <p:cNvPr id="7" name="Text 4"/>
          <p:cNvSpPr txBox="1"/>
          <p:nvPr/>
        </p:nvSpPr>
        <p:spPr>
          <a:xfrm>
            <a:off x="822960" y="2468880"/>
            <a:ext cx="2926080" cy="822960"/>
          </a:xfrm>
          <a:prstGeom prst="rect">
            <a:avLst/>
          </a:prstGeom>
          <a:noFill/>
          <a:ln/>
        </p:spPr>
        <p:txBody>
          <a:bodyPr wrap="square" lIns="0" tIns="0" rIns="0" bIns="0" rtlCol="0" anchor="ctr"/>
          <a:lstStyle/>
          <a:p>
            <a:pPr algn="ctr" indent="0" marL="0">
              <a:buNone/>
            </a:pPr>
            <a:r>
              <a:rPr lang="en-US" sz="2200" b="1" dirty="0">
                <a:solidFill>
                  <a:schemeClr val="tx2"/>
                </a:solidFill>
              </a:rPr>
              <a:t>Site</a:t>
            </a:r>
            <a:endParaRPr lang="en-US" sz="2200" dirty="0"/>
          </a:p>
        </p:txBody>
      </p:sp>
      <p:sp>
        <p:nvSpPr>
          <p:cNvPr id="8" name="Text 5"/>
          <p:cNvSpPr txBox="1"/>
          <p:nvPr/>
        </p:nvSpPr>
        <p:spPr>
          <a:xfrm>
            <a:off x="822960" y="3383280"/>
            <a:ext cx="2926080" cy="822960"/>
          </a:xfrm>
          <a:prstGeom prst="rect">
            <a:avLst/>
          </a:prstGeom>
          <a:noFill/>
          <a:ln/>
        </p:spPr>
        <p:txBody>
          <a:bodyPr wrap="square" lIns="0" tIns="0" rIns="0" bIns="0" rtlCol="0" anchor="t"/>
          <a:lstStyle/>
          <a:p>
            <a:pPr algn="ctr" indent="0" marL="0">
              <a:buNone/>
            </a:pPr>
            <a:r>
              <a:rPr lang="en-US" sz="1700" dirty="0">
                <a:solidFill>
                  <a:srgbClr val="3A3A3A"/>
                </a:solidFill>
              </a:rPr>
              <a:t>partner location</a:t>
            </a:r>
            <a:endParaRPr lang="en-US" sz="1700" dirty="0"/>
          </a:p>
        </p:txBody>
      </p:sp>
      <p:sp>
        <p:nvSpPr>
          <p:cNvPr id="9" name="Shape 6"/>
          <p:cNvSpPr/>
          <p:nvPr/>
        </p:nvSpPr>
        <p:spPr>
          <a:xfrm>
            <a:off x="3822192" y="2880360"/>
            <a:ext cx="356616" cy="914"/>
          </a:xfrm>
          <a:prstGeom prst="line">
            <a:avLst/>
          </a:prstGeom>
          <a:noFill/>
          <a:ln w="31750">
            <a:solidFill>
              <a:srgbClr val="6F6F6F"/>
            </a:solidFill>
            <a:prstDash val="solid"/>
            <a:tailEnd type="triangle"/>
          </a:ln>
        </p:spPr>
      </p:sp>
      <p:sp>
        <p:nvSpPr>
          <p:cNvPr id="10" name="Shape 7"/>
          <p:cNvSpPr/>
          <p:nvPr/>
        </p:nvSpPr>
        <p:spPr>
          <a:xfrm>
            <a:off x="4251960" y="2468880"/>
            <a:ext cx="2926080" cy="822960"/>
          </a:xfrm>
          <a:prstGeom prst="rect">
            <a:avLst/>
          </a:prstGeom>
          <a:solidFill>
            <a:schemeClr val="bg2"/>
          </a:solidFill>
          <a:ln w="12700">
            <a:solidFill>
              <a:schemeClr val="bg2"/>
            </a:solidFill>
            <a:prstDash val="solid"/>
          </a:ln>
        </p:spPr>
      </p:sp>
      <p:sp>
        <p:nvSpPr>
          <p:cNvPr id="11" name="Text 8"/>
          <p:cNvSpPr txBox="1"/>
          <p:nvPr/>
        </p:nvSpPr>
        <p:spPr>
          <a:xfrm>
            <a:off x="4251960" y="2468880"/>
            <a:ext cx="2926080" cy="822960"/>
          </a:xfrm>
          <a:prstGeom prst="rect">
            <a:avLst/>
          </a:prstGeom>
          <a:noFill/>
          <a:ln/>
        </p:spPr>
        <p:txBody>
          <a:bodyPr wrap="square" lIns="0" tIns="0" rIns="0" bIns="0" rtlCol="0" anchor="ctr"/>
          <a:lstStyle/>
          <a:p>
            <a:pPr algn="ctr" indent="0" marL="0">
              <a:buNone/>
            </a:pPr>
            <a:r>
              <a:rPr lang="en-US" sz="2200" b="1" dirty="0">
                <a:solidFill>
                  <a:schemeClr val="tx2"/>
                </a:solidFill>
              </a:rPr>
              <a:t>EVSE</a:t>
            </a:r>
            <a:endParaRPr lang="en-US" sz="2200" dirty="0"/>
          </a:p>
        </p:txBody>
      </p:sp>
      <p:sp>
        <p:nvSpPr>
          <p:cNvPr id="12" name="Text 9"/>
          <p:cNvSpPr txBox="1"/>
          <p:nvPr/>
        </p:nvSpPr>
        <p:spPr>
          <a:xfrm>
            <a:off x="4251960" y="3383280"/>
            <a:ext cx="2926080" cy="822960"/>
          </a:xfrm>
          <a:prstGeom prst="rect">
            <a:avLst/>
          </a:prstGeom>
          <a:noFill/>
          <a:ln/>
        </p:spPr>
        <p:txBody>
          <a:bodyPr wrap="square" lIns="0" tIns="0" rIns="0" bIns="0" rtlCol="0" anchor="t"/>
          <a:lstStyle/>
          <a:p>
            <a:pPr algn="ctr" indent="0" marL="0">
              <a:buNone/>
            </a:pPr>
            <a:r>
              <a:rPr lang="en-US" sz="1700" dirty="0">
                <a:solidFill>
                  <a:srgbClr val="3A3A3A"/>
                </a:solidFill>
              </a:rPr>
              <a:t>one bookable charging point</a:t>
            </a:r>
            <a:endParaRPr lang="en-US" sz="1700" dirty="0"/>
          </a:p>
        </p:txBody>
      </p:sp>
      <p:sp>
        <p:nvSpPr>
          <p:cNvPr id="13" name="Shape 10"/>
          <p:cNvSpPr/>
          <p:nvPr/>
        </p:nvSpPr>
        <p:spPr>
          <a:xfrm>
            <a:off x="7251192" y="2880360"/>
            <a:ext cx="356616" cy="914"/>
          </a:xfrm>
          <a:prstGeom prst="line">
            <a:avLst/>
          </a:prstGeom>
          <a:noFill/>
          <a:ln w="31750">
            <a:solidFill>
              <a:srgbClr val="6F6F6F"/>
            </a:solidFill>
            <a:prstDash val="solid"/>
            <a:tailEnd type="triangle"/>
          </a:ln>
        </p:spPr>
      </p:sp>
      <p:sp>
        <p:nvSpPr>
          <p:cNvPr id="14" name="Shape 11"/>
          <p:cNvSpPr/>
          <p:nvPr/>
        </p:nvSpPr>
        <p:spPr>
          <a:xfrm>
            <a:off x="7680960" y="2468880"/>
            <a:ext cx="2926080" cy="822960"/>
          </a:xfrm>
          <a:prstGeom prst="rect">
            <a:avLst/>
          </a:prstGeom>
          <a:solidFill>
            <a:schemeClr val="bg2"/>
          </a:solidFill>
          <a:ln w="12700">
            <a:solidFill>
              <a:schemeClr val="bg2"/>
            </a:solidFill>
            <a:prstDash val="solid"/>
          </a:ln>
        </p:spPr>
      </p:sp>
      <p:sp>
        <p:nvSpPr>
          <p:cNvPr id="15" name="Text 12"/>
          <p:cNvSpPr txBox="1"/>
          <p:nvPr/>
        </p:nvSpPr>
        <p:spPr>
          <a:xfrm>
            <a:off x="7680960" y="2468880"/>
            <a:ext cx="2926080" cy="822960"/>
          </a:xfrm>
          <a:prstGeom prst="rect">
            <a:avLst/>
          </a:prstGeom>
          <a:noFill/>
          <a:ln/>
        </p:spPr>
        <p:txBody>
          <a:bodyPr wrap="square" lIns="0" tIns="0" rIns="0" bIns="0" rtlCol="0" anchor="ctr"/>
          <a:lstStyle/>
          <a:p>
            <a:pPr algn="ctr" indent="0" marL="0">
              <a:buNone/>
            </a:pPr>
            <a:r>
              <a:rPr lang="en-US" sz="2200" b="1" dirty="0">
                <a:solidFill>
                  <a:schemeClr val="tx2"/>
                </a:solidFill>
              </a:rPr>
              <a:t>Connector</a:t>
            </a:r>
            <a:endParaRPr lang="en-US" sz="2200" dirty="0"/>
          </a:p>
        </p:txBody>
      </p:sp>
      <p:sp>
        <p:nvSpPr>
          <p:cNvPr id="16" name="Text 13"/>
          <p:cNvSpPr txBox="1"/>
          <p:nvPr/>
        </p:nvSpPr>
        <p:spPr>
          <a:xfrm>
            <a:off x="7680960" y="3383280"/>
            <a:ext cx="2926080" cy="822960"/>
          </a:xfrm>
          <a:prstGeom prst="rect">
            <a:avLst/>
          </a:prstGeom>
          <a:noFill/>
          <a:ln/>
        </p:spPr>
        <p:txBody>
          <a:bodyPr wrap="square" lIns="0" tIns="0" rIns="0" bIns="0" rtlCol="0" anchor="t"/>
          <a:lstStyle/>
          <a:p>
            <a:pPr algn="ctr" indent="0" marL="0">
              <a:buNone/>
            </a:pPr>
            <a:r>
              <a:rPr lang="en-US" sz="1700" dirty="0">
                <a:solidFill>
                  <a:srgbClr val="3A3A3A"/>
                </a:solidFill>
              </a:rPr>
              <a:t>CCS1 or NACS, max kW</a:t>
            </a:r>
            <a:endParaRPr lang="en-US" sz="1700" dirty="0"/>
          </a:p>
        </p:txBody>
      </p:sp>
      <p:sp>
        <p:nvSpPr>
          <p:cNvPr id="17" name="Shape 14"/>
          <p:cNvSpPr/>
          <p:nvPr/>
        </p:nvSpPr>
        <p:spPr>
          <a:xfrm>
            <a:off x="10680192" y="2880360"/>
            <a:ext cx="356616" cy="914"/>
          </a:xfrm>
          <a:prstGeom prst="line">
            <a:avLst/>
          </a:prstGeom>
          <a:noFill/>
          <a:ln w="31750">
            <a:solidFill>
              <a:srgbClr val="6F6F6F"/>
            </a:solidFill>
            <a:prstDash val="solid"/>
            <a:tailEnd type="triangle"/>
          </a:ln>
        </p:spPr>
      </p:sp>
      <p:sp>
        <p:nvSpPr>
          <p:cNvPr id="18" name="Shape 15"/>
          <p:cNvSpPr/>
          <p:nvPr/>
        </p:nvSpPr>
        <p:spPr>
          <a:xfrm>
            <a:off x="11109960" y="2468880"/>
            <a:ext cx="2926080" cy="822960"/>
          </a:xfrm>
          <a:prstGeom prst="rect">
            <a:avLst/>
          </a:prstGeom>
          <a:solidFill>
            <a:schemeClr val="bg2"/>
          </a:solidFill>
          <a:ln w="12700">
            <a:solidFill>
              <a:schemeClr val="bg2"/>
            </a:solidFill>
            <a:prstDash val="solid"/>
          </a:ln>
        </p:spPr>
      </p:sp>
      <p:sp>
        <p:nvSpPr>
          <p:cNvPr id="19" name="Text 16"/>
          <p:cNvSpPr txBox="1"/>
          <p:nvPr/>
        </p:nvSpPr>
        <p:spPr>
          <a:xfrm>
            <a:off x="11109960" y="2468880"/>
            <a:ext cx="2926080" cy="822960"/>
          </a:xfrm>
          <a:prstGeom prst="rect">
            <a:avLst/>
          </a:prstGeom>
          <a:noFill/>
          <a:ln/>
        </p:spPr>
        <p:txBody>
          <a:bodyPr wrap="square" lIns="0" tIns="0" rIns="0" bIns="0" rtlCol="0" anchor="ctr"/>
          <a:lstStyle/>
          <a:p>
            <a:pPr algn="ctr" indent="0" marL="0">
              <a:buNone/>
            </a:pPr>
            <a:r>
              <a:rPr lang="en-US" sz="2200" b="1" dirty="0">
                <a:solidFill>
                  <a:schemeClr val="tx2"/>
                </a:solidFill>
              </a:rPr>
              <a:t>Capacity rules</a:t>
            </a:r>
            <a:endParaRPr lang="en-US" sz="2200" dirty="0"/>
          </a:p>
        </p:txBody>
      </p:sp>
      <p:sp>
        <p:nvSpPr>
          <p:cNvPr id="20" name="Text 17"/>
          <p:cNvSpPr txBox="1"/>
          <p:nvPr/>
        </p:nvSpPr>
        <p:spPr>
          <a:xfrm>
            <a:off x="11109960" y="3383280"/>
            <a:ext cx="2926080" cy="822960"/>
          </a:xfrm>
          <a:prstGeom prst="rect">
            <a:avLst/>
          </a:prstGeom>
          <a:noFill/>
          <a:ln/>
        </p:spPr>
        <p:txBody>
          <a:bodyPr wrap="square" lIns="0" tIns="0" rIns="0" bIns="0" rtlCol="0" anchor="t"/>
          <a:lstStyle/>
          <a:p>
            <a:pPr algn="ctr" indent="0" marL="0">
              <a:buNone/>
            </a:pPr>
            <a:r>
              <a:rPr lang="en-US" sz="1700" dirty="0">
                <a:solidFill>
                  <a:srgbClr val="3A3A3A"/>
                </a:solidFill>
              </a:rPr>
              <a:t>bookable % per time window</a:t>
            </a:r>
            <a:endParaRPr lang="en-US" sz="1700" dirty="0"/>
          </a:p>
        </p:txBody>
      </p:sp>
      <p:sp>
        <p:nvSpPr>
          <p:cNvPr id="21" name="Shape 18"/>
          <p:cNvSpPr/>
          <p:nvPr/>
        </p:nvSpPr>
        <p:spPr>
          <a:xfrm>
            <a:off x="14109192" y="2880360"/>
            <a:ext cx="356616" cy="914"/>
          </a:xfrm>
          <a:prstGeom prst="line">
            <a:avLst/>
          </a:prstGeom>
          <a:noFill/>
          <a:ln w="31750">
            <a:solidFill>
              <a:srgbClr val="6F6F6F"/>
            </a:solidFill>
            <a:prstDash val="solid"/>
            <a:tailEnd type="triangle"/>
          </a:ln>
        </p:spPr>
      </p:sp>
      <p:sp>
        <p:nvSpPr>
          <p:cNvPr id="22" name="Shape 19"/>
          <p:cNvSpPr/>
          <p:nvPr/>
        </p:nvSpPr>
        <p:spPr>
          <a:xfrm>
            <a:off x="14538960" y="2468880"/>
            <a:ext cx="2926080" cy="822960"/>
          </a:xfrm>
          <a:prstGeom prst="rect">
            <a:avLst/>
          </a:prstGeom>
          <a:solidFill>
            <a:schemeClr val="accent1"/>
          </a:solidFill>
          <a:ln w="12700">
            <a:solidFill>
              <a:schemeClr val="accent1"/>
            </a:solidFill>
            <a:prstDash val="solid"/>
          </a:ln>
        </p:spPr>
      </p:sp>
      <p:sp>
        <p:nvSpPr>
          <p:cNvPr id="23" name="Text 20"/>
          <p:cNvSpPr txBox="1"/>
          <p:nvPr/>
        </p:nvSpPr>
        <p:spPr>
          <a:xfrm>
            <a:off x="14538960" y="2468880"/>
            <a:ext cx="2926080" cy="822960"/>
          </a:xfrm>
          <a:prstGeom prst="rect">
            <a:avLst/>
          </a:prstGeom>
          <a:noFill/>
          <a:ln/>
        </p:spPr>
        <p:txBody>
          <a:bodyPr wrap="square" lIns="0" tIns="0" rIns="0" bIns="0" rtlCol="0" anchor="ctr"/>
          <a:lstStyle/>
          <a:p>
            <a:pPr algn="ctr" indent="0" marL="0">
              <a:buNone/>
            </a:pPr>
            <a:r>
              <a:rPr lang="en-US" sz="2200" b="1" dirty="0">
                <a:solidFill>
                  <a:schemeClr val="tx2"/>
                </a:solidFill>
              </a:rPr>
              <a:t>Slot calendar</a:t>
            </a:r>
            <a:endParaRPr lang="en-US" sz="2200" dirty="0"/>
          </a:p>
        </p:txBody>
      </p:sp>
      <p:sp>
        <p:nvSpPr>
          <p:cNvPr id="24" name="Text 21"/>
          <p:cNvSpPr txBox="1"/>
          <p:nvPr/>
        </p:nvSpPr>
        <p:spPr>
          <a:xfrm>
            <a:off x="14538960" y="3383280"/>
            <a:ext cx="2926080" cy="822960"/>
          </a:xfrm>
          <a:prstGeom prst="rect">
            <a:avLst/>
          </a:prstGeom>
          <a:noFill/>
          <a:ln/>
        </p:spPr>
        <p:txBody>
          <a:bodyPr wrap="square" lIns="0" tIns="0" rIns="0" bIns="0" rtlCol="0" anchor="t"/>
          <a:lstStyle/>
          <a:p>
            <a:pPr algn="ctr" indent="0" marL="0">
              <a:buNone/>
            </a:pPr>
            <a:r>
              <a:rPr lang="en-US" sz="1700" dirty="0">
                <a:solidFill>
                  <a:srgbClr val="3A3A3A"/>
                </a:solidFill>
              </a:rPr>
              <a:t>15-min grid · 30/45/60-min bookings · 10-min buffer</a:t>
            </a:r>
            <a:endParaRPr lang="en-US" sz="1700" dirty="0"/>
          </a:p>
        </p:txBody>
      </p:sp>
      <p:sp>
        <p:nvSpPr>
          <p:cNvPr id="25" name="Text 22"/>
          <p:cNvSpPr txBox="1"/>
          <p:nvPr/>
        </p:nvSpPr>
        <p:spPr>
          <a:xfrm>
            <a:off x="822960" y="4434840"/>
            <a:ext cx="8229600" cy="411480"/>
          </a:xfrm>
          <a:prstGeom prst="rect">
            <a:avLst/>
          </a:prstGeom>
          <a:noFill/>
          <a:ln/>
        </p:spPr>
        <p:txBody>
          <a:bodyPr wrap="square" lIns="0" tIns="0" rIns="0" bIns="0" rtlCol="0" anchor="t"/>
          <a:lstStyle/>
          <a:p>
            <a:pPr indent="0" marL="0">
              <a:buNone/>
            </a:pPr>
            <a:r>
              <a:rPr lang="en-US" sz="1800" b="1" dirty="0">
                <a:solidFill>
                  <a:srgbClr val="6F6F6F"/>
                </a:solidFill>
              </a:rPr>
              <a:t>Booking lifecycle</a:t>
            </a:r>
            <a:endParaRPr lang="en-US" sz="1800" dirty="0"/>
          </a:p>
        </p:txBody>
      </p:sp>
      <p:sp>
        <p:nvSpPr>
          <p:cNvPr id="26" name="Shape 23"/>
          <p:cNvSpPr/>
          <p:nvPr/>
        </p:nvSpPr>
        <p:spPr>
          <a:xfrm>
            <a:off x="822960" y="4937760"/>
            <a:ext cx="1828800" cy="1645920"/>
          </a:xfrm>
          <a:prstGeom prst="rect">
            <a:avLst/>
          </a:prstGeom>
          <a:solidFill>
            <a:schemeClr val="bg2"/>
          </a:solidFill>
          <a:ln w="12700">
            <a:solidFill>
              <a:schemeClr val="bg2"/>
            </a:solidFill>
            <a:prstDash val="solid"/>
          </a:ln>
        </p:spPr>
      </p:sp>
      <p:sp>
        <p:nvSpPr>
          <p:cNvPr id="27" name="Text 24"/>
          <p:cNvSpPr txBox="1"/>
          <p:nvPr/>
        </p:nvSpPr>
        <p:spPr>
          <a:xfrm>
            <a:off x="932688" y="5074920"/>
            <a:ext cx="1609344" cy="1371600"/>
          </a:xfrm>
          <a:prstGeom prst="rect">
            <a:avLst/>
          </a:prstGeom>
          <a:noFill/>
          <a:ln/>
        </p:spPr>
        <p:txBody>
          <a:bodyPr wrap="square" lIns="0" tIns="0" rIns="0" bIns="0" rtlCol="0" anchor="t"/>
          <a:lstStyle/>
          <a:p>
            <a:pPr indent="0" marL="0">
              <a:spcAft>
                <a:spcPts val="400"/>
              </a:spcAft>
              <a:buNone/>
            </a:pPr>
            <a:r>
              <a:rPr lang="en-US" sz="1900" b="1" dirty="0">
                <a:solidFill>
                  <a:schemeClr val="tx2"/>
                </a:solidFill>
              </a:rPr>
              <a:t>Hold</a:t>
            </a:r>
            <a:endParaRPr lang="en-US" sz="2400" dirty="0"/>
          </a:p>
          <a:p>
            <a:pPr indent="0" marL="0">
              <a:spcAft>
                <a:spcPts val="400"/>
              </a:spcAft>
              <a:buNone/>
            </a:pPr>
            <a:r>
              <a:rPr lang="en-US" sz="1500" dirty="0">
                <a:solidFill>
                  <a:srgbClr val="3A3A3A"/>
                </a:solidFill>
              </a:rPr>
              <a:t>TTL 3 min to confirm</a:t>
            </a:r>
            <a:endParaRPr lang="en-US" sz="2400" dirty="0"/>
          </a:p>
        </p:txBody>
      </p:sp>
      <p:sp>
        <p:nvSpPr>
          <p:cNvPr id="28" name="Shape 25"/>
          <p:cNvSpPr/>
          <p:nvPr/>
        </p:nvSpPr>
        <p:spPr>
          <a:xfrm>
            <a:off x="2679192" y="5760720"/>
            <a:ext cx="232519" cy="914"/>
          </a:xfrm>
          <a:prstGeom prst="line">
            <a:avLst/>
          </a:prstGeom>
          <a:noFill/>
          <a:ln w="31750">
            <a:solidFill>
              <a:srgbClr val="6F6F6F"/>
            </a:solidFill>
            <a:prstDash val="solid"/>
            <a:tailEnd type="triangle"/>
          </a:ln>
        </p:spPr>
      </p:sp>
      <p:sp>
        <p:nvSpPr>
          <p:cNvPr id="29" name="Shape 26"/>
          <p:cNvSpPr/>
          <p:nvPr/>
        </p:nvSpPr>
        <p:spPr>
          <a:xfrm>
            <a:off x="2939143" y="4937760"/>
            <a:ext cx="1828800" cy="1645920"/>
          </a:xfrm>
          <a:prstGeom prst="rect">
            <a:avLst/>
          </a:prstGeom>
          <a:solidFill>
            <a:schemeClr val="bg2"/>
          </a:solidFill>
          <a:ln w="12700">
            <a:solidFill>
              <a:schemeClr val="bg2"/>
            </a:solidFill>
            <a:prstDash val="solid"/>
          </a:ln>
        </p:spPr>
      </p:sp>
      <p:sp>
        <p:nvSpPr>
          <p:cNvPr id="30" name="Text 27"/>
          <p:cNvSpPr txBox="1"/>
          <p:nvPr/>
        </p:nvSpPr>
        <p:spPr>
          <a:xfrm>
            <a:off x="3048871" y="5074920"/>
            <a:ext cx="1609344" cy="1371600"/>
          </a:xfrm>
          <a:prstGeom prst="rect">
            <a:avLst/>
          </a:prstGeom>
          <a:noFill/>
          <a:ln/>
        </p:spPr>
        <p:txBody>
          <a:bodyPr wrap="square" lIns="0" tIns="0" rIns="0" bIns="0" rtlCol="0" anchor="t"/>
          <a:lstStyle/>
          <a:p>
            <a:pPr indent="0" marL="0">
              <a:spcAft>
                <a:spcPts val="400"/>
              </a:spcAft>
              <a:buNone/>
            </a:pPr>
            <a:r>
              <a:rPr lang="en-US" sz="1900" b="1" dirty="0">
                <a:solidFill>
                  <a:schemeClr val="tx2"/>
                </a:solidFill>
              </a:rPr>
              <a:t>Confirmed</a:t>
            </a:r>
            <a:endParaRPr lang="en-US" sz="2400" dirty="0"/>
          </a:p>
          <a:p>
            <a:pPr indent="0" marL="0">
              <a:spcAft>
                <a:spcPts val="400"/>
              </a:spcAft>
              <a:buNone/>
            </a:pPr>
            <a:r>
              <a:rPr lang="en-US" sz="1500" dirty="0">
                <a:solidFill>
                  <a:srgbClr val="3A3A3A"/>
                </a:solidFill>
              </a:rPr>
              <a:t>slot is reserved in our calendar</a:t>
            </a:r>
            <a:endParaRPr lang="en-US" sz="2400" dirty="0"/>
          </a:p>
        </p:txBody>
      </p:sp>
      <p:sp>
        <p:nvSpPr>
          <p:cNvPr id="31" name="Shape 28"/>
          <p:cNvSpPr/>
          <p:nvPr/>
        </p:nvSpPr>
        <p:spPr>
          <a:xfrm>
            <a:off x="4795375" y="5760720"/>
            <a:ext cx="232519" cy="914"/>
          </a:xfrm>
          <a:prstGeom prst="line">
            <a:avLst/>
          </a:prstGeom>
          <a:noFill/>
          <a:ln w="31750">
            <a:solidFill>
              <a:srgbClr val="6F6F6F"/>
            </a:solidFill>
            <a:prstDash val="solid"/>
            <a:tailEnd type="triangle"/>
          </a:ln>
        </p:spPr>
      </p:sp>
      <p:sp>
        <p:nvSpPr>
          <p:cNvPr id="32" name="Shape 29"/>
          <p:cNvSpPr/>
          <p:nvPr/>
        </p:nvSpPr>
        <p:spPr>
          <a:xfrm>
            <a:off x="5055326" y="4937760"/>
            <a:ext cx="1828800" cy="1645920"/>
          </a:xfrm>
          <a:prstGeom prst="rect">
            <a:avLst/>
          </a:prstGeom>
          <a:solidFill>
            <a:schemeClr val="bg2"/>
          </a:solidFill>
          <a:ln w="12700">
            <a:solidFill>
              <a:schemeClr val="bg2"/>
            </a:solidFill>
            <a:prstDash val="solid"/>
          </a:ln>
        </p:spPr>
      </p:sp>
      <p:sp>
        <p:nvSpPr>
          <p:cNvPr id="33" name="Text 30"/>
          <p:cNvSpPr txBox="1"/>
          <p:nvPr/>
        </p:nvSpPr>
        <p:spPr>
          <a:xfrm>
            <a:off x="5165054" y="5074920"/>
            <a:ext cx="1609344" cy="1371600"/>
          </a:xfrm>
          <a:prstGeom prst="rect">
            <a:avLst/>
          </a:prstGeom>
          <a:noFill/>
          <a:ln/>
        </p:spPr>
        <p:txBody>
          <a:bodyPr wrap="square" lIns="0" tIns="0" rIns="0" bIns="0" rtlCol="0" anchor="t"/>
          <a:lstStyle/>
          <a:p>
            <a:pPr indent="0" marL="0">
              <a:spcAft>
                <a:spcPts val="400"/>
              </a:spcAft>
              <a:buNone/>
            </a:pPr>
            <a:r>
              <a:rPr lang="en-US" sz="1900" b="1" dirty="0">
                <a:solidFill>
                  <a:schemeClr val="tx2"/>
                </a:solidFill>
              </a:rPr>
              <a:t>Reminder</a:t>
            </a:r>
            <a:endParaRPr lang="en-US" sz="2400" dirty="0"/>
          </a:p>
          <a:p>
            <a:pPr indent="0" marL="0">
              <a:spcAft>
                <a:spcPts val="400"/>
              </a:spcAft>
              <a:buNone/>
            </a:pPr>
            <a:r>
              <a:rPr lang="en-US" sz="1500" dirty="0">
                <a:solidFill>
                  <a:srgbClr val="3A3A3A"/>
                </a:solidFill>
              </a:rPr>
              <a:t>SMS or WhatsApp</a:t>
            </a:r>
            <a:endParaRPr lang="en-US" sz="2400" dirty="0"/>
          </a:p>
        </p:txBody>
      </p:sp>
      <p:sp>
        <p:nvSpPr>
          <p:cNvPr id="34" name="Shape 31"/>
          <p:cNvSpPr/>
          <p:nvPr/>
        </p:nvSpPr>
        <p:spPr>
          <a:xfrm>
            <a:off x="6911558" y="5760720"/>
            <a:ext cx="232519" cy="914"/>
          </a:xfrm>
          <a:prstGeom prst="line">
            <a:avLst/>
          </a:prstGeom>
          <a:noFill/>
          <a:ln w="31750">
            <a:solidFill>
              <a:srgbClr val="6F6F6F"/>
            </a:solidFill>
            <a:prstDash val="solid"/>
            <a:tailEnd type="triangle"/>
          </a:ln>
        </p:spPr>
      </p:sp>
      <p:sp>
        <p:nvSpPr>
          <p:cNvPr id="35" name="Shape 32"/>
          <p:cNvSpPr/>
          <p:nvPr/>
        </p:nvSpPr>
        <p:spPr>
          <a:xfrm>
            <a:off x="7171509" y="4937760"/>
            <a:ext cx="1828800" cy="1645920"/>
          </a:xfrm>
          <a:prstGeom prst="rect">
            <a:avLst/>
          </a:prstGeom>
          <a:solidFill>
            <a:schemeClr val="accent2"/>
          </a:solidFill>
          <a:ln w="12700">
            <a:solidFill>
              <a:schemeClr val="accent2"/>
            </a:solidFill>
            <a:prstDash val="solid"/>
          </a:ln>
        </p:spPr>
      </p:sp>
      <p:sp>
        <p:nvSpPr>
          <p:cNvPr id="36" name="Text 33"/>
          <p:cNvSpPr txBox="1"/>
          <p:nvPr/>
        </p:nvSpPr>
        <p:spPr>
          <a:xfrm>
            <a:off x="7281237" y="5074920"/>
            <a:ext cx="1609344" cy="1371600"/>
          </a:xfrm>
          <a:prstGeom prst="rect">
            <a:avLst/>
          </a:prstGeom>
          <a:noFill/>
          <a:ln/>
        </p:spPr>
        <p:txBody>
          <a:bodyPr wrap="square" lIns="0" tIns="0" rIns="0" bIns="0" rtlCol="0" anchor="t"/>
          <a:lstStyle/>
          <a:p>
            <a:pPr indent="0" marL="0">
              <a:spcAft>
                <a:spcPts val="400"/>
              </a:spcAft>
              <a:buNone/>
            </a:pPr>
            <a:r>
              <a:rPr lang="en-US" sz="1900" b="1" dirty="0">
                <a:solidFill>
                  <a:schemeClr val="bg1"/>
                </a:solidFill>
              </a:rPr>
              <a:t>Station hold</a:t>
            </a:r>
            <a:endParaRPr lang="en-US" sz="2400" dirty="0"/>
          </a:p>
          <a:p>
            <a:pPr indent="0" marL="0">
              <a:spcAft>
                <a:spcPts val="400"/>
              </a:spcAft>
              <a:buNone/>
            </a:pPr>
            <a:r>
              <a:rPr lang="en-US" sz="1500" dirty="0">
                <a:solidFill>
                  <a:schemeClr val="bg1"/>
                </a:solidFill>
              </a:rPr>
              <a:t>ReserveNow at T-15 min where supported</a:t>
            </a:r>
            <a:endParaRPr lang="en-US" sz="2400" dirty="0"/>
          </a:p>
        </p:txBody>
      </p:sp>
      <p:sp>
        <p:nvSpPr>
          <p:cNvPr id="37" name="Shape 34"/>
          <p:cNvSpPr/>
          <p:nvPr/>
        </p:nvSpPr>
        <p:spPr>
          <a:xfrm>
            <a:off x="9027741" y="5760720"/>
            <a:ext cx="232519" cy="914"/>
          </a:xfrm>
          <a:prstGeom prst="line">
            <a:avLst/>
          </a:prstGeom>
          <a:noFill/>
          <a:ln w="31750">
            <a:solidFill>
              <a:srgbClr val="6F6F6F"/>
            </a:solidFill>
            <a:prstDash val="solid"/>
            <a:tailEnd type="triangle"/>
          </a:ln>
        </p:spPr>
      </p:sp>
      <p:sp>
        <p:nvSpPr>
          <p:cNvPr id="38" name="Shape 35"/>
          <p:cNvSpPr/>
          <p:nvPr/>
        </p:nvSpPr>
        <p:spPr>
          <a:xfrm>
            <a:off x="9287691" y="4937760"/>
            <a:ext cx="1828800" cy="1645920"/>
          </a:xfrm>
          <a:prstGeom prst="rect">
            <a:avLst/>
          </a:prstGeom>
          <a:solidFill>
            <a:schemeClr val="bg2"/>
          </a:solidFill>
          <a:ln w="12700">
            <a:solidFill>
              <a:schemeClr val="bg2"/>
            </a:solidFill>
            <a:prstDash val="solid"/>
          </a:ln>
        </p:spPr>
      </p:sp>
      <p:sp>
        <p:nvSpPr>
          <p:cNvPr id="39" name="Text 36"/>
          <p:cNvSpPr txBox="1"/>
          <p:nvPr/>
        </p:nvSpPr>
        <p:spPr>
          <a:xfrm>
            <a:off x="9397419" y="5074920"/>
            <a:ext cx="1609344" cy="1371600"/>
          </a:xfrm>
          <a:prstGeom prst="rect">
            <a:avLst/>
          </a:prstGeom>
          <a:noFill/>
          <a:ln/>
        </p:spPr>
        <p:txBody>
          <a:bodyPr wrap="square" lIns="0" tIns="0" rIns="0" bIns="0" rtlCol="0" anchor="t"/>
          <a:lstStyle/>
          <a:p>
            <a:pPr indent="0" marL="0">
              <a:spcAft>
                <a:spcPts val="400"/>
              </a:spcAft>
              <a:buNone/>
            </a:pPr>
            <a:r>
              <a:rPr lang="en-US" sz="1900" b="1" dirty="0">
                <a:solidFill>
                  <a:schemeClr val="tx2"/>
                </a:solidFill>
              </a:rPr>
              <a:t>Arrived</a:t>
            </a:r>
            <a:endParaRPr lang="en-US" sz="2400" dirty="0"/>
          </a:p>
          <a:p>
            <a:pPr indent="0" marL="0">
              <a:spcAft>
                <a:spcPts val="400"/>
              </a:spcAft>
              <a:buNone/>
            </a:pPr>
            <a:r>
              <a:rPr lang="en-US" sz="1500" dirty="0">
                <a:solidFill>
                  <a:srgbClr val="3A3A3A"/>
                </a:solidFill>
              </a:rPr>
              <a:t>geofence, QR at stall or session start</a:t>
            </a:r>
            <a:endParaRPr lang="en-US" sz="2400" dirty="0"/>
          </a:p>
        </p:txBody>
      </p:sp>
      <p:sp>
        <p:nvSpPr>
          <p:cNvPr id="40" name="Shape 37"/>
          <p:cNvSpPr/>
          <p:nvPr/>
        </p:nvSpPr>
        <p:spPr>
          <a:xfrm>
            <a:off x="11143923" y="5760720"/>
            <a:ext cx="232519" cy="914"/>
          </a:xfrm>
          <a:prstGeom prst="line">
            <a:avLst/>
          </a:prstGeom>
          <a:noFill/>
          <a:ln w="31750">
            <a:solidFill>
              <a:srgbClr val="6F6F6F"/>
            </a:solidFill>
            <a:prstDash val="solid"/>
            <a:tailEnd type="triangle"/>
          </a:ln>
        </p:spPr>
      </p:sp>
      <p:sp>
        <p:nvSpPr>
          <p:cNvPr id="41" name="Shape 38"/>
          <p:cNvSpPr/>
          <p:nvPr/>
        </p:nvSpPr>
        <p:spPr>
          <a:xfrm>
            <a:off x="11403874" y="4937760"/>
            <a:ext cx="1828800" cy="1645920"/>
          </a:xfrm>
          <a:prstGeom prst="rect">
            <a:avLst/>
          </a:prstGeom>
          <a:solidFill>
            <a:schemeClr val="bg2"/>
          </a:solidFill>
          <a:ln w="12700">
            <a:solidFill>
              <a:schemeClr val="bg2"/>
            </a:solidFill>
            <a:prstDash val="solid"/>
          </a:ln>
        </p:spPr>
      </p:sp>
      <p:sp>
        <p:nvSpPr>
          <p:cNvPr id="42" name="Text 39"/>
          <p:cNvSpPr txBox="1"/>
          <p:nvPr/>
        </p:nvSpPr>
        <p:spPr>
          <a:xfrm>
            <a:off x="11513602" y="5074920"/>
            <a:ext cx="1609344" cy="1371600"/>
          </a:xfrm>
          <a:prstGeom prst="rect">
            <a:avLst/>
          </a:prstGeom>
          <a:noFill/>
          <a:ln/>
        </p:spPr>
        <p:txBody>
          <a:bodyPr wrap="square" lIns="0" tIns="0" rIns="0" bIns="0" rtlCol="0" anchor="t"/>
          <a:lstStyle/>
          <a:p>
            <a:pPr indent="0" marL="0">
              <a:spcAft>
                <a:spcPts val="400"/>
              </a:spcAft>
              <a:buNone/>
            </a:pPr>
            <a:r>
              <a:rPr lang="en-US" sz="1900" b="1" dirty="0">
                <a:solidFill>
                  <a:schemeClr val="tx2"/>
                </a:solidFill>
              </a:rPr>
              <a:t>Charging</a:t>
            </a:r>
            <a:endParaRPr lang="en-US" sz="2400" dirty="0"/>
          </a:p>
          <a:p>
            <a:pPr indent="0" marL="0">
              <a:spcAft>
                <a:spcPts val="400"/>
              </a:spcAft>
              <a:buNone/>
            </a:pPr>
            <a:r>
              <a:rPr lang="en-US" sz="1500" dirty="0">
                <a:solidFill>
                  <a:srgbClr val="3A3A3A"/>
                </a:solidFill>
              </a:rPr>
              <a:t>live session status</a:t>
            </a:r>
            <a:endParaRPr lang="en-US" sz="2400" dirty="0"/>
          </a:p>
        </p:txBody>
      </p:sp>
      <p:sp>
        <p:nvSpPr>
          <p:cNvPr id="43" name="Shape 40"/>
          <p:cNvSpPr/>
          <p:nvPr/>
        </p:nvSpPr>
        <p:spPr>
          <a:xfrm>
            <a:off x="13260106" y="5760720"/>
            <a:ext cx="232519" cy="914"/>
          </a:xfrm>
          <a:prstGeom prst="line">
            <a:avLst/>
          </a:prstGeom>
          <a:noFill/>
          <a:ln w="31750">
            <a:solidFill>
              <a:srgbClr val="6F6F6F"/>
            </a:solidFill>
            <a:prstDash val="solid"/>
            <a:tailEnd type="triangle"/>
          </a:ln>
        </p:spPr>
      </p:sp>
      <p:sp>
        <p:nvSpPr>
          <p:cNvPr id="44" name="Shape 41"/>
          <p:cNvSpPr/>
          <p:nvPr/>
        </p:nvSpPr>
        <p:spPr>
          <a:xfrm>
            <a:off x="13520057" y="4937760"/>
            <a:ext cx="1828800" cy="1645920"/>
          </a:xfrm>
          <a:prstGeom prst="rect">
            <a:avLst/>
          </a:prstGeom>
          <a:solidFill>
            <a:schemeClr val="tx2"/>
          </a:solidFill>
          <a:ln w="12700">
            <a:solidFill>
              <a:schemeClr val="tx2"/>
            </a:solidFill>
            <a:prstDash val="solid"/>
          </a:ln>
        </p:spPr>
      </p:sp>
      <p:sp>
        <p:nvSpPr>
          <p:cNvPr id="45" name="Text 42"/>
          <p:cNvSpPr txBox="1"/>
          <p:nvPr/>
        </p:nvSpPr>
        <p:spPr>
          <a:xfrm>
            <a:off x="13629785" y="5074920"/>
            <a:ext cx="1609344" cy="1371600"/>
          </a:xfrm>
          <a:prstGeom prst="rect">
            <a:avLst/>
          </a:prstGeom>
          <a:noFill/>
          <a:ln/>
        </p:spPr>
        <p:txBody>
          <a:bodyPr wrap="square" lIns="0" tIns="0" rIns="0" bIns="0" rtlCol="0" anchor="t"/>
          <a:lstStyle/>
          <a:p>
            <a:pPr indent="0" marL="0">
              <a:spcAft>
                <a:spcPts val="400"/>
              </a:spcAft>
              <a:buNone/>
            </a:pPr>
            <a:r>
              <a:rPr lang="en-US" sz="1900" b="1" dirty="0">
                <a:solidFill>
                  <a:schemeClr val="accent1"/>
                </a:solidFill>
              </a:rPr>
              <a:t>Completed</a:t>
            </a:r>
            <a:endParaRPr lang="en-US" sz="2400" dirty="0"/>
          </a:p>
          <a:p>
            <a:pPr indent="0" marL="0">
              <a:spcAft>
                <a:spcPts val="400"/>
              </a:spcAft>
              <a:buNone/>
            </a:pPr>
            <a:r>
              <a:rPr lang="en-US" sz="1500" dirty="0">
                <a:solidFill>
                  <a:schemeClr val="bg1"/>
                </a:solidFill>
              </a:rPr>
              <a:t>CDR or session record</a:t>
            </a:r>
            <a:endParaRPr lang="en-US" sz="2400" dirty="0"/>
          </a:p>
        </p:txBody>
      </p:sp>
      <p:sp>
        <p:nvSpPr>
          <p:cNvPr id="46" name="Shape 43"/>
          <p:cNvSpPr/>
          <p:nvPr/>
        </p:nvSpPr>
        <p:spPr>
          <a:xfrm>
            <a:off x="15376289" y="5760720"/>
            <a:ext cx="232519" cy="914"/>
          </a:xfrm>
          <a:prstGeom prst="line">
            <a:avLst/>
          </a:prstGeom>
          <a:noFill/>
          <a:ln w="31750">
            <a:solidFill>
              <a:srgbClr val="6F6F6F"/>
            </a:solidFill>
            <a:prstDash val="solid"/>
            <a:tailEnd type="triangle"/>
          </a:ln>
        </p:spPr>
      </p:sp>
      <p:sp>
        <p:nvSpPr>
          <p:cNvPr id="47" name="Shape 44"/>
          <p:cNvSpPr/>
          <p:nvPr/>
        </p:nvSpPr>
        <p:spPr>
          <a:xfrm>
            <a:off x="15636240" y="4937760"/>
            <a:ext cx="1828800" cy="1645920"/>
          </a:xfrm>
          <a:prstGeom prst="rect">
            <a:avLst/>
          </a:prstGeom>
          <a:solidFill>
            <a:schemeClr val="tx2"/>
          </a:solidFill>
          <a:ln w="12700">
            <a:solidFill>
              <a:schemeClr val="tx2"/>
            </a:solidFill>
            <a:prstDash val="solid"/>
          </a:ln>
        </p:spPr>
      </p:sp>
      <p:sp>
        <p:nvSpPr>
          <p:cNvPr id="48" name="Text 45"/>
          <p:cNvSpPr txBox="1"/>
          <p:nvPr/>
        </p:nvSpPr>
        <p:spPr>
          <a:xfrm>
            <a:off x="15745968" y="5074920"/>
            <a:ext cx="1609344" cy="1371600"/>
          </a:xfrm>
          <a:prstGeom prst="rect">
            <a:avLst/>
          </a:prstGeom>
          <a:noFill/>
          <a:ln/>
        </p:spPr>
        <p:txBody>
          <a:bodyPr wrap="square" lIns="0" tIns="0" rIns="0" bIns="0" rtlCol="0" anchor="t"/>
          <a:lstStyle/>
          <a:p>
            <a:pPr indent="0" marL="0">
              <a:spcAft>
                <a:spcPts val="400"/>
              </a:spcAft>
              <a:buNone/>
            </a:pPr>
            <a:r>
              <a:rPr lang="en-US" sz="1900" b="1" dirty="0">
                <a:solidFill>
                  <a:schemeClr val="accent1"/>
                </a:solidFill>
              </a:rPr>
              <a:t>Settled</a:t>
            </a:r>
            <a:endParaRPr lang="en-US" sz="2400" dirty="0"/>
          </a:p>
          <a:p>
            <a:pPr indent="0" marL="0">
              <a:spcAft>
                <a:spcPts val="400"/>
              </a:spcAft>
              <a:buNone/>
            </a:pPr>
            <a:r>
              <a:rPr lang="en-US" sz="1500" dirty="0">
                <a:solidFill>
                  <a:schemeClr val="bg1"/>
                </a:solidFill>
              </a:rPr>
              <a:t>invoice and payout</a:t>
            </a:r>
            <a:endParaRPr lang="en-US" sz="2400" dirty="0"/>
          </a:p>
        </p:txBody>
      </p:sp>
      <p:sp>
        <p:nvSpPr>
          <p:cNvPr id="49" name="Text 46"/>
          <p:cNvSpPr txBox="1"/>
          <p:nvPr/>
        </p:nvSpPr>
        <p:spPr>
          <a:xfrm>
            <a:off x="822960" y="6766560"/>
            <a:ext cx="1828800" cy="411480"/>
          </a:xfrm>
          <a:prstGeom prst="rect">
            <a:avLst/>
          </a:prstGeom>
          <a:noFill/>
          <a:ln/>
        </p:spPr>
        <p:txBody>
          <a:bodyPr wrap="square" lIns="0" tIns="0" rIns="0" bIns="0" rtlCol="0" anchor="t"/>
          <a:lstStyle/>
          <a:p>
            <a:pPr indent="0" marL="0">
              <a:buNone/>
            </a:pPr>
            <a:r>
              <a:rPr lang="en-US" sz="1800" b="1" dirty="0">
                <a:solidFill>
                  <a:srgbClr val="6F6F6F"/>
                </a:solidFill>
              </a:rPr>
              <a:t>Exceptions</a:t>
            </a:r>
            <a:endParaRPr lang="en-US" sz="1800" dirty="0"/>
          </a:p>
        </p:txBody>
      </p:sp>
      <p:sp>
        <p:nvSpPr>
          <p:cNvPr id="50" name="Shape 47"/>
          <p:cNvSpPr/>
          <p:nvPr/>
        </p:nvSpPr>
        <p:spPr>
          <a:xfrm>
            <a:off x="822960" y="7315200"/>
            <a:ext cx="3944983" cy="1371600"/>
          </a:xfrm>
          <a:prstGeom prst="rect">
            <a:avLst/>
          </a:prstGeom>
          <a:solidFill>
            <a:schemeClr val="accent3"/>
          </a:solidFill>
          <a:ln w="12700">
            <a:solidFill>
              <a:schemeClr val="accent3"/>
            </a:solidFill>
            <a:prstDash val="solid"/>
          </a:ln>
        </p:spPr>
      </p:sp>
      <p:sp>
        <p:nvSpPr>
          <p:cNvPr id="51" name="Text 48"/>
          <p:cNvSpPr txBox="1"/>
          <p:nvPr/>
        </p:nvSpPr>
        <p:spPr>
          <a:xfrm>
            <a:off x="987552" y="7315200"/>
            <a:ext cx="3615799" cy="1371600"/>
          </a:xfrm>
          <a:prstGeom prst="rect">
            <a:avLst/>
          </a:prstGeom>
          <a:noFill/>
          <a:ln/>
        </p:spPr>
        <p:txBody>
          <a:bodyPr wrap="square" lIns="0" tIns="0" rIns="0" bIns="0" rtlCol="0" anchor="ctr"/>
          <a:lstStyle/>
          <a:p>
            <a:pPr indent="0" marL="0">
              <a:buNone/>
            </a:pPr>
            <a:r>
              <a:rPr lang="en-US" sz="1600" b="1" dirty="0">
                <a:solidFill>
                  <a:schemeClr val="bg1"/>
                </a:solidFill>
              </a:rPr>
              <a:t>Charger fault: automatic rebook to another EVSE; ops console if none is free</a:t>
            </a:r>
            <a:endParaRPr lang="en-US" sz="1600" dirty="0"/>
          </a:p>
        </p:txBody>
      </p:sp>
      <p:sp>
        <p:nvSpPr>
          <p:cNvPr id="52" name="Shape 49"/>
          <p:cNvSpPr/>
          <p:nvPr/>
        </p:nvSpPr>
        <p:spPr>
          <a:xfrm>
            <a:off x="3853543" y="6629400"/>
            <a:ext cx="914" cy="640080"/>
          </a:xfrm>
          <a:prstGeom prst="line">
            <a:avLst/>
          </a:prstGeom>
          <a:noFill/>
          <a:ln w="31750">
            <a:solidFill>
              <a:schemeClr val="accent3"/>
            </a:solidFill>
            <a:prstDash val="solid"/>
            <a:tailEnd type="triangle"/>
          </a:ln>
        </p:spPr>
      </p:sp>
      <p:sp>
        <p:nvSpPr>
          <p:cNvPr id="53" name="Shape 50"/>
          <p:cNvSpPr/>
          <p:nvPr/>
        </p:nvSpPr>
        <p:spPr>
          <a:xfrm>
            <a:off x="5055326" y="7315200"/>
            <a:ext cx="3944983" cy="1371600"/>
          </a:xfrm>
          <a:prstGeom prst="rect">
            <a:avLst/>
          </a:prstGeom>
          <a:solidFill>
            <a:schemeClr val="accent3"/>
          </a:solidFill>
          <a:ln w="12700">
            <a:solidFill>
              <a:schemeClr val="accent3"/>
            </a:solidFill>
            <a:prstDash val="solid"/>
          </a:ln>
        </p:spPr>
      </p:sp>
      <p:sp>
        <p:nvSpPr>
          <p:cNvPr id="54" name="Text 51"/>
          <p:cNvSpPr txBox="1"/>
          <p:nvPr/>
        </p:nvSpPr>
        <p:spPr>
          <a:xfrm>
            <a:off x="5219918" y="7315200"/>
            <a:ext cx="3615799" cy="1371600"/>
          </a:xfrm>
          <a:prstGeom prst="rect">
            <a:avLst/>
          </a:prstGeom>
          <a:noFill/>
          <a:ln/>
        </p:spPr>
        <p:txBody>
          <a:bodyPr wrap="square" lIns="0" tIns="0" rIns="0" bIns="0" rtlCol="0" anchor="ctr"/>
          <a:lstStyle/>
          <a:p>
            <a:pPr indent="0" marL="0">
              <a:buNone/>
            </a:pPr>
            <a:r>
              <a:rPr lang="en-US" sz="1600" b="1" dirty="0">
                <a:solidFill>
                  <a:schemeClr val="bg1"/>
                </a:solidFill>
              </a:rPr>
              <a:t>Station hold failed or previous session overruns → reassign to a compatible free EVSE at T-10; else ops</a:t>
            </a:r>
            <a:endParaRPr lang="en-US" sz="1600" dirty="0"/>
          </a:p>
        </p:txBody>
      </p:sp>
      <p:sp>
        <p:nvSpPr>
          <p:cNvPr id="55" name="Shape 52"/>
          <p:cNvSpPr/>
          <p:nvPr/>
        </p:nvSpPr>
        <p:spPr>
          <a:xfrm>
            <a:off x="8085909" y="6629400"/>
            <a:ext cx="914" cy="640080"/>
          </a:xfrm>
          <a:prstGeom prst="line">
            <a:avLst/>
          </a:prstGeom>
          <a:noFill/>
          <a:ln w="31750">
            <a:solidFill>
              <a:schemeClr val="accent3"/>
            </a:solidFill>
            <a:prstDash val="solid"/>
            <a:tailEnd type="triangle"/>
          </a:ln>
        </p:spPr>
      </p:sp>
      <p:sp>
        <p:nvSpPr>
          <p:cNvPr id="56" name="Shape 53"/>
          <p:cNvSpPr/>
          <p:nvPr/>
        </p:nvSpPr>
        <p:spPr>
          <a:xfrm>
            <a:off x="9287691" y="7315200"/>
            <a:ext cx="3944983" cy="1371600"/>
          </a:xfrm>
          <a:prstGeom prst="rect">
            <a:avLst/>
          </a:prstGeom>
          <a:solidFill>
            <a:schemeClr val="accent3"/>
          </a:solidFill>
          <a:ln w="12700">
            <a:solidFill>
              <a:schemeClr val="accent3"/>
            </a:solidFill>
            <a:prstDash val="solid"/>
          </a:ln>
        </p:spPr>
      </p:sp>
      <p:sp>
        <p:nvSpPr>
          <p:cNvPr id="57" name="Text 54"/>
          <p:cNvSpPr txBox="1"/>
          <p:nvPr/>
        </p:nvSpPr>
        <p:spPr>
          <a:xfrm>
            <a:off x="9452283" y="7315200"/>
            <a:ext cx="3615799" cy="1371600"/>
          </a:xfrm>
          <a:prstGeom prst="rect">
            <a:avLst/>
          </a:prstGeom>
          <a:noFill/>
          <a:ln/>
        </p:spPr>
        <p:txBody>
          <a:bodyPr wrap="square" lIns="0" tIns="0" rIns="0" bIns="0" rtlCol="0" anchor="ctr"/>
          <a:lstStyle/>
          <a:p>
            <a:pPr indent="0" marL="0">
              <a:buNone/>
            </a:pPr>
            <a:r>
              <a:rPr lang="en-US" sz="1600" b="1" dirty="0">
                <a:solidFill>
                  <a:schemeClr val="bg1"/>
                </a:solidFill>
              </a:rPr>
              <a:t>No-show: no arrival within the 10-min grace → auto-release, no-show fee</a:t>
            </a:r>
            <a:endParaRPr lang="en-US" sz="1600" dirty="0"/>
          </a:p>
        </p:txBody>
      </p:sp>
      <p:sp>
        <p:nvSpPr>
          <p:cNvPr id="58" name="Shape 55"/>
          <p:cNvSpPr/>
          <p:nvPr/>
        </p:nvSpPr>
        <p:spPr>
          <a:xfrm>
            <a:off x="10202091" y="6629400"/>
            <a:ext cx="914" cy="640080"/>
          </a:xfrm>
          <a:prstGeom prst="line">
            <a:avLst/>
          </a:prstGeom>
          <a:noFill/>
          <a:ln w="31750">
            <a:solidFill>
              <a:schemeClr val="accent3"/>
            </a:solidFill>
            <a:prstDash val="solid"/>
            <a:tailEnd type="triangle"/>
          </a:ln>
        </p:spPr>
      </p:sp>
      <p:sp>
        <p:nvSpPr>
          <p:cNvPr id="59" name="Shape 56"/>
          <p:cNvSpPr/>
          <p:nvPr/>
        </p:nvSpPr>
        <p:spPr>
          <a:xfrm>
            <a:off x="13520057" y="7315200"/>
            <a:ext cx="3944983" cy="1371600"/>
          </a:xfrm>
          <a:prstGeom prst="rect">
            <a:avLst/>
          </a:prstGeom>
          <a:solidFill>
            <a:schemeClr val="accent2"/>
          </a:solidFill>
          <a:ln w="12700">
            <a:solidFill>
              <a:schemeClr val="accent2"/>
            </a:solidFill>
            <a:prstDash val="solid"/>
          </a:ln>
        </p:spPr>
      </p:sp>
      <p:sp>
        <p:nvSpPr>
          <p:cNvPr id="60" name="Text 57"/>
          <p:cNvSpPr txBox="1"/>
          <p:nvPr/>
        </p:nvSpPr>
        <p:spPr>
          <a:xfrm>
            <a:off x="13684649" y="7315200"/>
            <a:ext cx="3615799" cy="1371600"/>
          </a:xfrm>
          <a:prstGeom prst="rect">
            <a:avLst/>
          </a:prstGeom>
          <a:noFill/>
          <a:ln/>
        </p:spPr>
        <p:txBody>
          <a:bodyPr wrap="square" lIns="0" tIns="0" rIns="0" bIns="0" rtlCol="0" anchor="ctr"/>
          <a:lstStyle/>
          <a:p>
            <a:pPr indent="0" marL="0">
              <a:buNone/>
            </a:pPr>
            <a:r>
              <a:rPr lang="en-US" sz="1600" b="1" dirty="0">
                <a:solidFill>
                  <a:schemeClr val="bg1"/>
                </a:solidFill>
              </a:rPr>
              <a:t>Dispute: checked against the CDR or CSMS session record</a:t>
            </a:r>
            <a:endParaRPr lang="en-US" sz="1600" dirty="0"/>
          </a:p>
        </p:txBody>
      </p:sp>
      <p:sp>
        <p:nvSpPr>
          <p:cNvPr id="61" name="Shape 58"/>
          <p:cNvSpPr/>
          <p:nvPr/>
        </p:nvSpPr>
        <p:spPr>
          <a:xfrm>
            <a:off x="14434457" y="6629400"/>
            <a:ext cx="914" cy="640080"/>
          </a:xfrm>
          <a:prstGeom prst="line">
            <a:avLst/>
          </a:prstGeom>
          <a:noFill/>
          <a:ln w="31750">
            <a:solidFill>
              <a:schemeClr val="accent2"/>
            </a:solidFill>
            <a:prstDash val="solid"/>
            <a:tailEnd type="triangle"/>
          </a:ln>
        </p:spPr>
      </p:sp>
      <p:sp>
        <p:nvSpPr>
          <p:cNvPr id="25" name="Slide Number Placeholder 0"/>
          <p:cNvSpPr>
            <a:spLocks noGrp="1"/>
          </p:cNvSpPr>
          <p:nvPr>
            <p:ph type="sldNum" sz="quarter" idx="4294967295"/>
          </p:nvPr>
        </p:nvSpPr>
        <p:spPr>
          <a:xfrm>
            <a:off x="16642080" y="9646920"/>
            <a:ext cx="822960" cy="347472"/>
          </a:xfrm>
          <a:prstGeom prst="rect">
            <a:avLst/>
          </a:prstGeom>
          <a:extLst>
            <a:ext uri="{C572A759-6A51-4108-AA02-DFA0A04FC94B}">
              <ma14:wrappingTextBoxFlag xmlns:ma14="http://schemas.microsoft.com/office/mac/drawingml/2011/main" val="0"/>
            </a:ext>
          </a:extLst>
        </p:spPr>
        <p:txBody>
          <a:bodyPr/>
          <a:lstStyle>
            <a:lvl1pPr>
              <a:defRPr sz="1500">
                <a:solidFill>
                  <a:schemeClr val="tx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header"/>
          <p:cNvSpPr txBox="1"/>
          <p:nvPr/>
        </p:nvSpPr>
        <p:spPr>
          <a:xfrm>
            <a:off x="822960" y="219456"/>
            <a:ext cx="10972800" cy="347472"/>
          </a:xfrm>
          <a:prstGeom prst="rect">
            <a:avLst/>
          </a:prstGeom>
          <a:noFill/>
          <a:ln/>
        </p:spPr>
        <p:txBody>
          <a:bodyPr wrap="square" lIns="0" tIns="0" rIns="0" bIns="0" rtlCol="0" anchor="ctr"/>
          <a:lstStyle/>
          <a:p>
            <a:pPr indent="0" marL="0">
              <a:buNone/>
            </a:pPr>
            <a:r>
              <a:rPr lang="en-US" sz="1500" dirty="0">
                <a:solidFill>
                  <a:schemeClr val="tx1"/>
                </a:solidFill>
              </a:rPr>
              <a:t>amperlane/02-solution</a:t>
            </a:r>
            <a:endParaRPr lang="en-US" sz="1500" dirty="0"/>
          </a:p>
        </p:txBody>
      </p:sp>
      <p:sp>
        <p:nvSpPr>
          <p:cNvPr id="3" name="Text 0"/>
          <p:cNvSpPr/>
          <p:nvPr>
            <p:ph idx="100" type="title" hasCustomPrompt="1"/>
          </p:nvPr>
        </p:nvSpPr>
        <p:spPr>
          <a:xfrm>
            <a:off x="822960" y="841248"/>
            <a:ext cx="16642080" cy="1005840"/>
          </a:xfrm>
          <a:prstGeom prst="rect">
            <a:avLst/>
          </a:prstGeom>
          <a:noFill/>
          <a:ln/>
        </p:spPr>
        <p:txBody>
          <a:bodyPr wrap="square" lIns="0" tIns="0" rIns="0" bIns="0" rtlCol="0" anchor="t"/>
          <a:lstStyle/>
          <a:p>
            <a:pPr algn="l" indent="0" marL="0">
              <a:buNone/>
            </a:pPr>
            <a:r>
              <a:rPr lang="en-US" sz="4500" dirty="0">
                <a:solidFill>
                  <a:schemeClr val="tx1"/>
                </a:solidFill>
              </a:rPr>
              <a:t>Integration reality: three supply patterns</a:t>
            </a:r>
            <a:endParaRPr lang="en-US" sz="4500" dirty="0"/>
          </a:p>
        </p:txBody>
      </p:sp>
      <p:sp>
        <p:nvSpPr>
          <p:cNvPr id="5" name="Shape 2"/>
          <p:cNvSpPr/>
          <p:nvPr/>
        </p:nvSpPr>
        <p:spPr>
          <a:xfrm>
            <a:off x="822960" y="2103120"/>
            <a:ext cx="5349240" cy="5394960"/>
          </a:xfrm>
          <a:prstGeom prst="rect">
            <a:avLst/>
          </a:prstGeom>
          <a:solidFill>
            <a:schemeClr val="bg2"/>
          </a:solidFill>
          <a:ln w="12700">
            <a:solidFill>
              <a:schemeClr val="bg2"/>
            </a:solidFill>
            <a:prstDash val="solid"/>
          </a:ln>
        </p:spPr>
      </p:sp>
      <p:sp>
        <p:nvSpPr>
          <p:cNvPr id="6" name="Shape 3"/>
          <p:cNvSpPr/>
          <p:nvPr/>
        </p:nvSpPr>
        <p:spPr>
          <a:xfrm>
            <a:off x="1188720" y="2423160"/>
            <a:ext cx="868680" cy="868680"/>
          </a:xfrm>
          <a:prstGeom prst="ellipse">
            <a:avLst/>
          </a:prstGeom>
          <a:solidFill>
            <a:schemeClr val="accent1"/>
          </a:solidFill>
          <a:ln w="12700">
            <a:solidFill>
              <a:schemeClr val="accent1"/>
            </a:solidFill>
            <a:prstDash val="solid"/>
          </a:ln>
        </p:spPr>
      </p:sp>
      <p:sp>
        <p:nvSpPr>
          <p:cNvPr id="7" name="Text 4"/>
          <p:cNvSpPr txBox="1"/>
          <p:nvPr/>
        </p:nvSpPr>
        <p:spPr>
          <a:xfrm>
            <a:off x="1188720" y="2423160"/>
            <a:ext cx="868680" cy="868680"/>
          </a:xfrm>
          <a:prstGeom prst="rect">
            <a:avLst/>
          </a:prstGeom>
          <a:noFill/>
          <a:ln/>
        </p:spPr>
        <p:txBody>
          <a:bodyPr wrap="square" lIns="0" tIns="0" rIns="0" bIns="0" rtlCol="0" anchor="ctr"/>
          <a:lstStyle/>
          <a:p>
            <a:pPr algn="ctr" indent="0" marL="0">
              <a:buNone/>
            </a:pPr>
            <a:r>
              <a:rPr lang="en-US" sz="3000" b="1" dirty="0">
                <a:solidFill>
                  <a:schemeClr val="tx2"/>
                </a:solidFill>
              </a:rPr>
              <a:t>A</a:t>
            </a:r>
            <a:endParaRPr lang="en-US" sz="3000" dirty="0"/>
          </a:p>
        </p:txBody>
      </p:sp>
      <p:sp>
        <p:nvSpPr>
          <p:cNvPr id="8" name="Text 5"/>
          <p:cNvSpPr txBox="1"/>
          <p:nvPr/>
        </p:nvSpPr>
        <p:spPr>
          <a:xfrm>
            <a:off x="2240280" y="2423160"/>
            <a:ext cx="3611880" cy="868680"/>
          </a:xfrm>
          <a:prstGeom prst="rect">
            <a:avLst/>
          </a:prstGeom>
          <a:noFill/>
          <a:ln/>
        </p:spPr>
        <p:txBody>
          <a:bodyPr wrap="square" lIns="0" tIns="0" rIns="0" bIns="0" rtlCol="0" anchor="ctr"/>
          <a:lstStyle/>
          <a:p>
            <a:pPr indent="0" marL="0">
              <a:buNone/>
            </a:pPr>
            <a:r>
              <a:rPr lang="en-US" sz="2800" b="1" dirty="0">
                <a:solidFill>
                  <a:schemeClr val="tx2"/>
                </a:solidFill>
              </a:rPr>
              <a:t>API + reservations</a:t>
            </a:r>
            <a:endParaRPr lang="en-US" sz="2800" dirty="0"/>
          </a:p>
        </p:txBody>
      </p:sp>
      <p:sp>
        <p:nvSpPr>
          <p:cNvPr id="9" name="Text 6"/>
          <p:cNvSpPr txBox="1"/>
          <p:nvPr/>
        </p:nvSpPr>
        <p:spPr>
          <a:xfrm>
            <a:off x="1188720" y="3520440"/>
            <a:ext cx="3657600" cy="365760"/>
          </a:xfrm>
          <a:prstGeom prst="rect">
            <a:avLst/>
          </a:prstGeom>
          <a:noFill/>
          <a:ln/>
        </p:spPr>
        <p:txBody>
          <a:bodyPr wrap="square" lIns="0" tIns="0" rIns="0" bIns="0" rtlCol="0" anchor="t"/>
          <a:lstStyle/>
          <a:p>
            <a:pPr indent="0" marL="0">
              <a:buNone/>
            </a:pPr>
            <a:r>
              <a:rPr lang="en-US" sz="1800" b="1" dirty="0">
                <a:solidFill>
                  <a:srgbClr val="6F6F6F"/>
                </a:solidFill>
              </a:rPr>
              <a:t>Where</a:t>
            </a:r>
            <a:endParaRPr lang="en-US" sz="1800" dirty="0"/>
          </a:p>
        </p:txBody>
      </p:sp>
      <p:sp>
        <p:nvSpPr>
          <p:cNvPr id="10" name="Text 7"/>
          <p:cNvSpPr txBox="1"/>
          <p:nvPr/>
        </p:nvSpPr>
        <p:spPr>
          <a:xfrm>
            <a:off x="1188720" y="3886200"/>
            <a:ext cx="4617720" cy="1325880"/>
          </a:xfrm>
          <a:prstGeom prst="rect">
            <a:avLst/>
          </a:prstGeom>
          <a:noFill/>
          <a:ln/>
        </p:spPr>
        <p:txBody>
          <a:bodyPr wrap="square" lIns="0" tIns="0" rIns="0" bIns="0" rtlCol="0" anchor="t"/>
          <a:lstStyle/>
          <a:p>
            <a:pPr indent="0" marL="0">
              <a:buNone/>
            </a:pPr>
            <a:r>
              <a:rPr lang="en-US" sz="1900" dirty="0">
                <a:solidFill>
                  <a:schemeClr val="tx1"/>
                </a:solidFill>
              </a:rPr>
              <a:t>Gowanus · AMPECO (REST + webhooks), reservations on 10 of 16 chargers. LA prospects on OCPI 2.2.1 (reservation support to confirm).</a:t>
            </a:r>
            <a:endParaRPr lang="en-US" sz="1900" dirty="0"/>
          </a:p>
        </p:txBody>
      </p:sp>
      <p:sp>
        <p:nvSpPr>
          <p:cNvPr id="11" name="Text 8"/>
          <p:cNvSpPr txBox="1"/>
          <p:nvPr/>
        </p:nvSpPr>
        <p:spPr>
          <a:xfrm>
            <a:off x="1188720" y="5257800"/>
            <a:ext cx="4114800" cy="365760"/>
          </a:xfrm>
          <a:prstGeom prst="rect">
            <a:avLst/>
          </a:prstGeom>
          <a:noFill/>
          <a:ln/>
        </p:spPr>
        <p:txBody>
          <a:bodyPr wrap="square" lIns="0" tIns="0" rIns="0" bIns="0" rtlCol="0" anchor="t"/>
          <a:lstStyle/>
          <a:p>
            <a:pPr indent="0" marL="0">
              <a:buNone/>
            </a:pPr>
            <a:r>
              <a:rPr lang="en-US" sz="1800" b="1" dirty="0">
                <a:solidFill>
                  <a:srgbClr val="6F6F6F"/>
                </a:solidFill>
              </a:rPr>
              <a:t>How we hold a slot</a:t>
            </a:r>
            <a:endParaRPr lang="en-US" sz="1800" dirty="0"/>
          </a:p>
        </p:txBody>
      </p:sp>
      <p:sp>
        <p:nvSpPr>
          <p:cNvPr id="12" name="Text 9"/>
          <p:cNvSpPr txBox="1"/>
          <p:nvPr/>
        </p:nvSpPr>
        <p:spPr>
          <a:xfrm>
            <a:off x="1188720" y="5623560"/>
            <a:ext cx="4617720" cy="1005840"/>
          </a:xfrm>
          <a:prstGeom prst="rect">
            <a:avLst/>
          </a:prstGeom>
          <a:noFill/>
          <a:ln/>
        </p:spPr>
        <p:txBody>
          <a:bodyPr wrap="square" lIns="0" tIns="0" rIns="0" bIns="0" rtlCol="0" anchor="t"/>
          <a:lstStyle/>
          <a:p>
            <a:pPr indent="0" marL="0">
              <a:buNone/>
            </a:pPr>
            <a:r>
              <a:rPr lang="en-US" sz="1900" b="1" dirty="0">
                <a:solidFill>
                  <a:schemeClr val="tx2"/>
                </a:solidFill>
              </a:rPr>
              <a:t>Amperlane calendar + OCPP ReserveNow at T-15 min where the charger supports it</a:t>
            </a:r>
            <a:endParaRPr lang="en-US" sz="1900" dirty="0"/>
          </a:p>
        </p:txBody>
      </p:sp>
      <p:sp>
        <p:nvSpPr>
          <p:cNvPr id="13" name="Text 10"/>
          <p:cNvSpPr txBox="1"/>
          <p:nvPr/>
        </p:nvSpPr>
        <p:spPr>
          <a:xfrm>
            <a:off x="1188720" y="6720840"/>
            <a:ext cx="2743200" cy="457200"/>
          </a:xfrm>
          <a:prstGeom prst="rect">
            <a:avLst/>
          </a:prstGeom>
          <a:noFill/>
          <a:ln/>
        </p:spPr>
        <p:txBody>
          <a:bodyPr wrap="square" lIns="0" tIns="0" rIns="0" bIns="0" rtlCol="0" anchor="ctr"/>
          <a:lstStyle/>
          <a:p>
            <a:pPr indent="0" marL="0">
              <a:buNone/>
            </a:pPr>
            <a:r>
              <a:rPr lang="en-US" sz="1600" dirty="0">
                <a:solidFill>
                  <a:srgbClr val="6F6F6F"/>
                </a:solidFill>
              </a:rPr>
              <a:t>Station-side guarantee</a:t>
            </a:r>
            <a:endParaRPr lang="en-US" sz="1600" dirty="0"/>
          </a:p>
        </p:txBody>
      </p:sp>
      <p:sp>
        <p:nvSpPr>
          <p:cNvPr id="14" name="Shape 11"/>
          <p:cNvSpPr/>
          <p:nvPr/>
        </p:nvSpPr>
        <p:spPr>
          <a:xfrm>
            <a:off x="3886200" y="6812280"/>
            <a:ext cx="566928" cy="274320"/>
          </a:xfrm>
          <a:prstGeom prst="rect">
            <a:avLst/>
          </a:prstGeom>
          <a:solidFill>
            <a:schemeClr val="accent2"/>
          </a:solidFill>
          <a:ln w="12700">
            <a:solidFill>
              <a:schemeClr val="accent2"/>
            </a:solidFill>
            <a:prstDash val="solid"/>
          </a:ln>
        </p:spPr>
      </p:sp>
      <p:sp>
        <p:nvSpPr>
          <p:cNvPr id="15" name="Shape 12"/>
          <p:cNvSpPr/>
          <p:nvPr/>
        </p:nvSpPr>
        <p:spPr>
          <a:xfrm>
            <a:off x="4544568" y="6812280"/>
            <a:ext cx="566928" cy="274320"/>
          </a:xfrm>
          <a:prstGeom prst="rect">
            <a:avLst/>
          </a:prstGeom>
          <a:solidFill>
            <a:schemeClr val="accent2"/>
          </a:solidFill>
          <a:ln w="12700">
            <a:solidFill>
              <a:schemeClr val="accent2"/>
            </a:solidFill>
            <a:prstDash val="solid"/>
          </a:ln>
        </p:spPr>
      </p:sp>
      <p:sp>
        <p:nvSpPr>
          <p:cNvPr id="16" name="Shape 13"/>
          <p:cNvSpPr/>
          <p:nvPr/>
        </p:nvSpPr>
        <p:spPr>
          <a:xfrm>
            <a:off x="5202936" y="6812280"/>
            <a:ext cx="566928" cy="274320"/>
          </a:xfrm>
          <a:prstGeom prst="rect">
            <a:avLst/>
          </a:prstGeom>
          <a:solidFill>
            <a:schemeClr val="accent2"/>
          </a:solidFill>
          <a:ln w="12700">
            <a:solidFill>
              <a:schemeClr val="accent2"/>
            </a:solidFill>
            <a:prstDash val="solid"/>
          </a:ln>
        </p:spPr>
      </p:sp>
      <p:sp>
        <p:nvSpPr>
          <p:cNvPr id="17" name="Shape 14"/>
          <p:cNvSpPr/>
          <p:nvPr/>
        </p:nvSpPr>
        <p:spPr>
          <a:xfrm>
            <a:off x="6446520" y="2103120"/>
            <a:ext cx="5349240" cy="5394960"/>
          </a:xfrm>
          <a:prstGeom prst="rect">
            <a:avLst/>
          </a:prstGeom>
          <a:solidFill>
            <a:schemeClr val="bg2"/>
          </a:solidFill>
          <a:ln w="12700">
            <a:solidFill>
              <a:schemeClr val="bg2"/>
            </a:solidFill>
            <a:prstDash val="solid"/>
          </a:ln>
        </p:spPr>
      </p:sp>
      <p:sp>
        <p:nvSpPr>
          <p:cNvPr id="18" name="Shape 15"/>
          <p:cNvSpPr/>
          <p:nvPr/>
        </p:nvSpPr>
        <p:spPr>
          <a:xfrm>
            <a:off x="6812280" y="2423160"/>
            <a:ext cx="868680" cy="868680"/>
          </a:xfrm>
          <a:prstGeom prst="ellipse">
            <a:avLst/>
          </a:prstGeom>
          <a:solidFill>
            <a:schemeClr val="accent1"/>
          </a:solidFill>
          <a:ln w="12700">
            <a:solidFill>
              <a:schemeClr val="accent1"/>
            </a:solidFill>
            <a:prstDash val="solid"/>
          </a:ln>
        </p:spPr>
      </p:sp>
      <p:sp>
        <p:nvSpPr>
          <p:cNvPr id="19" name="Text 16"/>
          <p:cNvSpPr txBox="1"/>
          <p:nvPr/>
        </p:nvSpPr>
        <p:spPr>
          <a:xfrm>
            <a:off x="6812280" y="2423160"/>
            <a:ext cx="868680" cy="868680"/>
          </a:xfrm>
          <a:prstGeom prst="rect">
            <a:avLst/>
          </a:prstGeom>
          <a:noFill/>
          <a:ln/>
        </p:spPr>
        <p:txBody>
          <a:bodyPr wrap="square" lIns="0" tIns="0" rIns="0" bIns="0" rtlCol="0" anchor="ctr"/>
          <a:lstStyle/>
          <a:p>
            <a:pPr algn="ctr" indent="0" marL="0">
              <a:buNone/>
            </a:pPr>
            <a:r>
              <a:rPr lang="en-US" sz="3000" b="1" dirty="0">
                <a:solidFill>
                  <a:schemeClr val="tx2"/>
                </a:solidFill>
              </a:rPr>
              <a:t>B</a:t>
            </a:r>
            <a:endParaRPr lang="en-US" sz="3000" dirty="0"/>
          </a:p>
        </p:txBody>
      </p:sp>
      <p:sp>
        <p:nvSpPr>
          <p:cNvPr id="20" name="Text 17"/>
          <p:cNvSpPr txBox="1"/>
          <p:nvPr/>
        </p:nvSpPr>
        <p:spPr>
          <a:xfrm>
            <a:off x="7863840" y="2423160"/>
            <a:ext cx="3611880" cy="868680"/>
          </a:xfrm>
          <a:prstGeom prst="rect">
            <a:avLst/>
          </a:prstGeom>
          <a:noFill/>
          <a:ln/>
        </p:spPr>
        <p:txBody>
          <a:bodyPr wrap="square" lIns="0" tIns="0" rIns="0" bIns="0" rtlCol="0" anchor="ctr"/>
          <a:lstStyle/>
          <a:p>
            <a:pPr indent="0" marL="0">
              <a:buNone/>
            </a:pPr>
            <a:r>
              <a:rPr lang="en-US" sz="2800" b="1" dirty="0">
                <a:solidFill>
                  <a:schemeClr val="tx2"/>
                </a:solidFill>
              </a:rPr>
              <a:t>Status only</a:t>
            </a:r>
            <a:endParaRPr lang="en-US" sz="2800" dirty="0"/>
          </a:p>
        </p:txBody>
      </p:sp>
      <p:sp>
        <p:nvSpPr>
          <p:cNvPr id="21" name="Text 18"/>
          <p:cNvSpPr txBox="1"/>
          <p:nvPr/>
        </p:nvSpPr>
        <p:spPr>
          <a:xfrm>
            <a:off x="6812280" y="3520440"/>
            <a:ext cx="3657600" cy="365760"/>
          </a:xfrm>
          <a:prstGeom prst="rect">
            <a:avLst/>
          </a:prstGeom>
          <a:noFill/>
          <a:ln/>
        </p:spPr>
        <p:txBody>
          <a:bodyPr wrap="square" lIns="0" tIns="0" rIns="0" bIns="0" rtlCol="0" anchor="t"/>
          <a:lstStyle/>
          <a:p>
            <a:pPr indent="0" marL="0">
              <a:buNone/>
            </a:pPr>
            <a:r>
              <a:rPr lang="en-US" sz="1800" b="1" dirty="0">
                <a:solidFill>
                  <a:srgbClr val="6F6F6F"/>
                </a:solidFill>
              </a:rPr>
              <a:t>Where</a:t>
            </a:r>
            <a:endParaRPr lang="en-US" sz="1800" dirty="0"/>
          </a:p>
        </p:txBody>
      </p:sp>
      <p:sp>
        <p:nvSpPr>
          <p:cNvPr id="22" name="Text 19"/>
          <p:cNvSpPr txBox="1"/>
          <p:nvPr/>
        </p:nvSpPr>
        <p:spPr>
          <a:xfrm>
            <a:off x="6812280" y="3886200"/>
            <a:ext cx="4617720" cy="1325880"/>
          </a:xfrm>
          <a:prstGeom prst="rect">
            <a:avLst/>
          </a:prstGeom>
          <a:noFill/>
          <a:ln/>
        </p:spPr>
        <p:txBody>
          <a:bodyPr wrap="square" lIns="0" tIns="0" rIns="0" bIns="0" rtlCol="0" anchor="t"/>
          <a:lstStyle/>
          <a:p>
            <a:pPr indent="0" marL="0">
              <a:buNone/>
            </a:pPr>
            <a:r>
              <a:rPr lang="en-US" sz="1900" dirty="0">
                <a:solidFill>
                  <a:schemeClr val="tx1"/>
                </a:solidFill>
              </a:rPr>
              <a:t>JFK Lot 9 · ChargeLab open API: status and pricing, no reservations. OCPI 2.2.1 maybe in 2027.</a:t>
            </a:r>
            <a:endParaRPr lang="en-US" sz="1900" dirty="0"/>
          </a:p>
        </p:txBody>
      </p:sp>
      <p:sp>
        <p:nvSpPr>
          <p:cNvPr id="23" name="Text 20"/>
          <p:cNvSpPr txBox="1"/>
          <p:nvPr/>
        </p:nvSpPr>
        <p:spPr>
          <a:xfrm>
            <a:off x="6812280" y="5257800"/>
            <a:ext cx="4114800" cy="365760"/>
          </a:xfrm>
          <a:prstGeom prst="rect">
            <a:avLst/>
          </a:prstGeom>
          <a:noFill/>
          <a:ln/>
        </p:spPr>
        <p:txBody>
          <a:bodyPr wrap="square" lIns="0" tIns="0" rIns="0" bIns="0" rtlCol="0" anchor="t"/>
          <a:lstStyle/>
          <a:p>
            <a:pPr indent="0" marL="0">
              <a:buNone/>
            </a:pPr>
            <a:r>
              <a:rPr lang="en-US" sz="1800" b="1" dirty="0">
                <a:solidFill>
                  <a:srgbClr val="6F6F6F"/>
                </a:solidFill>
              </a:rPr>
              <a:t>How we hold a slot</a:t>
            </a:r>
            <a:endParaRPr lang="en-US" sz="1800" dirty="0"/>
          </a:p>
        </p:txBody>
      </p:sp>
      <p:sp>
        <p:nvSpPr>
          <p:cNvPr id="24" name="Text 21"/>
          <p:cNvSpPr txBox="1"/>
          <p:nvPr/>
        </p:nvSpPr>
        <p:spPr>
          <a:xfrm>
            <a:off x="6812280" y="5623560"/>
            <a:ext cx="4617720" cy="1005840"/>
          </a:xfrm>
          <a:prstGeom prst="rect">
            <a:avLst/>
          </a:prstGeom>
          <a:noFill/>
          <a:ln/>
        </p:spPr>
        <p:txBody>
          <a:bodyPr wrap="square" lIns="0" tIns="0" rIns="0" bIns="0" rtlCol="0" anchor="t"/>
          <a:lstStyle/>
          <a:p>
            <a:pPr indent="0" marL="0">
              <a:buNone/>
            </a:pPr>
            <a:r>
              <a:rPr lang="en-US" sz="1900" b="1" dirty="0">
                <a:solidFill>
                  <a:schemeClr val="tx2"/>
                </a:solidFill>
              </a:rPr>
              <a:t>Soft hold in Amperlane, “Reserved” signage at the stall, ops fallback</a:t>
            </a:r>
            <a:endParaRPr lang="en-US" sz="1900" dirty="0"/>
          </a:p>
        </p:txBody>
      </p:sp>
      <p:sp>
        <p:nvSpPr>
          <p:cNvPr id="25" name="Text 22"/>
          <p:cNvSpPr txBox="1"/>
          <p:nvPr/>
        </p:nvSpPr>
        <p:spPr>
          <a:xfrm>
            <a:off x="6812280" y="6720840"/>
            <a:ext cx="2743200" cy="457200"/>
          </a:xfrm>
          <a:prstGeom prst="rect">
            <a:avLst/>
          </a:prstGeom>
          <a:noFill/>
          <a:ln/>
        </p:spPr>
        <p:txBody>
          <a:bodyPr wrap="square" lIns="0" tIns="0" rIns="0" bIns="0" rtlCol="0" anchor="ctr"/>
          <a:lstStyle/>
          <a:p>
            <a:pPr indent="0" marL="0">
              <a:buNone/>
            </a:pPr>
            <a:r>
              <a:rPr lang="en-US" sz="1600" dirty="0">
                <a:solidFill>
                  <a:srgbClr val="6F6F6F"/>
                </a:solidFill>
              </a:rPr>
              <a:t>Station-side guarantee</a:t>
            </a:r>
            <a:endParaRPr lang="en-US" sz="1600" dirty="0"/>
          </a:p>
        </p:txBody>
      </p:sp>
      <p:sp>
        <p:nvSpPr>
          <p:cNvPr id="26" name="Shape 23"/>
          <p:cNvSpPr/>
          <p:nvPr/>
        </p:nvSpPr>
        <p:spPr>
          <a:xfrm>
            <a:off x="9509760" y="6812280"/>
            <a:ext cx="566928" cy="274320"/>
          </a:xfrm>
          <a:prstGeom prst="rect">
            <a:avLst/>
          </a:prstGeom>
          <a:solidFill>
            <a:schemeClr val="accent2"/>
          </a:solidFill>
          <a:ln w="12700">
            <a:solidFill>
              <a:schemeClr val="accent2"/>
            </a:solidFill>
            <a:prstDash val="solid"/>
          </a:ln>
        </p:spPr>
      </p:sp>
      <p:sp>
        <p:nvSpPr>
          <p:cNvPr id="27" name="Shape 24"/>
          <p:cNvSpPr/>
          <p:nvPr/>
        </p:nvSpPr>
        <p:spPr>
          <a:xfrm>
            <a:off x="10168128" y="6812280"/>
            <a:ext cx="566928" cy="274320"/>
          </a:xfrm>
          <a:prstGeom prst="rect">
            <a:avLst/>
          </a:prstGeom>
          <a:solidFill>
            <a:schemeClr val="accent2"/>
          </a:solidFill>
          <a:ln w="12700">
            <a:solidFill>
              <a:schemeClr val="accent2"/>
            </a:solidFill>
            <a:prstDash val="solid"/>
          </a:ln>
        </p:spPr>
      </p:sp>
      <p:sp>
        <p:nvSpPr>
          <p:cNvPr id="28" name="Shape 25"/>
          <p:cNvSpPr/>
          <p:nvPr/>
        </p:nvSpPr>
        <p:spPr>
          <a:xfrm>
            <a:off x="10826496" y="6812280"/>
            <a:ext cx="566928" cy="274320"/>
          </a:xfrm>
          <a:prstGeom prst="rect">
            <a:avLst/>
          </a:prstGeom>
          <a:solidFill>
            <a:srgbClr val="E0E0E0"/>
          </a:solidFill>
          <a:ln w="12700">
            <a:solidFill>
              <a:srgbClr val="E0E0E0"/>
            </a:solidFill>
            <a:prstDash val="solid"/>
          </a:ln>
        </p:spPr>
      </p:sp>
      <p:sp>
        <p:nvSpPr>
          <p:cNvPr id="29" name="Shape 26"/>
          <p:cNvSpPr/>
          <p:nvPr/>
        </p:nvSpPr>
        <p:spPr>
          <a:xfrm>
            <a:off x="12070080" y="2103120"/>
            <a:ext cx="5349240" cy="5394960"/>
          </a:xfrm>
          <a:prstGeom prst="rect">
            <a:avLst/>
          </a:prstGeom>
          <a:solidFill>
            <a:schemeClr val="bg2"/>
          </a:solidFill>
          <a:ln w="12700">
            <a:solidFill>
              <a:schemeClr val="bg2"/>
            </a:solidFill>
            <a:prstDash val="solid"/>
          </a:ln>
        </p:spPr>
      </p:sp>
      <p:sp>
        <p:nvSpPr>
          <p:cNvPr id="30" name="Shape 27"/>
          <p:cNvSpPr/>
          <p:nvPr/>
        </p:nvSpPr>
        <p:spPr>
          <a:xfrm>
            <a:off x="12435840" y="2423160"/>
            <a:ext cx="868680" cy="868680"/>
          </a:xfrm>
          <a:prstGeom prst="ellipse">
            <a:avLst/>
          </a:prstGeom>
          <a:solidFill>
            <a:schemeClr val="accent1"/>
          </a:solidFill>
          <a:ln w="12700">
            <a:solidFill>
              <a:schemeClr val="accent1"/>
            </a:solidFill>
            <a:prstDash val="solid"/>
          </a:ln>
        </p:spPr>
      </p:sp>
      <p:sp>
        <p:nvSpPr>
          <p:cNvPr id="31" name="Text 28"/>
          <p:cNvSpPr txBox="1"/>
          <p:nvPr/>
        </p:nvSpPr>
        <p:spPr>
          <a:xfrm>
            <a:off x="12435840" y="2423160"/>
            <a:ext cx="868680" cy="868680"/>
          </a:xfrm>
          <a:prstGeom prst="rect">
            <a:avLst/>
          </a:prstGeom>
          <a:noFill/>
          <a:ln/>
        </p:spPr>
        <p:txBody>
          <a:bodyPr wrap="square" lIns="0" tIns="0" rIns="0" bIns="0" rtlCol="0" anchor="ctr"/>
          <a:lstStyle/>
          <a:p>
            <a:pPr algn="ctr" indent="0" marL="0">
              <a:buNone/>
            </a:pPr>
            <a:r>
              <a:rPr lang="en-US" sz="3000" b="1" dirty="0">
                <a:solidFill>
                  <a:schemeClr val="tx2"/>
                </a:solidFill>
              </a:rPr>
              <a:t>C</a:t>
            </a:r>
            <a:endParaRPr lang="en-US" sz="3000" dirty="0"/>
          </a:p>
        </p:txBody>
      </p:sp>
      <p:sp>
        <p:nvSpPr>
          <p:cNvPr id="32" name="Text 29"/>
          <p:cNvSpPr txBox="1"/>
          <p:nvPr/>
        </p:nvSpPr>
        <p:spPr>
          <a:xfrm>
            <a:off x="13487400" y="2423160"/>
            <a:ext cx="3611880" cy="868680"/>
          </a:xfrm>
          <a:prstGeom prst="rect">
            <a:avLst/>
          </a:prstGeom>
          <a:noFill/>
          <a:ln/>
        </p:spPr>
        <p:txBody>
          <a:bodyPr wrap="square" lIns="0" tIns="0" rIns="0" bIns="0" rtlCol="0" anchor="ctr"/>
          <a:lstStyle/>
          <a:p>
            <a:pPr indent="0" marL="0">
              <a:buNone/>
            </a:pPr>
            <a:r>
              <a:rPr lang="en-US" sz="2800" b="1" dirty="0">
                <a:solidFill>
                  <a:schemeClr val="tx2"/>
                </a:solidFill>
              </a:rPr>
              <a:t>No API</a:t>
            </a:r>
            <a:endParaRPr lang="en-US" sz="2800" dirty="0"/>
          </a:p>
        </p:txBody>
      </p:sp>
      <p:sp>
        <p:nvSpPr>
          <p:cNvPr id="33" name="Text 30"/>
          <p:cNvSpPr txBox="1"/>
          <p:nvPr/>
        </p:nvSpPr>
        <p:spPr>
          <a:xfrm>
            <a:off x="12435840" y="3520440"/>
            <a:ext cx="3657600" cy="365760"/>
          </a:xfrm>
          <a:prstGeom prst="rect">
            <a:avLst/>
          </a:prstGeom>
          <a:noFill/>
          <a:ln/>
        </p:spPr>
        <p:txBody>
          <a:bodyPr wrap="square" lIns="0" tIns="0" rIns="0" bIns="0" rtlCol="0" anchor="t"/>
          <a:lstStyle/>
          <a:p>
            <a:pPr indent="0" marL="0">
              <a:buNone/>
            </a:pPr>
            <a:r>
              <a:rPr lang="en-US" sz="1800" b="1" dirty="0">
                <a:solidFill>
                  <a:srgbClr val="6F6F6F"/>
                </a:solidFill>
              </a:rPr>
              <a:t>Where</a:t>
            </a:r>
            <a:endParaRPr lang="en-US" sz="1800" dirty="0"/>
          </a:p>
        </p:txBody>
      </p:sp>
      <p:sp>
        <p:nvSpPr>
          <p:cNvPr id="34" name="Text 31"/>
          <p:cNvSpPr txBox="1"/>
          <p:nvPr/>
        </p:nvSpPr>
        <p:spPr>
          <a:xfrm>
            <a:off x="12435840" y="3886200"/>
            <a:ext cx="4617720" cy="1325880"/>
          </a:xfrm>
          <a:prstGeom prst="rect">
            <a:avLst/>
          </a:prstGeom>
          <a:noFill/>
          <a:ln/>
        </p:spPr>
        <p:txBody>
          <a:bodyPr wrap="square" lIns="0" tIns="0" rIns="0" bIns="0" rtlCol="0" anchor="t"/>
          <a:lstStyle/>
          <a:p>
            <a:pPr indent="0" marL="0">
              <a:buNone/>
            </a:pPr>
            <a:r>
              <a:rPr lang="en-US" sz="1900" dirty="0">
                <a:solidFill>
                  <a:schemeClr val="tx1"/>
                </a:solidFill>
              </a:rPr>
              <a:t>LIC Garage Depot · legacy ChargePoint contract, status only as a portal CSV export.</a:t>
            </a:r>
            <a:endParaRPr lang="en-US" sz="1900" dirty="0"/>
          </a:p>
        </p:txBody>
      </p:sp>
      <p:sp>
        <p:nvSpPr>
          <p:cNvPr id="35" name="Text 32"/>
          <p:cNvSpPr txBox="1"/>
          <p:nvPr/>
        </p:nvSpPr>
        <p:spPr>
          <a:xfrm>
            <a:off x="12435840" y="5257800"/>
            <a:ext cx="4114800" cy="365760"/>
          </a:xfrm>
          <a:prstGeom prst="rect">
            <a:avLst/>
          </a:prstGeom>
          <a:noFill/>
          <a:ln/>
        </p:spPr>
        <p:txBody>
          <a:bodyPr wrap="square" lIns="0" tIns="0" rIns="0" bIns="0" rtlCol="0" anchor="t"/>
          <a:lstStyle/>
          <a:p>
            <a:pPr indent="0" marL="0">
              <a:buNone/>
            </a:pPr>
            <a:r>
              <a:rPr lang="en-US" sz="1800" b="1" dirty="0">
                <a:solidFill>
                  <a:srgbClr val="6F6F6F"/>
                </a:solidFill>
              </a:rPr>
              <a:t>How we hold a slot</a:t>
            </a:r>
            <a:endParaRPr lang="en-US" sz="1800" dirty="0"/>
          </a:p>
        </p:txBody>
      </p:sp>
      <p:sp>
        <p:nvSpPr>
          <p:cNvPr id="36" name="Text 33"/>
          <p:cNvSpPr txBox="1"/>
          <p:nvPr/>
        </p:nvSpPr>
        <p:spPr>
          <a:xfrm>
            <a:off x="12435840" y="5623560"/>
            <a:ext cx="4617720" cy="1005840"/>
          </a:xfrm>
          <a:prstGeom prst="rect">
            <a:avLst/>
          </a:prstGeom>
          <a:noFill/>
          <a:ln/>
        </p:spPr>
        <p:txBody>
          <a:bodyPr wrap="square" lIns="0" tIns="0" rIns="0" bIns="0" rtlCol="0" anchor="t"/>
          <a:lstStyle/>
          <a:p>
            <a:pPr indent="0" marL="0">
              <a:buNone/>
            </a:pPr>
            <a:r>
              <a:rPr lang="en-US" sz="1900" b="1" dirty="0">
                <a:solidFill>
                  <a:schemeClr val="tx2"/>
                </a:solidFill>
              </a:rPr>
              <a:t>CSV ingest + attendant app, or move the host to direct OCPP via CitrineOS</a:t>
            </a:r>
            <a:endParaRPr lang="en-US" sz="1900" dirty="0"/>
          </a:p>
        </p:txBody>
      </p:sp>
      <p:sp>
        <p:nvSpPr>
          <p:cNvPr id="37" name="Text 34"/>
          <p:cNvSpPr txBox="1"/>
          <p:nvPr/>
        </p:nvSpPr>
        <p:spPr>
          <a:xfrm>
            <a:off x="12435840" y="6720840"/>
            <a:ext cx="2743200" cy="457200"/>
          </a:xfrm>
          <a:prstGeom prst="rect">
            <a:avLst/>
          </a:prstGeom>
          <a:noFill/>
          <a:ln/>
        </p:spPr>
        <p:txBody>
          <a:bodyPr wrap="square" lIns="0" tIns="0" rIns="0" bIns="0" rtlCol="0" anchor="ctr"/>
          <a:lstStyle/>
          <a:p>
            <a:pPr indent="0" marL="0">
              <a:buNone/>
            </a:pPr>
            <a:r>
              <a:rPr lang="en-US" sz="1600" dirty="0">
                <a:solidFill>
                  <a:srgbClr val="6F6F6F"/>
                </a:solidFill>
              </a:rPr>
              <a:t>Station-side guarantee</a:t>
            </a:r>
            <a:endParaRPr lang="en-US" sz="1600" dirty="0"/>
          </a:p>
        </p:txBody>
      </p:sp>
      <p:sp>
        <p:nvSpPr>
          <p:cNvPr id="38" name="Shape 35"/>
          <p:cNvSpPr/>
          <p:nvPr/>
        </p:nvSpPr>
        <p:spPr>
          <a:xfrm>
            <a:off x="15133320" y="6812280"/>
            <a:ext cx="566928" cy="274320"/>
          </a:xfrm>
          <a:prstGeom prst="rect">
            <a:avLst/>
          </a:prstGeom>
          <a:solidFill>
            <a:schemeClr val="accent2"/>
          </a:solidFill>
          <a:ln w="12700">
            <a:solidFill>
              <a:schemeClr val="accent2"/>
            </a:solidFill>
            <a:prstDash val="solid"/>
          </a:ln>
        </p:spPr>
      </p:sp>
      <p:sp>
        <p:nvSpPr>
          <p:cNvPr id="39" name="Shape 36"/>
          <p:cNvSpPr/>
          <p:nvPr/>
        </p:nvSpPr>
        <p:spPr>
          <a:xfrm>
            <a:off x="15791688" y="6812280"/>
            <a:ext cx="566928" cy="274320"/>
          </a:xfrm>
          <a:prstGeom prst="rect">
            <a:avLst/>
          </a:prstGeom>
          <a:solidFill>
            <a:srgbClr val="E0E0E0"/>
          </a:solidFill>
          <a:ln w="12700">
            <a:solidFill>
              <a:srgbClr val="E0E0E0"/>
            </a:solidFill>
            <a:prstDash val="solid"/>
          </a:ln>
        </p:spPr>
      </p:sp>
      <p:sp>
        <p:nvSpPr>
          <p:cNvPr id="40" name="Shape 37"/>
          <p:cNvSpPr/>
          <p:nvPr/>
        </p:nvSpPr>
        <p:spPr>
          <a:xfrm>
            <a:off x="16450056" y="6812280"/>
            <a:ext cx="566928" cy="274320"/>
          </a:xfrm>
          <a:prstGeom prst="rect">
            <a:avLst/>
          </a:prstGeom>
          <a:solidFill>
            <a:srgbClr val="E0E0E0"/>
          </a:solidFill>
          <a:ln w="12700">
            <a:solidFill>
              <a:srgbClr val="E0E0E0"/>
            </a:solidFill>
            <a:prstDash val="solid"/>
          </a:ln>
        </p:spPr>
      </p:sp>
      <p:sp>
        <p:nvSpPr>
          <p:cNvPr id="41" name="Shape 38"/>
          <p:cNvSpPr/>
          <p:nvPr/>
        </p:nvSpPr>
        <p:spPr>
          <a:xfrm>
            <a:off x="822960" y="7772400"/>
            <a:ext cx="10424160" cy="1188720"/>
          </a:xfrm>
          <a:prstGeom prst="rect">
            <a:avLst/>
          </a:prstGeom>
          <a:solidFill>
            <a:schemeClr val="accent1"/>
          </a:solidFill>
          <a:ln w="12700">
            <a:solidFill>
              <a:schemeClr val="accent1"/>
            </a:solidFill>
            <a:prstDash val="solid"/>
          </a:ln>
        </p:spPr>
      </p:sp>
      <p:sp>
        <p:nvSpPr>
          <p:cNvPr id="42" name="Text 39"/>
          <p:cNvSpPr txBox="1"/>
          <p:nvPr/>
        </p:nvSpPr>
        <p:spPr>
          <a:xfrm>
            <a:off x="1188720" y="7772400"/>
            <a:ext cx="9875520" cy="1188720"/>
          </a:xfrm>
          <a:prstGeom prst="rect">
            <a:avLst/>
          </a:prstGeom>
          <a:noFill/>
          <a:ln/>
        </p:spPr>
        <p:txBody>
          <a:bodyPr wrap="square" lIns="0" tIns="0" rIns="0" bIns="0" rtlCol="0" anchor="ctr"/>
          <a:lstStyle/>
          <a:p>
            <a:pPr indent="0" marL="0">
              <a:buNone/>
            </a:pPr>
            <a:r>
              <a:rPr lang="en-US" sz="2400" b="1" dirty="0">
                <a:solidFill>
                  <a:schemeClr val="tx2"/>
                </a:solidFill>
              </a:rPr>
              <a:t>One booking engine for all three. Only the “station hold” step changes.</a:t>
            </a:r>
            <a:endParaRPr lang="en-US" sz="2400" dirty="0"/>
          </a:p>
        </p:txBody>
      </p:sp>
      <p:sp>
        <p:nvSpPr>
          <p:cNvPr id="43" name="Shape 40"/>
          <p:cNvSpPr/>
          <p:nvPr/>
        </p:nvSpPr>
        <p:spPr>
          <a:xfrm>
            <a:off x="11521440" y="7772400"/>
            <a:ext cx="5943600" cy="1188720"/>
          </a:xfrm>
          <a:prstGeom prst="rect">
            <a:avLst/>
          </a:prstGeom>
          <a:solidFill>
            <a:schemeClr val="tx2"/>
          </a:solidFill>
          <a:ln w="12700">
            <a:solidFill>
              <a:schemeClr val="tx2"/>
            </a:solidFill>
            <a:prstDash val="solid"/>
          </a:ln>
        </p:spPr>
      </p:sp>
      <p:sp>
        <p:nvSpPr>
          <p:cNvPr id="44" name="Text 41"/>
          <p:cNvSpPr txBox="1"/>
          <p:nvPr/>
        </p:nvSpPr>
        <p:spPr>
          <a:xfrm>
            <a:off x="11841480" y="7772400"/>
            <a:ext cx="5486400" cy="1188720"/>
          </a:xfrm>
          <a:prstGeom prst="rect">
            <a:avLst/>
          </a:prstGeom>
          <a:noFill/>
          <a:ln/>
        </p:spPr>
        <p:txBody>
          <a:bodyPr wrap="square" lIns="0" tIns="0" rIns="0" bIns="0" rtlCol="0" anchor="ctr"/>
          <a:lstStyle/>
          <a:p>
            <a:pPr indent="0" marL="0">
              <a:buNone/>
            </a:pPr>
            <a:r>
              <a:rPr lang="en-US" sz="1800" b="1" dirty="0">
                <a:solidFill>
                  <a:schemeClr val="accent1"/>
                </a:solidFill>
              </a:rPr>
              <a:t>Roadmap: OCPI 2.3 Booking module</a:t>
            </a:r>
            <a:endParaRPr lang="en-US" sz="1800" dirty="0"/>
          </a:p>
          <a:p>
            <a:pPr indent="0" marL="0">
              <a:buNone/>
            </a:pPr>
            <a:r>
              <a:rPr lang="en-US" sz="1800" dirty="0">
                <a:solidFill>
                  <a:schemeClr val="bg1"/>
                </a:solidFill>
              </a:rPr>
              <a:t>since June 2025; US adoption likely low</a:t>
            </a:r>
            <a:endParaRPr lang="en-US" sz="1800" dirty="0"/>
          </a:p>
        </p:txBody>
      </p:sp>
      <p:sp>
        <p:nvSpPr>
          <p:cNvPr id="25" name="Slide Number Placeholder 0"/>
          <p:cNvSpPr>
            <a:spLocks noGrp="1"/>
          </p:cNvSpPr>
          <p:nvPr>
            <p:ph type="sldNum" sz="quarter" idx="4294967295"/>
          </p:nvPr>
        </p:nvSpPr>
        <p:spPr>
          <a:xfrm>
            <a:off x="16642080" y="9646920"/>
            <a:ext cx="822960" cy="347472"/>
          </a:xfrm>
          <a:prstGeom prst="rect">
            <a:avLst/>
          </a:prstGeom>
          <a:extLst>
            <a:ext uri="{C572A759-6A51-4108-AA02-DFA0A04FC94B}">
              <ma14:wrappingTextBoxFlag xmlns:ma14="http://schemas.microsoft.com/office/mac/drawingml/2011/main" val="0"/>
            </a:ext>
          </a:extLst>
        </p:spPr>
        <p:txBody>
          <a:bodyPr/>
          <a:lstStyle>
            <a:lvl1pPr>
              <a:defRPr sz="1500">
                <a:solidFill>
                  <a:schemeClr val="tx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header"/>
          <p:cNvSpPr txBox="1"/>
          <p:nvPr/>
        </p:nvSpPr>
        <p:spPr>
          <a:xfrm>
            <a:off x="822960" y="219456"/>
            <a:ext cx="10972800" cy="347472"/>
          </a:xfrm>
          <a:prstGeom prst="rect">
            <a:avLst/>
          </a:prstGeom>
          <a:noFill/>
          <a:ln/>
        </p:spPr>
        <p:txBody>
          <a:bodyPr wrap="square" lIns="0" tIns="0" rIns="0" bIns="0" rtlCol="0" anchor="ctr"/>
          <a:lstStyle/>
          <a:p>
            <a:pPr indent="0" marL="0">
              <a:buNone/>
            </a:pPr>
            <a:r>
              <a:rPr lang="en-US" sz="1500" dirty="0">
                <a:solidFill>
                  <a:schemeClr val="tx1"/>
                </a:solidFill>
              </a:rPr>
              <a:t>amperlane/02-solution</a:t>
            </a:r>
            <a:endParaRPr lang="en-US" sz="1500" dirty="0"/>
          </a:p>
        </p:txBody>
      </p:sp>
      <p:sp>
        <p:nvSpPr>
          <p:cNvPr id="3" name="Text 0"/>
          <p:cNvSpPr/>
          <p:nvPr>
            <p:ph idx="100" type="title" hasCustomPrompt="1"/>
          </p:nvPr>
        </p:nvSpPr>
        <p:spPr>
          <a:xfrm>
            <a:off x="822960" y="841248"/>
            <a:ext cx="16642080" cy="1005840"/>
          </a:xfrm>
          <a:prstGeom prst="rect">
            <a:avLst/>
          </a:prstGeom>
          <a:noFill/>
          <a:ln/>
        </p:spPr>
        <p:txBody>
          <a:bodyPr wrap="square" lIns="0" tIns="0" rIns="0" bIns="0" rtlCol="0" anchor="t"/>
          <a:lstStyle/>
          <a:p>
            <a:pPr algn="l" indent="0" marL="0">
              <a:buNone/>
            </a:pPr>
            <a:r>
              <a:rPr lang="en-US" sz="4500" dirty="0">
                <a:solidFill>
                  <a:schemeClr val="tx1"/>
                </a:solidFill>
              </a:rPr>
              <a:t>Business model options: decision needed</a:t>
            </a:r>
            <a:endParaRPr lang="en-US" sz="4500" dirty="0"/>
          </a:p>
        </p:txBody>
      </p:sp>
      <p:sp>
        <p:nvSpPr>
          <p:cNvPr id="5" name="Shape 2"/>
          <p:cNvSpPr/>
          <p:nvPr/>
        </p:nvSpPr>
        <p:spPr>
          <a:xfrm>
            <a:off x="822960" y="2103120"/>
            <a:ext cx="4937760" cy="4572000"/>
          </a:xfrm>
          <a:prstGeom prst="rect">
            <a:avLst/>
          </a:prstGeom>
          <a:solidFill>
            <a:schemeClr val="bg2"/>
          </a:solidFill>
          <a:ln w="12700">
            <a:solidFill>
              <a:schemeClr val="bg2"/>
            </a:solidFill>
            <a:prstDash val="solid"/>
          </a:ln>
        </p:spPr>
      </p:sp>
      <p:sp>
        <p:nvSpPr>
          <p:cNvPr id="6" name="Text 3"/>
          <p:cNvSpPr txBox="1"/>
          <p:nvPr/>
        </p:nvSpPr>
        <p:spPr>
          <a:xfrm>
            <a:off x="1188720" y="2377440"/>
            <a:ext cx="4206240" cy="411480"/>
          </a:xfrm>
          <a:prstGeom prst="rect">
            <a:avLst/>
          </a:prstGeom>
          <a:noFill/>
          <a:ln/>
        </p:spPr>
        <p:txBody>
          <a:bodyPr wrap="square" lIns="0" tIns="0" rIns="0" bIns="0" rtlCol="0" anchor="t"/>
          <a:lstStyle/>
          <a:p>
            <a:pPr indent="0" marL="0">
              <a:buNone/>
            </a:pPr>
            <a:r>
              <a:rPr lang="en-US" sz="1800" b="1" dirty="0">
                <a:solidFill>
                  <a:schemeClr val="accent2"/>
                </a:solidFill>
              </a:rPr>
              <a:t>Option A</a:t>
            </a:r>
            <a:endParaRPr lang="en-US" sz="1800" dirty="0"/>
          </a:p>
        </p:txBody>
      </p:sp>
      <p:sp>
        <p:nvSpPr>
          <p:cNvPr id="7" name="Text 4"/>
          <p:cNvSpPr txBox="1"/>
          <p:nvPr/>
        </p:nvSpPr>
        <p:spPr>
          <a:xfrm>
            <a:off x="1188720" y="2834640"/>
            <a:ext cx="4206240" cy="914400"/>
          </a:xfrm>
          <a:prstGeom prst="rect">
            <a:avLst/>
          </a:prstGeom>
          <a:noFill/>
          <a:ln/>
        </p:spPr>
        <p:txBody>
          <a:bodyPr wrap="square" lIns="0" tIns="0" rIns="0" bIns="0" rtlCol="0" anchor="t"/>
          <a:lstStyle/>
          <a:p>
            <a:pPr indent="0" marL="0">
              <a:buNone/>
            </a:pPr>
            <a:r>
              <a:rPr lang="en-US" sz="2800" b="1" dirty="0">
                <a:solidFill>
                  <a:schemeClr val="tx2"/>
                </a:solidFill>
              </a:rPr>
              <a:t>Percentage take rate</a:t>
            </a:r>
            <a:endParaRPr lang="en-US" sz="2800" dirty="0"/>
          </a:p>
        </p:txBody>
      </p:sp>
      <p:sp>
        <p:nvSpPr>
          <p:cNvPr id="8" name="Text 5"/>
          <p:cNvSpPr txBox="1"/>
          <p:nvPr/>
        </p:nvSpPr>
        <p:spPr>
          <a:xfrm>
            <a:off x="1188720" y="3931920"/>
            <a:ext cx="4206240" cy="1371600"/>
          </a:xfrm>
          <a:prstGeom prst="rect">
            <a:avLst/>
          </a:prstGeom>
          <a:noFill/>
          <a:ln/>
        </p:spPr>
        <p:txBody>
          <a:bodyPr wrap="square" lIns="0" tIns="0" rIns="0" bIns="0" rtlCol="0" anchor="t"/>
          <a:lstStyle/>
          <a:p>
            <a:pPr indent="0" marL="0">
              <a:buNone/>
            </a:pPr>
            <a:r>
              <a:rPr lang="en-US" sz="1900" dirty="0">
                <a:solidFill>
                  <a:schemeClr val="tx1"/>
                </a:solidFill>
              </a:rPr>
              <a:t>10–12% of charging GMV, paid by stations, plus a $15/vehicle/month fleet fee</a:t>
            </a:r>
            <a:endParaRPr lang="en-US" sz="1900" dirty="0"/>
          </a:p>
        </p:txBody>
      </p:sp>
      <p:sp>
        <p:nvSpPr>
          <p:cNvPr id="9" name="Shape 6"/>
          <p:cNvSpPr/>
          <p:nvPr/>
        </p:nvSpPr>
        <p:spPr>
          <a:xfrm>
            <a:off x="1188720" y="5623560"/>
            <a:ext cx="3291840" cy="594360"/>
          </a:xfrm>
          <a:prstGeom prst="rect">
            <a:avLst/>
          </a:prstGeom>
          <a:solidFill>
            <a:schemeClr val="accent3"/>
          </a:solidFill>
          <a:ln w="12700">
            <a:solidFill>
              <a:schemeClr val="accent3"/>
            </a:solidFill>
            <a:prstDash val="solid"/>
          </a:ln>
        </p:spPr>
      </p:sp>
      <p:sp>
        <p:nvSpPr>
          <p:cNvPr id="10" name="Text 7"/>
          <p:cNvSpPr txBox="1"/>
          <p:nvPr/>
        </p:nvSpPr>
        <p:spPr>
          <a:xfrm>
            <a:off x="1188720" y="5623560"/>
            <a:ext cx="3291840" cy="594360"/>
          </a:xfrm>
          <a:prstGeom prst="rect">
            <a:avLst/>
          </a:prstGeom>
          <a:noFill/>
          <a:ln/>
        </p:spPr>
        <p:txBody>
          <a:bodyPr wrap="square" lIns="0" tIns="0" rIns="0" bIns="0" rtlCol="0" anchor="ctr"/>
          <a:lstStyle/>
          <a:p>
            <a:pPr algn="ctr" indent="0" marL="0">
              <a:buNone/>
            </a:pPr>
            <a:r>
              <a:rPr lang="en-US" sz="1800" b="1" dirty="0">
                <a:solidFill>
                  <a:schemeClr val="bg1"/>
                </a:solidFill>
              </a:rPr>
              <a:t>Station % rejected</a:t>
            </a:r>
            <a:endParaRPr lang="en-US" sz="1800" dirty="0"/>
          </a:p>
        </p:txBody>
      </p:sp>
      <p:sp>
        <p:nvSpPr>
          <p:cNvPr id="11" name="Shape 8"/>
          <p:cNvSpPr/>
          <p:nvPr/>
        </p:nvSpPr>
        <p:spPr>
          <a:xfrm>
            <a:off x="6035040" y="2103120"/>
            <a:ext cx="6583680" cy="4572000"/>
          </a:xfrm>
          <a:prstGeom prst="rect">
            <a:avLst/>
          </a:prstGeom>
          <a:solidFill>
            <a:schemeClr val="tx2"/>
          </a:solidFill>
          <a:ln w="12700">
            <a:solidFill>
              <a:schemeClr val="tx2"/>
            </a:solidFill>
            <a:prstDash val="solid"/>
          </a:ln>
        </p:spPr>
      </p:sp>
      <p:sp>
        <p:nvSpPr>
          <p:cNvPr id="12" name="Text 9"/>
          <p:cNvSpPr txBox="1"/>
          <p:nvPr/>
        </p:nvSpPr>
        <p:spPr>
          <a:xfrm>
            <a:off x="6400800" y="2377440"/>
            <a:ext cx="5852160" cy="411480"/>
          </a:xfrm>
          <a:prstGeom prst="rect">
            <a:avLst/>
          </a:prstGeom>
          <a:noFill/>
          <a:ln/>
        </p:spPr>
        <p:txBody>
          <a:bodyPr wrap="square" lIns="0" tIns="0" rIns="0" bIns="0" rtlCol="0" anchor="t"/>
          <a:lstStyle/>
          <a:p>
            <a:pPr indent="0" marL="0">
              <a:buNone/>
            </a:pPr>
            <a:r>
              <a:rPr lang="en-US" sz="1800" b="1" dirty="0">
                <a:solidFill>
                  <a:schemeClr val="accent1"/>
                </a:solidFill>
              </a:rPr>
              <a:t>Option B</a:t>
            </a:r>
            <a:endParaRPr lang="en-US" sz="1800" dirty="0"/>
          </a:p>
        </p:txBody>
      </p:sp>
      <p:sp>
        <p:nvSpPr>
          <p:cNvPr id="13" name="Text 10"/>
          <p:cNvSpPr txBox="1"/>
          <p:nvPr/>
        </p:nvSpPr>
        <p:spPr>
          <a:xfrm>
            <a:off x="6400800" y="2834640"/>
            <a:ext cx="5852160" cy="914400"/>
          </a:xfrm>
          <a:prstGeom prst="rect">
            <a:avLst/>
          </a:prstGeom>
          <a:noFill/>
          <a:ln/>
        </p:spPr>
        <p:txBody>
          <a:bodyPr wrap="square" lIns="0" tIns="0" rIns="0" bIns="0" rtlCol="0" anchor="t"/>
          <a:lstStyle/>
          <a:p>
            <a:pPr indent="0" marL="0">
              <a:buNone/>
            </a:pPr>
            <a:r>
              <a:rPr lang="en-US" sz="2600" b="1" dirty="0">
                <a:solidFill>
                  <a:schemeClr val="bg1"/>
                </a:solidFill>
              </a:rPr>
              <a:t>eMSP spread, Amperlane as merchant of record</a:t>
            </a:r>
            <a:endParaRPr lang="en-US" sz="2600" dirty="0"/>
          </a:p>
        </p:txBody>
      </p:sp>
      <p:sp>
        <p:nvSpPr>
          <p:cNvPr id="14" name="Text 11"/>
          <p:cNvSpPr txBox="1"/>
          <p:nvPr/>
        </p:nvSpPr>
        <p:spPr>
          <a:xfrm>
            <a:off x="6400800" y="3840480"/>
            <a:ext cx="2377440" cy="822960"/>
          </a:xfrm>
          <a:prstGeom prst="rect">
            <a:avLst/>
          </a:prstGeom>
          <a:noFill/>
          <a:ln/>
        </p:spPr>
        <p:txBody>
          <a:bodyPr wrap="square" lIns="0" tIns="0" rIns="0" bIns="0" rtlCol="0" anchor="ctr"/>
          <a:lstStyle/>
          <a:p>
            <a:pPr indent="0" marL="0">
              <a:buNone/>
            </a:pPr>
            <a:r>
              <a:rPr lang="en-US" sz="4400" b="1" dirty="0">
                <a:solidFill>
                  <a:schemeClr val="bg1"/>
                </a:solidFill>
              </a:rPr>
              <a:t>$0.42</a:t>
            </a:r>
            <a:endParaRPr lang="en-US" sz="4400" dirty="0"/>
          </a:p>
        </p:txBody>
      </p:sp>
      <p:sp>
        <p:nvSpPr>
          <p:cNvPr id="15" name="Shape 12"/>
          <p:cNvSpPr/>
          <p:nvPr/>
        </p:nvSpPr>
        <p:spPr>
          <a:xfrm>
            <a:off x="8778240" y="4251960"/>
            <a:ext cx="822960" cy="914"/>
          </a:xfrm>
          <a:prstGeom prst="line">
            <a:avLst/>
          </a:prstGeom>
          <a:noFill/>
          <a:ln w="38100">
            <a:solidFill>
              <a:schemeClr val="accent1"/>
            </a:solidFill>
            <a:prstDash val="solid"/>
            <a:tailEnd type="triangle"/>
          </a:ln>
        </p:spPr>
      </p:sp>
      <p:sp>
        <p:nvSpPr>
          <p:cNvPr id="16" name="Text 13"/>
          <p:cNvSpPr txBox="1"/>
          <p:nvPr/>
        </p:nvSpPr>
        <p:spPr>
          <a:xfrm>
            <a:off x="9784080" y="3840480"/>
            <a:ext cx="2377440" cy="822960"/>
          </a:xfrm>
          <a:prstGeom prst="rect">
            <a:avLst/>
          </a:prstGeom>
          <a:noFill/>
          <a:ln/>
        </p:spPr>
        <p:txBody>
          <a:bodyPr wrap="square" lIns="0" tIns="0" rIns="0" bIns="0" rtlCol="0" anchor="ctr"/>
          <a:lstStyle/>
          <a:p>
            <a:pPr indent="0" marL="0">
              <a:buNone/>
            </a:pPr>
            <a:r>
              <a:rPr lang="en-US" sz="4400" b="1" dirty="0">
                <a:solidFill>
                  <a:schemeClr val="accent1"/>
                </a:solidFill>
              </a:rPr>
              <a:t>$0.49</a:t>
            </a:r>
            <a:endParaRPr lang="en-US" sz="4400" dirty="0"/>
          </a:p>
        </p:txBody>
      </p:sp>
      <p:sp>
        <p:nvSpPr>
          <p:cNvPr id="17" name="Text 14"/>
          <p:cNvSpPr txBox="1"/>
          <p:nvPr/>
        </p:nvSpPr>
        <p:spPr>
          <a:xfrm>
            <a:off x="6400800" y="4663440"/>
            <a:ext cx="2743200" cy="365760"/>
          </a:xfrm>
          <a:prstGeom prst="rect">
            <a:avLst/>
          </a:prstGeom>
          <a:noFill/>
          <a:ln/>
        </p:spPr>
        <p:txBody>
          <a:bodyPr wrap="square" lIns="0" tIns="0" rIns="0" bIns="0" rtlCol="0" anchor="t"/>
          <a:lstStyle/>
          <a:p>
            <a:pPr indent="0" marL="0">
              <a:buNone/>
            </a:pPr>
            <a:r>
              <a:rPr lang="en-US" sz="1500" dirty="0">
                <a:solidFill>
                  <a:srgbClr val="D0D0D0"/>
                </a:solidFill>
              </a:rPr>
              <a:t>station B2B tariff /kWh</a:t>
            </a:r>
            <a:endParaRPr lang="en-US" sz="1500" dirty="0"/>
          </a:p>
        </p:txBody>
      </p:sp>
      <p:sp>
        <p:nvSpPr>
          <p:cNvPr id="18" name="Text 15"/>
          <p:cNvSpPr txBox="1"/>
          <p:nvPr/>
        </p:nvSpPr>
        <p:spPr>
          <a:xfrm>
            <a:off x="9784080" y="4663440"/>
            <a:ext cx="2743200" cy="365760"/>
          </a:xfrm>
          <a:prstGeom prst="rect">
            <a:avLst/>
          </a:prstGeom>
          <a:noFill/>
          <a:ln/>
        </p:spPr>
        <p:txBody>
          <a:bodyPr wrap="square" lIns="0" tIns="0" rIns="0" bIns="0" rtlCol="0" anchor="t"/>
          <a:lstStyle/>
          <a:p>
            <a:pPr indent="0" marL="0">
              <a:buNone/>
            </a:pPr>
            <a:r>
              <a:rPr lang="en-US" sz="1500" dirty="0">
                <a:solidFill>
                  <a:srgbClr val="D0D0D0"/>
                </a:solidFill>
              </a:rPr>
              <a:t>fleet bundled rate /kWh</a:t>
            </a:r>
            <a:endParaRPr lang="en-US" sz="1500" dirty="0"/>
          </a:p>
        </p:txBody>
      </p:sp>
      <p:sp>
        <p:nvSpPr>
          <p:cNvPr id="19" name="Text 16"/>
          <p:cNvSpPr txBox="1"/>
          <p:nvPr/>
        </p:nvSpPr>
        <p:spPr>
          <a:xfrm>
            <a:off x="6400800" y="5257800"/>
            <a:ext cx="5852160" cy="1188720"/>
          </a:xfrm>
          <a:prstGeom prst="rect">
            <a:avLst/>
          </a:prstGeom>
          <a:noFill/>
          <a:ln/>
        </p:spPr>
        <p:txBody>
          <a:bodyPr wrap="square" lIns="0" tIns="0" rIns="0" bIns="0" rtlCol="0" anchor="t"/>
          <a:lstStyle/>
          <a:p>
            <a:pPr indent="0" marL="0">
              <a:buNone/>
            </a:pPr>
            <a:r>
              <a:rPr lang="en-US" sz="1800" dirty="0">
                <a:solidFill>
                  <a:schemeClr val="bg1"/>
                </a:solidFill>
              </a:rPr>
              <a:t>incl. guaranteed slot, plus fleet subscription and pass-through no-show fees. Illustrative Gowanus numbers.</a:t>
            </a:r>
            <a:endParaRPr lang="en-US" sz="1800" dirty="0"/>
          </a:p>
        </p:txBody>
      </p:sp>
      <p:sp>
        <p:nvSpPr>
          <p:cNvPr id="20" name="Shape 17"/>
          <p:cNvSpPr/>
          <p:nvPr/>
        </p:nvSpPr>
        <p:spPr>
          <a:xfrm>
            <a:off x="12893040" y="2103120"/>
            <a:ext cx="4572000" cy="4572000"/>
          </a:xfrm>
          <a:prstGeom prst="rect">
            <a:avLst/>
          </a:prstGeom>
          <a:solidFill>
            <a:schemeClr val="bg2"/>
          </a:solidFill>
          <a:ln w="12700">
            <a:solidFill>
              <a:schemeClr val="bg2"/>
            </a:solidFill>
            <a:prstDash val="solid"/>
          </a:ln>
        </p:spPr>
      </p:sp>
      <p:sp>
        <p:nvSpPr>
          <p:cNvPr id="21" name="Text 18"/>
          <p:cNvSpPr txBox="1"/>
          <p:nvPr/>
        </p:nvSpPr>
        <p:spPr>
          <a:xfrm>
            <a:off x="13258800" y="2377440"/>
            <a:ext cx="3840480" cy="411480"/>
          </a:xfrm>
          <a:prstGeom prst="rect">
            <a:avLst/>
          </a:prstGeom>
          <a:noFill/>
          <a:ln/>
        </p:spPr>
        <p:txBody>
          <a:bodyPr wrap="square" lIns="0" tIns="0" rIns="0" bIns="0" rtlCol="0" anchor="t"/>
          <a:lstStyle/>
          <a:p>
            <a:pPr indent="0" marL="0">
              <a:buNone/>
            </a:pPr>
            <a:r>
              <a:rPr lang="en-US" sz="1800" b="1" dirty="0">
                <a:solidFill>
                  <a:schemeClr val="accent2"/>
                </a:solidFill>
              </a:rPr>
              <a:t>Option C</a:t>
            </a:r>
            <a:endParaRPr lang="en-US" sz="1800" dirty="0"/>
          </a:p>
        </p:txBody>
      </p:sp>
      <p:sp>
        <p:nvSpPr>
          <p:cNvPr id="22" name="Text 19"/>
          <p:cNvSpPr txBox="1"/>
          <p:nvPr/>
        </p:nvSpPr>
        <p:spPr>
          <a:xfrm>
            <a:off x="13258800" y="2834640"/>
            <a:ext cx="3840480" cy="914400"/>
          </a:xfrm>
          <a:prstGeom prst="rect">
            <a:avLst/>
          </a:prstGeom>
          <a:noFill/>
          <a:ln/>
        </p:spPr>
        <p:txBody>
          <a:bodyPr wrap="square" lIns="0" tIns="0" rIns="0" bIns="0" rtlCol="0" anchor="t"/>
          <a:lstStyle/>
          <a:p>
            <a:pPr indent="0" marL="0">
              <a:buNone/>
            </a:pPr>
            <a:r>
              <a:rPr lang="en-US" sz="2800" b="1" dirty="0">
                <a:solidFill>
                  <a:schemeClr val="tx2"/>
                </a:solidFill>
              </a:rPr>
              <a:t>Hybrid</a:t>
            </a:r>
            <a:endParaRPr lang="en-US" sz="2800" dirty="0"/>
          </a:p>
        </p:txBody>
      </p:sp>
      <p:sp>
        <p:nvSpPr>
          <p:cNvPr id="23" name="Text 20"/>
          <p:cNvSpPr txBox="1"/>
          <p:nvPr/>
        </p:nvSpPr>
        <p:spPr>
          <a:xfrm>
            <a:off x="13258800" y="3931920"/>
            <a:ext cx="3840480" cy="1371600"/>
          </a:xfrm>
          <a:prstGeom prst="rect">
            <a:avLst/>
          </a:prstGeom>
          <a:noFill/>
          <a:ln/>
        </p:spPr>
        <p:txBody>
          <a:bodyPr wrap="square" lIns="0" tIns="0" rIns="0" bIns="0" rtlCol="0" anchor="t"/>
          <a:lstStyle/>
          <a:p>
            <a:pPr indent="0" marL="0">
              <a:buNone/>
            </a:pPr>
            <a:r>
              <a:rPr lang="en-US" sz="1900" dirty="0">
                <a:solidFill>
                  <a:schemeClr val="tx1"/>
                </a:solidFill>
              </a:rPr>
              <a:t>The spread plus a smaller booking or percentage fee, and the fleet subscription</a:t>
            </a:r>
            <a:endParaRPr lang="en-US" sz="1900" dirty="0"/>
          </a:p>
        </p:txBody>
      </p:sp>
      <p:sp>
        <p:nvSpPr>
          <p:cNvPr id="24" name="Shape 21"/>
          <p:cNvSpPr/>
          <p:nvPr/>
        </p:nvSpPr>
        <p:spPr>
          <a:xfrm>
            <a:off x="13258800" y="5623560"/>
            <a:ext cx="2377440" cy="594360"/>
          </a:xfrm>
          <a:prstGeom prst="rect">
            <a:avLst/>
          </a:prstGeom>
          <a:solidFill>
            <a:schemeClr val="accent2"/>
          </a:solidFill>
          <a:ln w="12700">
            <a:solidFill>
              <a:schemeClr val="accent2"/>
            </a:solidFill>
            <a:prstDash val="solid"/>
          </a:ln>
        </p:spPr>
      </p:sp>
      <p:sp>
        <p:nvSpPr>
          <p:cNvPr id="25" name="Text 22"/>
          <p:cNvSpPr txBox="1"/>
          <p:nvPr/>
        </p:nvSpPr>
        <p:spPr>
          <a:xfrm>
            <a:off x="13258800" y="5623560"/>
            <a:ext cx="2377440" cy="594360"/>
          </a:xfrm>
          <a:prstGeom prst="rect">
            <a:avLst/>
          </a:prstGeom>
          <a:noFill/>
          <a:ln/>
        </p:spPr>
        <p:txBody>
          <a:bodyPr wrap="square" lIns="0" tIns="0" rIns="0" bIns="0" rtlCol="0" anchor="ctr"/>
          <a:lstStyle/>
          <a:p>
            <a:pPr algn="ctr" indent="0" marL="0">
              <a:buNone/>
            </a:pPr>
            <a:r>
              <a:rPr lang="en-US" sz="1800" b="1" dirty="0">
                <a:solidFill>
                  <a:schemeClr val="bg1"/>
                </a:solidFill>
              </a:rPr>
              <a:t>Open</a:t>
            </a:r>
            <a:endParaRPr lang="en-US" sz="1800" dirty="0"/>
          </a:p>
        </p:txBody>
      </p:sp>
      <p:sp>
        <p:nvSpPr>
          <p:cNvPr id="26" name="Text 23"/>
          <p:cNvSpPr txBox="1"/>
          <p:nvPr/>
        </p:nvSpPr>
        <p:spPr>
          <a:xfrm>
            <a:off x="822960" y="7040880"/>
            <a:ext cx="10972800" cy="457200"/>
          </a:xfrm>
          <a:prstGeom prst="rect">
            <a:avLst/>
          </a:prstGeom>
          <a:noFill/>
          <a:ln/>
        </p:spPr>
        <p:txBody>
          <a:bodyPr wrap="square" lIns="0" tIns="0" rIns="0" bIns="0" rtlCol="0" anchor="t"/>
          <a:lstStyle/>
          <a:p>
            <a:pPr indent="0" marL="0">
              <a:buNone/>
            </a:pPr>
            <a:r>
              <a:rPr lang="en-US" sz="2000" b="1" dirty="0">
                <a:solidFill>
                  <a:schemeClr val="tx2"/>
                </a:solidFill>
              </a:rPr>
              <a:t>If B or C, the platform must add:</a:t>
            </a:r>
            <a:endParaRPr lang="en-US" sz="2000" dirty="0"/>
          </a:p>
        </p:txBody>
      </p:sp>
      <p:sp>
        <p:nvSpPr>
          <p:cNvPr id="27" name="Shape 24"/>
          <p:cNvSpPr/>
          <p:nvPr/>
        </p:nvSpPr>
        <p:spPr>
          <a:xfrm>
            <a:off x="822960" y="7635240"/>
            <a:ext cx="3931920" cy="1325880"/>
          </a:xfrm>
          <a:prstGeom prst="rect">
            <a:avLst/>
          </a:prstGeom>
          <a:solidFill>
            <a:srgbClr val="CFFFEA"/>
          </a:solidFill>
          <a:ln w="12700">
            <a:solidFill>
              <a:srgbClr val="CFFFEA"/>
            </a:solidFill>
            <a:prstDash val="solid"/>
          </a:ln>
        </p:spPr>
      </p:sp>
      <p:sp>
        <p:nvSpPr>
          <p:cNvPr id="28" name="Shape 25"/>
          <p:cNvSpPr/>
          <p:nvPr/>
        </p:nvSpPr>
        <p:spPr>
          <a:xfrm>
            <a:off x="1051560" y="7863840"/>
            <a:ext cx="777240" cy="777240"/>
          </a:xfrm>
          <a:prstGeom prst="ellipse">
            <a:avLst/>
          </a:prstGeom>
          <a:solidFill>
            <a:schemeClr val="accent1"/>
          </a:solidFill>
          <a:ln w="12700">
            <a:solidFill>
              <a:schemeClr val="accent1"/>
            </a:solidFill>
            <a:prstDash val="solid"/>
          </a:ln>
        </p:spPr>
      </p:sp>
      <p:pic>
        <p:nvPicPr>
          <p:cNvPr id="29" name="Image 0" descr="preencoded.png">    </p:cNvPr>
          <p:cNvPicPr>
            <a:picLocks noChangeAspect="1"/>
          </p:cNvPicPr>
          <p:nvPr/>
        </p:nvPicPr>
        <p:blipFill>
          <a:blip r:embed="rId1"/>
          <a:stretch>
            <a:fillRect/>
          </a:stretch>
        </p:blipFill>
        <p:spPr>
          <a:xfrm>
            <a:off x="1245870" y="8058150"/>
            <a:ext cx="388620" cy="388620"/>
          </a:xfrm>
          <a:prstGeom prst="rect">
            <a:avLst/>
          </a:prstGeom>
        </p:spPr>
      </p:pic>
      <p:sp>
        <p:nvSpPr>
          <p:cNvPr id="30" name="Text 26"/>
          <p:cNvSpPr txBox="1"/>
          <p:nvPr/>
        </p:nvSpPr>
        <p:spPr>
          <a:xfrm>
            <a:off x="2011680" y="7635240"/>
            <a:ext cx="2606040" cy="1325880"/>
          </a:xfrm>
          <a:prstGeom prst="rect">
            <a:avLst/>
          </a:prstGeom>
          <a:noFill/>
          <a:ln/>
        </p:spPr>
        <p:txBody>
          <a:bodyPr wrap="square" lIns="0" tIns="0" rIns="0" bIns="0" rtlCol="0" anchor="ctr"/>
          <a:lstStyle/>
          <a:p>
            <a:pPr indent="0" marL="0">
              <a:buNone/>
            </a:pPr>
            <a:r>
              <a:rPr lang="en-US" sz="1700" b="1" dirty="0">
                <a:solidFill>
                  <a:schemeClr val="tx2"/>
                </a:solidFill>
              </a:rPr>
              <a:t>Stripe Connect: separate charges and transfers</a:t>
            </a:r>
            <a:endParaRPr lang="en-US" sz="1700" dirty="0"/>
          </a:p>
        </p:txBody>
      </p:sp>
      <p:sp>
        <p:nvSpPr>
          <p:cNvPr id="31" name="Shape 27"/>
          <p:cNvSpPr/>
          <p:nvPr/>
        </p:nvSpPr>
        <p:spPr>
          <a:xfrm>
            <a:off x="5029200" y="7635240"/>
            <a:ext cx="3931920" cy="1325880"/>
          </a:xfrm>
          <a:prstGeom prst="rect">
            <a:avLst/>
          </a:prstGeom>
          <a:solidFill>
            <a:srgbClr val="CFFFEA"/>
          </a:solidFill>
          <a:ln w="12700">
            <a:solidFill>
              <a:srgbClr val="CFFFEA"/>
            </a:solidFill>
            <a:prstDash val="solid"/>
          </a:ln>
        </p:spPr>
      </p:sp>
      <p:sp>
        <p:nvSpPr>
          <p:cNvPr id="32" name="Shape 28"/>
          <p:cNvSpPr/>
          <p:nvPr/>
        </p:nvSpPr>
        <p:spPr>
          <a:xfrm>
            <a:off x="5257800" y="7863840"/>
            <a:ext cx="777240" cy="777240"/>
          </a:xfrm>
          <a:prstGeom prst="ellipse">
            <a:avLst/>
          </a:prstGeom>
          <a:solidFill>
            <a:schemeClr val="accent1"/>
          </a:solidFill>
          <a:ln w="12700">
            <a:solidFill>
              <a:schemeClr val="accent1"/>
            </a:solidFill>
            <a:prstDash val="solid"/>
          </a:ln>
        </p:spPr>
      </p:sp>
      <p:pic>
        <p:nvPicPr>
          <p:cNvPr id="33" name="Image 1" descr="preencoded.png">    </p:cNvPr>
          <p:cNvPicPr>
            <a:picLocks noChangeAspect="1"/>
          </p:cNvPicPr>
          <p:nvPr/>
        </p:nvPicPr>
        <p:blipFill>
          <a:blip r:embed="rId2"/>
          <a:stretch>
            <a:fillRect/>
          </a:stretch>
        </p:blipFill>
        <p:spPr>
          <a:xfrm>
            <a:off x="5452110" y="8058150"/>
            <a:ext cx="388620" cy="388620"/>
          </a:xfrm>
          <a:prstGeom prst="rect">
            <a:avLst/>
          </a:prstGeom>
        </p:spPr>
      </p:pic>
      <p:sp>
        <p:nvSpPr>
          <p:cNvPr id="34" name="Text 29"/>
          <p:cNvSpPr txBox="1"/>
          <p:nvPr/>
        </p:nvSpPr>
        <p:spPr>
          <a:xfrm>
            <a:off x="6217920" y="7635240"/>
            <a:ext cx="2606040" cy="1325880"/>
          </a:xfrm>
          <a:prstGeom prst="rect">
            <a:avLst/>
          </a:prstGeom>
          <a:noFill/>
          <a:ln/>
        </p:spPr>
        <p:txBody>
          <a:bodyPr wrap="square" lIns="0" tIns="0" rIns="0" bIns="0" rtlCol="0" anchor="ctr"/>
          <a:lstStyle/>
          <a:p>
            <a:pPr indent="0" marL="0">
              <a:buNone/>
            </a:pPr>
            <a:r>
              <a:rPr lang="en-US" sz="1700" b="1" dirty="0">
                <a:solidFill>
                  <a:schemeClr val="tx2"/>
                </a:solidFill>
              </a:rPr>
              <a:t>Fleet invoicing, net-30, one invoice per fleet</a:t>
            </a:r>
            <a:endParaRPr lang="en-US" sz="1700" dirty="0"/>
          </a:p>
        </p:txBody>
      </p:sp>
      <p:sp>
        <p:nvSpPr>
          <p:cNvPr id="35" name="Shape 30"/>
          <p:cNvSpPr/>
          <p:nvPr/>
        </p:nvSpPr>
        <p:spPr>
          <a:xfrm>
            <a:off x="9235440" y="7635240"/>
            <a:ext cx="3931920" cy="1325880"/>
          </a:xfrm>
          <a:prstGeom prst="rect">
            <a:avLst/>
          </a:prstGeom>
          <a:solidFill>
            <a:srgbClr val="CFFFEA"/>
          </a:solidFill>
          <a:ln w="12700">
            <a:solidFill>
              <a:srgbClr val="CFFFEA"/>
            </a:solidFill>
            <a:prstDash val="solid"/>
          </a:ln>
        </p:spPr>
      </p:sp>
      <p:sp>
        <p:nvSpPr>
          <p:cNvPr id="36" name="Shape 31"/>
          <p:cNvSpPr/>
          <p:nvPr/>
        </p:nvSpPr>
        <p:spPr>
          <a:xfrm>
            <a:off x="9464040" y="7863840"/>
            <a:ext cx="777240" cy="777240"/>
          </a:xfrm>
          <a:prstGeom prst="ellipse">
            <a:avLst/>
          </a:prstGeom>
          <a:solidFill>
            <a:schemeClr val="accent1"/>
          </a:solidFill>
          <a:ln w="12700">
            <a:solidFill>
              <a:schemeClr val="accent1"/>
            </a:solidFill>
            <a:prstDash val="solid"/>
          </a:ln>
        </p:spPr>
      </p:sp>
      <p:pic>
        <p:nvPicPr>
          <p:cNvPr id="37" name="Image 2" descr="preencoded.png">    </p:cNvPr>
          <p:cNvPicPr>
            <a:picLocks noChangeAspect="1"/>
          </p:cNvPicPr>
          <p:nvPr/>
        </p:nvPicPr>
        <p:blipFill>
          <a:blip r:embed="rId3"/>
          <a:stretch>
            <a:fillRect/>
          </a:stretch>
        </p:blipFill>
        <p:spPr>
          <a:xfrm>
            <a:off x="9658350" y="8058150"/>
            <a:ext cx="388620" cy="388620"/>
          </a:xfrm>
          <a:prstGeom prst="rect">
            <a:avLst/>
          </a:prstGeom>
        </p:spPr>
      </p:pic>
      <p:sp>
        <p:nvSpPr>
          <p:cNvPr id="38" name="Text 32"/>
          <p:cNvSpPr txBox="1"/>
          <p:nvPr/>
        </p:nvSpPr>
        <p:spPr>
          <a:xfrm>
            <a:off x="10424160" y="7635240"/>
            <a:ext cx="2606040" cy="1325880"/>
          </a:xfrm>
          <a:prstGeom prst="rect">
            <a:avLst/>
          </a:prstGeom>
          <a:noFill/>
          <a:ln/>
        </p:spPr>
        <p:txBody>
          <a:bodyPr wrap="square" lIns="0" tIns="0" rIns="0" bIns="0" rtlCol="0" anchor="ctr"/>
          <a:lstStyle/>
          <a:p>
            <a:pPr indent="0" marL="0">
              <a:buNone/>
            </a:pPr>
            <a:r>
              <a:rPr lang="en-US" sz="1700" b="1" dirty="0">
                <a:solidFill>
                  <a:schemeClr val="tx2"/>
                </a:solidFill>
              </a:rPr>
              <a:t>eMSP role: OCPI 2.2.1 sessions, CDRs, tariffs</a:t>
            </a:r>
            <a:endParaRPr lang="en-US" sz="1700" dirty="0"/>
          </a:p>
        </p:txBody>
      </p:sp>
      <p:sp>
        <p:nvSpPr>
          <p:cNvPr id="39" name="Shape 33"/>
          <p:cNvSpPr/>
          <p:nvPr/>
        </p:nvSpPr>
        <p:spPr>
          <a:xfrm>
            <a:off x="13441680" y="7635240"/>
            <a:ext cx="3931920" cy="1325880"/>
          </a:xfrm>
          <a:prstGeom prst="rect">
            <a:avLst/>
          </a:prstGeom>
          <a:solidFill>
            <a:srgbClr val="CFFFEA"/>
          </a:solidFill>
          <a:ln w="12700">
            <a:solidFill>
              <a:srgbClr val="CFFFEA"/>
            </a:solidFill>
            <a:prstDash val="solid"/>
          </a:ln>
        </p:spPr>
      </p:sp>
      <p:sp>
        <p:nvSpPr>
          <p:cNvPr id="40" name="Shape 34"/>
          <p:cNvSpPr/>
          <p:nvPr/>
        </p:nvSpPr>
        <p:spPr>
          <a:xfrm>
            <a:off x="13670280" y="7863840"/>
            <a:ext cx="777240" cy="777240"/>
          </a:xfrm>
          <a:prstGeom prst="ellipse">
            <a:avLst/>
          </a:prstGeom>
          <a:solidFill>
            <a:schemeClr val="accent1"/>
          </a:solidFill>
          <a:ln w="12700">
            <a:solidFill>
              <a:schemeClr val="accent1"/>
            </a:solidFill>
            <a:prstDash val="solid"/>
          </a:ln>
        </p:spPr>
      </p:sp>
      <p:pic>
        <p:nvPicPr>
          <p:cNvPr id="41" name="Image 3" descr="preencoded.png">    </p:cNvPr>
          <p:cNvPicPr>
            <a:picLocks noChangeAspect="1"/>
          </p:cNvPicPr>
          <p:nvPr/>
        </p:nvPicPr>
        <p:blipFill>
          <a:blip r:embed="rId4"/>
          <a:stretch>
            <a:fillRect/>
          </a:stretch>
        </p:blipFill>
        <p:spPr>
          <a:xfrm>
            <a:off x="13864590" y="8058150"/>
            <a:ext cx="388620" cy="388620"/>
          </a:xfrm>
          <a:prstGeom prst="rect">
            <a:avLst/>
          </a:prstGeom>
        </p:spPr>
      </p:pic>
      <p:sp>
        <p:nvSpPr>
          <p:cNvPr id="42" name="Text 35"/>
          <p:cNvSpPr txBox="1"/>
          <p:nvPr/>
        </p:nvSpPr>
        <p:spPr>
          <a:xfrm>
            <a:off x="14630400" y="7635240"/>
            <a:ext cx="2606040" cy="1325880"/>
          </a:xfrm>
          <a:prstGeom prst="rect">
            <a:avLst/>
          </a:prstGeom>
          <a:noFill/>
          <a:ln/>
        </p:spPr>
        <p:txBody>
          <a:bodyPr wrap="square" lIns="0" tIns="0" rIns="0" bIns="0" rtlCol="0" anchor="ctr"/>
          <a:lstStyle/>
          <a:p>
            <a:pPr indent="0" marL="0">
              <a:buNone/>
            </a:pPr>
            <a:r>
              <a:rPr lang="en-US" sz="1700" b="1" dirty="0">
                <a:solidFill>
                  <a:schemeClr val="tx2"/>
                </a:solidFill>
              </a:rPr>
              <a:t>Pricing module and CDR reconciliation</a:t>
            </a:r>
            <a:endParaRPr lang="en-US" sz="1700" dirty="0"/>
          </a:p>
        </p:txBody>
      </p:sp>
      <p:sp>
        <p:nvSpPr>
          <p:cNvPr id="25" name="Slide Number Placeholder 0"/>
          <p:cNvSpPr>
            <a:spLocks noGrp="1"/>
          </p:cNvSpPr>
          <p:nvPr>
            <p:ph type="sldNum" sz="quarter" idx="4294967295"/>
          </p:nvPr>
        </p:nvSpPr>
        <p:spPr>
          <a:xfrm>
            <a:off x="16642080" y="9646920"/>
            <a:ext cx="822960" cy="347472"/>
          </a:xfrm>
          <a:prstGeom prst="rect">
            <a:avLst/>
          </a:prstGeom>
          <a:extLst>
            <a:ext uri="{C572A759-6A51-4108-AA02-DFA0A04FC94B}">
              <ma14:wrappingTextBoxFlag xmlns:ma14="http://schemas.microsoft.com/office/mac/drawingml/2011/main" val="0"/>
            </a:ext>
          </a:extLst>
        </p:spPr>
        <p:txBody>
          <a:bodyPr/>
          <a:lstStyle>
            <a:lvl1pPr>
              <a:defRPr sz="1500">
                <a:solidFill>
                  <a:schemeClr val="tx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header"/>
          <p:cNvSpPr txBox="1"/>
          <p:nvPr/>
        </p:nvSpPr>
        <p:spPr>
          <a:xfrm>
            <a:off x="822960" y="219456"/>
            <a:ext cx="10972800" cy="347472"/>
          </a:xfrm>
          <a:prstGeom prst="rect">
            <a:avLst/>
          </a:prstGeom>
          <a:noFill/>
          <a:ln/>
        </p:spPr>
        <p:txBody>
          <a:bodyPr wrap="square" lIns="0" tIns="0" rIns="0" bIns="0" rtlCol="0" anchor="ctr"/>
          <a:lstStyle/>
          <a:p>
            <a:pPr indent="0" marL="0">
              <a:buNone/>
            </a:pPr>
            <a:r>
              <a:rPr lang="en-US" sz="1500" dirty="0">
                <a:solidFill>
                  <a:schemeClr val="tx1"/>
                </a:solidFill>
              </a:rPr>
              <a:t>amperlane/02-solution</a:t>
            </a:r>
            <a:endParaRPr lang="en-US" sz="1500" dirty="0"/>
          </a:p>
        </p:txBody>
      </p:sp>
      <p:sp>
        <p:nvSpPr>
          <p:cNvPr id="3" name="Text 0"/>
          <p:cNvSpPr/>
          <p:nvPr>
            <p:ph idx="100" type="title" hasCustomPrompt="1"/>
          </p:nvPr>
        </p:nvSpPr>
        <p:spPr>
          <a:xfrm>
            <a:off x="822960" y="841248"/>
            <a:ext cx="16642080" cy="1005840"/>
          </a:xfrm>
          <a:prstGeom prst="rect">
            <a:avLst/>
          </a:prstGeom>
          <a:noFill/>
          <a:ln/>
        </p:spPr>
        <p:txBody>
          <a:bodyPr wrap="square" lIns="0" tIns="0" rIns="0" bIns="0" rtlCol="0" anchor="t"/>
          <a:lstStyle/>
          <a:p>
            <a:pPr algn="l" indent="0" marL="0">
              <a:buNone/>
            </a:pPr>
            <a:r>
              <a:rPr lang="en-US" sz="4500" dirty="0">
                <a:solidFill>
                  <a:schemeClr val="tx1"/>
                </a:solidFill>
              </a:rPr>
              <a:t>Solution architecture (logical)</a:t>
            </a:r>
            <a:endParaRPr lang="en-US" sz="4500" dirty="0"/>
          </a:p>
        </p:txBody>
      </p:sp>
      <p:sp>
        <p:nvSpPr>
          <p:cNvPr id="5" name="Text 2"/>
          <p:cNvSpPr txBox="1"/>
          <p:nvPr/>
        </p:nvSpPr>
        <p:spPr>
          <a:xfrm>
            <a:off x="822960" y="2011680"/>
            <a:ext cx="1371600" cy="640080"/>
          </a:xfrm>
          <a:prstGeom prst="rect">
            <a:avLst/>
          </a:prstGeom>
          <a:noFill/>
          <a:ln/>
        </p:spPr>
        <p:txBody>
          <a:bodyPr wrap="square" lIns="0" tIns="0" rIns="0" bIns="0" rtlCol="0" anchor="ctr"/>
          <a:lstStyle/>
          <a:p>
            <a:pPr indent="0" marL="0">
              <a:buNone/>
            </a:pPr>
            <a:r>
              <a:rPr lang="en-US" sz="1600" b="1" dirty="0">
                <a:solidFill>
                  <a:srgbClr val="6F6F6F"/>
                </a:solidFill>
              </a:rPr>
              <a:t>Channels</a:t>
            </a:r>
            <a:endParaRPr lang="en-US" sz="1600" dirty="0"/>
          </a:p>
        </p:txBody>
      </p:sp>
      <p:sp>
        <p:nvSpPr>
          <p:cNvPr id="6" name="Text 3"/>
          <p:cNvSpPr txBox="1"/>
          <p:nvPr/>
        </p:nvSpPr>
        <p:spPr>
          <a:xfrm>
            <a:off x="822960" y="2926080"/>
            <a:ext cx="1371600" cy="502920"/>
          </a:xfrm>
          <a:prstGeom prst="rect">
            <a:avLst/>
          </a:prstGeom>
          <a:noFill/>
          <a:ln/>
        </p:spPr>
        <p:txBody>
          <a:bodyPr wrap="square" lIns="0" tIns="0" rIns="0" bIns="0" rtlCol="0" anchor="ctr"/>
          <a:lstStyle/>
          <a:p>
            <a:pPr indent="0" marL="0">
              <a:buNone/>
            </a:pPr>
            <a:r>
              <a:rPr lang="en-US" sz="1600" b="1" dirty="0">
                <a:solidFill>
                  <a:srgbClr val="6F6F6F"/>
                </a:solidFill>
              </a:rPr>
              <a:t>Edge</a:t>
            </a:r>
            <a:endParaRPr lang="en-US" sz="1600" dirty="0"/>
          </a:p>
        </p:txBody>
      </p:sp>
      <p:sp>
        <p:nvSpPr>
          <p:cNvPr id="7" name="Text 4"/>
          <p:cNvSpPr txBox="1"/>
          <p:nvPr/>
        </p:nvSpPr>
        <p:spPr>
          <a:xfrm>
            <a:off x="822960" y="3703320"/>
            <a:ext cx="1371600" cy="1828800"/>
          </a:xfrm>
          <a:prstGeom prst="rect">
            <a:avLst/>
          </a:prstGeom>
          <a:noFill/>
          <a:ln/>
        </p:spPr>
        <p:txBody>
          <a:bodyPr wrap="square" lIns="0" tIns="0" rIns="0" bIns="0" rtlCol="0" anchor="ctr"/>
          <a:lstStyle/>
          <a:p>
            <a:pPr indent="0" marL="0">
              <a:buNone/>
            </a:pPr>
            <a:r>
              <a:rPr lang="en-US" sz="1600" b="1" dirty="0">
                <a:solidFill>
                  <a:srgbClr val="6F6F6F"/>
                </a:solidFill>
              </a:rPr>
              <a:t>Core</a:t>
            </a:r>
            <a:endParaRPr lang="en-US" sz="1600" dirty="0"/>
          </a:p>
        </p:txBody>
      </p:sp>
      <p:sp>
        <p:nvSpPr>
          <p:cNvPr id="8" name="Text 5"/>
          <p:cNvSpPr txBox="1"/>
          <p:nvPr/>
        </p:nvSpPr>
        <p:spPr>
          <a:xfrm>
            <a:off x="822960" y="5806440"/>
            <a:ext cx="1371600" cy="1737360"/>
          </a:xfrm>
          <a:prstGeom prst="rect">
            <a:avLst/>
          </a:prstGeom>
          <a:noFill/>
          <a:ln/>
        </p:spPr>
        <p:txBody>
          <a:bodyPr wrap="square" lIns="0" tIns="0" rIns="0" bIns="0" rtlCol="0" anchor="ctr"/>
          <a:lstStyle/>
          <a:p>
            <a:pPr indent="0" marL="0">
              <a:buNone/>
            </a:pPr>
            <a:r>
              <a:rPr lang="en-US" sz="1600" b="1" dirty="0">
                <a:solidFill>
                  <a:srgbClr val="6F6F6F"/>
                </a:solidFill>
              </a:rPr>
              <a:t>Integration</a:t>
            </a:r>
            <a:endParaRPr lang="en-US" sz="1600" dirty="0"/>
          </a:p>
        </p:txBody>
      </p:sp>
      <p:sp>
        <p:nvSpPr>
          <p:cNvPr id="9" name="Text 6"/>
          <p:cNvSpPr txBox="1"/>
          <p:nvPr/>
        </p:nvSpPr>
        <p:spPr>
          <a:xfrm>
            <a:off x="822960" y="7818120"/>
            <a:ext cx="1371600" cy="640080"/>
          </a:xfrm>
          <a:prstGeom prst="rect">
            <a:avLst/>
          </a:prstGeom>
          <a:noFill/>
          <a:ln/>
        </p:spPr>
        <p:txBody>
          <a:bodyPr wrap="square" lIns="0" tIns="0" rIns="0" bIns="0" rtlCol="0" anchor="ctr"/>
          <a:lstStyle/>
          <a:p>
            <a:pPr indent="0" marL="0">
              <a:buNone/>
            </a:pPr>
            <a:r>
              <a:rPr lang="en-US" sz="1600" b="1" dirty="0">
                <a:solidFill>
                  <a:srgbClr val="6F6F6F"/>
                </a:solidFill>
              </a:rPr>
              <a:t>Data</a:t>
            </a:r>
            <a:endParaRPr lang="en-US" sz="1600" dirty="0"/>
          </a:p>
        </p:txBody>
      </p:sp>
      <p:sp>
        <p:nvSpPr>
          <p:cNvPr id="10" name="Text 7"/>
          <p:cNvSpPr txBox="1"/>
          <p:nvPr/>
        </p:nvSpPr>
        <p:spPr>
          <a:xfrm>
            <a:off x="822960" y="8732520"/>
            <a:ext cx="1371600" cy="457200"/>
          </a:xfrm>
          <a:prstGeom prst="rect">
            <a:avLst/>
          </a:prstGeom>
          <a:noFill/>
          <a:ln/>
        </p:spPr>
        <p:txBody>
          <a:bodyPr wrap="square" lIns="0" tIns="0" rIns="0" bIns="0" rtlCol="0" anchor="ctr"/>
          <a:lstStyle/>
          <a:p>
            <a:pPr indent="0" marL="0">
              <a:buNone/>
            </a:pPr>
            <a:r>
              <a:rPr lang="en-US" sz="1600" b="1" dirty="0">
                <a:solidFill>
                  <a:srgbClr val="6F6F6F"/>
                </a:solidFill>
              </a:rPr>
              <a:t>Platform</a:t>
            </a:r>
            <a:endParaRPr lang="en-US" sz="1600" dirty="0"/>
          </a:p>
        </p:txBody>
      </p:sp>
      <p:sp>
        <p:nvSpPr>
          <p:cNvPr id="11" name="Shape 8"/>
          <p:cNvSpPr/>
          <p:nvPr/>
        </p:nvSpPr>
        <p:spPr>
          <a:xfrm>
            <a:off x="2286000" y="2011680"/>
            <a:ext cx="2766060" cy="640080"/>
          </a:xfrm>
          <a:prstGeom prst="rect">
            <a:avLst/>
          </a:prstGeom>
          <a:solidFill>
            <a:schemeClr val="tx2"/>
          </a:solidFill>
          <a:ln w="12700">
            <a:solidFill>
              <a:schemeClr val="tx2"/>
            </a:solidFill>
            <a:prstDash val="solid"/>
          </a:ln>
        </p:spPr>
      </p:sp>
      <p:sp>
        <p:nvSpPr>
          <p:cNvPr id="12" name="Text 9"/>
          <p:cNvSpPr txBox="1"/>
          <p:nvPr/>
        </p:nvSpPr>
        <p:spPr>
          <a:xfrm>
            <a:off x="2395728" y="2011680"/>
            <a:ext cx="2546604" cy="640080"/>
          </a:xfrm>
          <a:prstGeom prst="rect">
            <a:avLst/>
          </a:prstGeom>
          <a:noFill/>
          <a:ln/>
        </p:spPr>
        <p:txBody>
          <a:bodyPr wrap="square" lIns="0" tIns="0" rIns="0" bIns="0" rtlCol="0" anchor="ctr"/>
          <a:lstStyle/>
          <a:p>
            <a:pPr algn="ctr" indent="0" marL="0">
              <a:buNone/>
            </a:pPr>
            <a:r>
              <a:rPr lang="en-US" sz="1700" b="1" dirty="0">
                <a:solidFill>
                  <a:schemeClr val="bg1"/>
                </a:solidFill>
              </a:rPr>
              <a:t>Driver PWA + SMS / WhatsApp</a:t>
            </a:r>
            <a:endParaRPr lang="en-US" sz="2400" dirty="0"/>
          </a:p>
        </p:txBody>
      </p:sp>
      <p:sp>
        <p:nvSpPr>
          <p:cNvPr id="13" name="Shape 10"/>
          <p:cNvSpPr/>
          <p:nvPr/>
        </p:nvSpPr>
        <p:spPr>
          <a:xfrm>
            <a:off x="5234940" y="2011680"/>
            <a:ext cx="2766060" cy="640080"/>
          </a:xfrm>
          <a:prstGeom prst="rect">
            <a:avLst/>
          </a:prstGeom>
          <a:solidFill>
            <a:schemeClr val="tx2"/>
          </a:solidFill>
          <a:ln w="12700">
            <a:solidFill>
              <a:schemeClr val="tx2"/>
            </a:solidFill>
            <a:prstDash val="solid"/>
          </a:ln>
        </p:spPr>
      </p:sp>
      <p:sp>
        <p:nvSpPr>
          <p:cNvPr id="14" name="Text 11"/>
          <p:cNvSpPr txBox="1"/>
          <p:nvPr/>
        </p:nvSpPr>
        <p:spPr>
          <a:xfrm>
            <a:off x="5344668" y="2011680"/>
            <a:ext cx="2546604" cy="640080"/>
          </a:xfrm>
          <a:prstGeom prst="rect">
            <a:avLst/>
          </a:prstGeom>
          <a:noFill/>
          <a:ln/>
        </p:spPr>
        <p:txBody>
          <a:bodyPr wrap="square" lIns="0" tIns="0" rIns="0" bIns="0" rtlCol="0" anchor="ctr"/>
          <a:lstStyle/>
          <a:p>
            <a:pPr algn="ctr" indent="0" marL="0">
              <a:buNone/>
            </a:pPr>
            <a:r>
              <a:rPr lang="en-US" sz="1700" b="1" dirty="0">
                <a:solidFill>
                  <a:schemeClr val="bg1"/>
                </a:solidFill>
              </a:rPr>
              <a:t>Fleet portal</a:t>
            </a:r>
            <a:endParaRPr lang="en-US" sz="2400" dirty="0"/>
          </a:p>
        </p:txBody>
      </p:sp>
      <p:sp>
        <p:nvSpPr>
          <p:cNvPr id="15" name="Shape 12"/>
          <p:cNvSpPr/>
          <p:nvPr/>
        </p:nvSpPr>
        <p:spPr>
          <a:xfrm>
            <a:off x="8183880" y="2011680"/>
            <a:ext cx="2766060" cy="640080"/>
          </a:xfrm>
          <a:prstGeom prst="rect">
            <a:avLst/>
          </a:prstGeom>
          <a:solidFill>
            <a:schemeClr val="tx2"/>
          </a:solidFill>
          <a:ln w="12700">
            <a:solidFill>
              <a:schemeClr val="tx2"/>
            </a:solidFill>
            <a:prstDash val="solid"/>
          </a:ln>
        </p:spPr>
      </p:sp>
      <p:sp>
        <p:nvSpPr>
          <p:cNvPr id="16" name="Text 13"/>
          <p:cNvSpPr txBox="1"/>
          <p:nvPr/>
        </p:nvSpPr>
        <p:spPr>
          <a:xfrm>
            <a:off x="8293608" y="2011680"/>
            <a:ext cx="2546604" cy="640080"/>
          </a:xfrm>
          <a:prstGeom prst="rect">
            <a:avLst/>
          </a:prstGeom>
          <a:noFill/>
          <a:ln/>
        </p:spPr>
        <p:txBody>
          <a:bodyPr wrap="square" lIns="0" tIns="0" rIns="0" bIns="0" rtlCol="0" anchor="ctr"/>
          <a:lstStyle/>
          <a:p>
            <a:pPr algn="ctr" indent="0" marL="0">
              <a:buNone/>
            </a:pPr>
            <a:r>
              <a:rPr lang="en-US" sz="1700" b="1" dirty="0">
                <a:solidFill>
                  <a:schemeClr val="bg1"/>
                </a:solidFill>
              </a:rPr>
              <a:t>Station portal</a:t>
            </a:r>
            <a:endParaRPr lang="en-US" sz="2400" dirty="0"/>
          </a:p>
        </p:txBody>
      </p:sp>
      <p:sp>
        <p:nvSpPr>
          <p:cNvPr id="17" name="Shape 14"/>
          <p:cNvSpPr/>
          <p:nvPr/>
        </p:nvSpPr>
        <p:spPr>
          <a:xfrm>
            <a:off x="11132820" y="2011680"/>
            <a:ext cx="2766060" cy="640080"/>
          </a:xfrm>
          <a:prstGeom prst="rect">
            <a:avLst/>
          </a:prstGeom>
          <a:solidFill>
            <a:schemeClr val="tx2"/>
          </a:solidFill>
          <a:ln w="12700">
            <a:solidFill>
              <a:schemeClr val="tx2"/>
            </a:solidFill>
            <a:prstDash val="solid"/>
          </a:ln>
        </p:spPr>
      </p:sp>
      <p:sp>
        <p:nvSpPr>
          <p:cNvPr id="18" name="Text 15"/>
          <p:cNvSpPr txBox="1"/>
          <p:nvPr/>
        </p:nvSpPr>
        <p:spPr>
          <a:xfrm>
            <a:off x="11242548" y="2011680"/>
            <a:ext cx="2546604" cy="640080"/>
          </a:xfrm>
          <a:prstGeom prst="rect">
            <a:avLst/>
          </a:prstGeom>
          <a:noFill/>
          <a:ln/>
        </p:spPr>
        <p:txBody>
          <a:bodyPr wrap="square" lIns="0" tIns="0" rIns="0" bIns="0" rtlCol="0" anchor="ctr"/>
          <a:lstStyle/>
          <a:p>
            <a:pPr algn="ctr" indent="0" marL="0">
              <a:buNone/>
            </a:pPr>
            <a:r>
              <a:rPr lang="en-US" sz="1700" b="1" dirty="0">
                <a:solidFill>
                  <a:schemeClr val="bg1"/>
                </a:solidFill>
              </a:rPr>
              <a:t>Ops console</a:t>
            </a:r>
            <a:endParaRPr lang="en-US" sz="2400" dirty="0"/>
          </a:p>
        </p:txBody>
      </p:sp>
      <p:sp>
        <p:nvSpPr>
          <p:cNvPr id="19" name="Shape 16"/>
          <p:cNvSpPr/>
          <p:nvPr/>
        </p:nvSpPr>
        <p:spPr>
          <a:xfrm>
            <a:off x="3669030" y="2670048"/>
            <a:ext cx="914" cy="237744"/>
          </a:xfrm>
          <a:prstGeom prst="line">
            <a:avLst/>
          </a:prstGeom>
          <a:noFill/>
          <a:ln w="25400">
            <a:solidFill>
              <a:srgbClr val="6F6F6F"/>
            </a:solidFill>
            <a:prstDash val="solid"/>
            <a:tailEnd type="triangle"/>
          </a:ln>
        </p:spPr>
      </p:sp>
      <p:sp>
        <p:nvSpPr>
          <p:cNvPr id="20" name="Shape 17"/>
          <p:cNvSpPr/>
          <p:nvPr/>
        </p:nvSpPr>
        <p:spPr>
          <a:xfrm>
            <a:off x="6617970" y="2670048"/>
            <a:ext cx="914" cy="237744"/>
          </a:xfrm>
          <a:prstGeom prst="line">
            <a:avLst/>
          </a:prstGeom>
          <a:noFill/>
          <a:ln w="25400">
            <a:solidFill>
              <a:srgbClr val="6F6F6F"/>
            </a:solidFill>
            <a:prstDash val="solid"/>
            <a:tailEnd type="triangle"/>
          </a:ln>
        </p:spPr>
      </p:sp>
      <p:sp>
        <p:nvSpPr>
          <p:cNvPr id="21" name="Shape 18"/>
          <p:cNvSpPr/>
          <p:nvPr/>
        </p:nvSpPr>
        <p:spPr>
          <a:xfrm>
            <a:off x="9566910" y="2670048"/>
            <a:ext cx="914" cy="237744"/>
          </a:xfrm>
          <a:prstGeom prst="line">
            <a:avLst/>
          </a:prstGeom>
          <a:noFill/>
          <a:ln w="25400">
            <a:solidFill>
              <a:srgbClr val="6F6F6F"/>
            </a:solidFill>
            <a:prstDash val="solid"/>
            <a:tailEnd type="triangle"/>
          </a:ln>
        </p:spPr>
      </p:sp>
      <p:sp>
        <p:nvSpPr>
          <p:cNvPr id="22" name="Shape 19"/>
          <p:cNvSpPr/>
          <p:nvPr/>
        </p:nvSpPr>
        <p:spPr>
          <a:xfrm>
            <a:off x="12515850" y="2670048"/>
            <a:ext cx="914" cy="237744"/>
          </a:xfrm>
          <a:prstGeom prst="line">
            <a:avLst/>
          </a:prstGeom>
          <a:noFill/>
          <a:ln w="25400">
            <a:solidFill>
              <a:srgbClr val="6F6F6F"/>
            </a:solidFill>
            <a:prstDash val="solid"/>
            <a:tailEnd type="triangle"/>
          </a:ln>
        </p:spPr>
      </p:sp>
      <p:sp>
        <p:nvSpPr>
          <p:cNvPr id="23" name="Shape 20"/>
          <p:cNvSpPr/>
          <p:nvPr/>
        </p:nvSpPr>
        <p:spPr>
          <a:xfrm>
            <a:off x="2286000" y="2926080"/>
            <a:ext cx="5715000" cy="502920"/>
          </a:xfrm>
          <a:prstGeom prst="rect">
            <a:avLst/>
          </a:prstGeom>
          <a:solidFill>
            <a:schemeClr val="bg1"/>
          </a:solidFill>
          <a:ln w="25400">
            <a:solidFill>
              <a:schemeClr val="accent2"/>
            </a:solidFill>
            <a:prstDash val="solid"/>
          </a:ln>
        </p:spPr>
      </p:sp>
      <p:sp>
        <p:nvSpPr>
          <p:cNvPr id="24" name="Text 21"/>
          <p:cNvSpPr txBox="1"/>
          <p:nvPr/>
        </p:nvSpPr>
        <p:spPr>
          <a:xfrm>
            <a:off x="2395728" y="2926080"/>
            <a:ext cx="5495544" cy="502920"/>
          </a:xfrm>
          <a:prstGeom prst="rect">
            <a:avLst/>
          </a:prstGeom>
          <a:noFill/>
          <a:ln/>
        </p:spPr>
        <p:txBody>
          <a:bodyPr wrap="square" lIns="0" tIns="0" rIns="0" bIns="0" rtlCol="0" anchor="ctr"/>
          <a:lstStyle/>
          <a:p>
            <a:pPr algn="ctr" indent="0" marL="0">
              <a:buNone/>
            </a:pPr>
            <a:r>
              <a:rPr lang="en-US" sz="1600" b="1" dirty="0">
                <a:solidFill>
                  <a:schemeClr val="tx2"/>
                </a:solidFill>
              </a:rPr>
              <a:t>API gateway</a:t>
            </a:r>
            <a:endParaRPr lang="en-US" sz="2400" dirty="0"/>
          </a:p>
          <a:p>
            <a:pPr algn="ctr" indent="0" marL="0">
              <a:buNone/>
            </a:pPr>
            <a:r>
              <a:rPr lang="en-US" sz="1500" dirty="0">
                <a:solidFill>
                  <a:srgbClr val="3A3A3A"/>
                </a:solidFill>
              </a:rPr>
              <a:t>routing, rate limiting</a:t>
            </a:r>
            <a:endParaRPr lang="en-US" sz="2400" dirty="0"/>
          </a:p>
        </p:txBody>
      </p:sp>
      <p:sp>
        <p:nvSpPr>
          <p:cNvPr id="25" name="Shape 22"/>
          <p:cNvSpPr/>
          <p:nvPr/>
        </p:nvSpPr>
        <p:spPr>
          <a:xfrm>
            <a:off x="8183880" y="2926080"/>
            <a:ext cx="5715000" cy="502920"/>
          </a:xfrm>
          <a:prstGeom prst="rect">
            <a:avLst/>
          </a:prstGeom>
          <a:solidFill>
            <a:srgbClr val="CFFFEA"/>
          </a:solidFill>
          <a:ln w="19050">
            <a:solidFill>
              <a:schemeClr val="accent1"/>
            </a:solidFill>
            <a:prstDash val="solid"/>
          </a:ln>
        </p:spPr>
      </p:sp>
      <p:sp>
        <p:nvSpPr>
          <p:cNvPr id="26" name="Text 23"/>
          <p:cNvSpPr txBox="1"/>
          <p:nvPr/>
        </p:nvSpPr>
        <p:spPr>
          <a:xfrm>
            <a:off x="8293608" y="2926080"/>
            <a:ext cx="5495544" cy="502920"/>
          </a:xfrm>
          <a:prstGeom prst="rect">
            <a:avLst/>
          </a:prstGeom>
          <a:noFill/>
          <a:ln/>
        </p:spPr>
        <p:txBody>
          <a:bodyPr wrap="square" lIns="0" tIns="0" rIns="0" bIns="0" rtlCol="0" anchor="ctr"/>
          <a:lstStyle/>
          <a:p>
            <a:pPr algn="ctr" indent="0" marL="0">
              <a:buNone/>
            </a:pPr>
            <a:r>
              <a:rPr lang="en-US" sz="1600" b="1" dirty="0">
                <a:solidFill>
                  <a:schemeClr val="tx2"/>
                </a:solidFill>
              </a:rPr>
              <a:t>Keycloak</a:t>
            </a:r>
            <a:endParaRPr lang="en-US" sz="2400" dirty="0"/>
          </a:p>
          <a:p>
            <a:pPr algn="ctr" indent="0" marL="0">
              <a:buNone/>
            </a:pPr>
            <a:r>
              <a:rPr lang="en-US" sz="1500" dirty="0">
                <a:solidFill>
                  <a:srgbClr val="3A3A3A"/>
                </a:solidFill>
              </a:rPr>
              <a:t>identity, SSO, roles</a:t>
            </a:r>
            <a:endParaRPr lang="en-US" sz="2400" dirty="0"/>
          </a:p>
        </p:txBody>
      </p:sp>
      <p:sp>
        <p:nvSpPr>
          <p:cNvPr id="27" name="Shape 24"/>
          <p:cNvSpPr/>
          <p:nvPr/>
        </p:nvSpPr>
        <p:spPr>
          <a:xfrm>
            <a:off x="5143500" y="3447288"/>
            <a:ext cx="914" cy="237744"/>
          </a:xfrm>
          <a:prstGeom prst="line">
            <a:avLst/>
          </a:prstGeom>
          <a:noFill/>
          <a:ln w="25400">
            <a:solidFill>
              <a:srgbClr val="6F6F6F"/>
            </a:solidFill>
            <a:prstDash val="solid"/>
            <a:tailEnd type="triangle"/>
          </a:ln>
        </p:spPr>
      </p:sp>
      <p:sp>
        <p:nvSpPr>
          <p:cNvPr id="28" name="Shape 25"/>
          <p:cNvSpPr/>
          <p:nvPr/>
        </p:nvSpPr>
        <p:spPr>
          <a:xfrm>
            <a:off x="11041380" y="3447288"/>
            <a:ext cx="914" cy="237744"/>
          </a:xfrm>
          <a:prstGeom prst="line">
            <a:avLst/>
          </a:prstGeom>
          <a:noFill/>
          <a:ln w="25400">
            <a:solidFill>
              <a:srgbClr val="6F6F6F"/>
            </a:solidFill>
            <a:prstDash val="solid"/>
            <a:tailEnd type="triangle"/>
          </a:ln>
        </p:spPr>
      </p:sp>
      <p:sp>
        <p:nvSpPr>
          <p:cNvPr id="29" name="Shape 26"/>
          <p:cNvSpPr/>
          <p:nvPr/>
        </p:nvSpPr>
        <p:spPr>
          <a:xfrm>
            <a:off x="2286000" y="3703320"/>
            <a:ext cx="11612880" cy="1828800"/>
          </a:xfrm>
          <a:prstGeom prst="rect">
            <a:avLst/>
          </a:prstGeom>
          <a:solidFill>
            <a:schemeClr val="bg2"/>
          </a:solidFill>
          <a:ln w="12700">
            <a:solidFill>
              <a:schemeClr val="bg2"/>
            </a:solidFill>
            <a:prstDash val="solid"/>
          </a:ln>
        </p:spPr>
      </p:sp>
      <p:sp>
        <p:nvSpPr>
          <p:cNvPr id="30" name="Text 27"/>
          <p:cNvSpPr txBox="1"/>
          <p:nvPr/>
        </p:nvSpPr>
        <p:spPr>
          <a:xfrm>
            <a:off x="2468880" y="3730752"/>
            <a:ext cx="7315200" cy="365760"/>
          </a:xfrm>
          <a:prstGeom prst="rect">
            <a:avLst/>
          </a:prstGeom>
          <a:noFill/>
          <a:ln/>
        </p:spPr>
        <p:txBody>
          <a:bodyPr wrap="square" lIns="0" tIns="0" rIns="0" bIns="0" rtlCol="0" anchor="ctr"/>
          <a:lstStyle/>
          <a:p>
            <a:pPr indent="0" marL="0">
              <a:buNone/>
            </a:pPr>
            <a:r>
              <a:rPr lang="en-US" sz="1500" b="1" dirty="0">
                <a:solidFill>
                  <a:schemeClr val="tx2"/>
                </a:solidFill>
              </a:rPr>
              <a:t>Modular monolith  ·  TypeScript / NestJS</a:t>
            </a:r>
            <a:endParaRPr lang="en-US" sz="1500" dirty="0"/>
          </a:p>
        </p:txBody>
      </p:sp>
      <p:sp>
        <p:nvSpPr>
          <p:cNvPr id="31" name="Shape 28"/>
          <p:cNvSpPr/>
          <p:nvPr/>
        </p:nvSpPr>
        <p:spPr>
          <a:xfrm>
            <a:off x="2468880" y="4133088"/>
            <a:ext cx="2708910" cy="585216"/>
          </a:xfrm>
          <a:prstGeom prst="rect">
            <a:avLst/>
          </a:prstGeom>
          <a:solidFill>
            <a:schemeClr val="tx2"/>
          </a:solidFill>
          <a:ln w="12700">
            <a:solidFill>
              <a:schemeClr val="tx2"/>
            </a:solidFill>
            <a:prstDash val="solid"/>
          </a:ln>
        </p:spPr>
      </p:sp>
      <p:sp>
        <p:nvSpPr>
          <p:cNvPr id="32" name="Text 29"/>
          <p:cNvSpPr txBox="1"/>
          <p:nvPr/>
        </p:nvSpPr>
        <p:spPr>
          <a:xfrm>
            <a:off x="2578608" y="4133088"/>
            <a:ext cx="2489454" cy="585216"/>
          </a:xfrm>
          <a:prstGeom prst="rect">
            <a:avLst/>
          </a:prstGeom>
          <a:noFill/>
          <a:ln/>
        </p:spPr>
        <p:txBody>
          <a:bodyPr wrap="square" lIns="0" tIns="0" rIns="0" bIns="0" rtlCol="0" anchor="ctr"/>
          <a:lstStyle/>
          <a:p>
            <a:pPr algn="ctr" indent="0" marL="0">
              <a:buNone/>
            </a:pPr>
            <a:r>
              <a:rPr lang="en-US" sz="1500" b="1" dirty="0">
                <a:solidFill>
                  <a:schemeClr val="bg1"/>
                </a:solidFill>
              </a:rPr>
              <a:t>Inventory &amp; Availability</a:t>
            </a:r>
            <a:endParaRPr lang="en-US" sz="2400" dirty="0"/>
          </a:p>
        </p:txBody>
      </p:sp>
      <p:sp>
        <p:nvSpPr>
          <p:cNvPr id="33" name="Shape 30"/>
          <p:cNvSpPr/>
          <p:nvPr/>
        </p:nvSpPr>
        <p:spPr>
          <a:xfrm>
            <a:off x="5314950" y="4133088"/>
            <a:ext cx="2708910" cy="585216"/>
          </a:xfrm>
          <a:prstGeom prst="rect">
            <a:avLst/>
          </a:prstGeom>
          <a:solidFill>
            <a:schemeClr val="tx2"/>
          </a:solidFill>
          <a:ln w="12700">
            <a:solidFill>
              <a:schemeClr val="tx2"/>
            </a:solidFill>
            <a:prstDash val="solid"/>
          </a:ln>
        </p:spPr>
      </p:sp>
      <p:sp>
        <p:nvSpPr>
          <p:cNvPr id="34" name="Text 31"/>
          <p:cNvSpPr txBox="1"/>
          <p:nvPr/>
        </p:nvSpPr>
        <p:spPr>
          <a:xfrm>
            <a:off x="5424678" y="4133088"/>
            <a:ext cx="2489454" cy="585216"/>
          </a:xfrm>
          <a:prstGeom prst="rect">
            <a:avLst/>
          </a:prstGeom>
          <a:noFill/>
          <a:ln/>
        </p:spPr>
        <p:txBody>
          <a:bodyPr wrap="square" lIns="0" tIns="0" rIns="0" bIns="0" rtlCol="0" anchor="ctr"/>
          <a:lstStyle/>
          <a:p>
            <a:pPr algn="ctr" indent="0" marL="0">
              <a:buNone/>
            </a:pPr>
            <a:r>
              <a:rPr lang="en-US" sz="1500" b="1" dirty="0">
                <a:solidFill>
                  <a:schemeClr val="bg1"/>
                </a:solidFill>
              </a:rPr>
              <a:t>Booking &amp; Calendar</a:t>
            </a:r>
            <a:endParaRPr lang="en-US" sz="2400" dirty="0"/>
          </a:p>
        </p:txBody>
      </p:sp>
      <p:sp>
        <p:nvSpPr>
          <p:cNvPr id="35" name="Shape 32"/>
          <p:cNvSpPr/>
          <p:nvPr/>
        </p:nvSpPr>
        <p:spPr>
          <a:xfrm>
            <a:off x="8161020" y="4133088"/>
            <a:ext cx="2708910" cy="585216"/>
          </a:xfrm>
          <a:prstGeom prst="rect">
            <a:avLst/>
          </a:prstGeom>
          <a:solidFill>
            <a:schemeClr val="tx2"/>
          </a:solidFill>
          <a:ln w="12700">
            <a:solidFill>
              <a:schemeClr val="tx2"/>
            </a:solidFill>
            <a:prstDash val="solid"/>
          </a:ln>
        </p:spPr>
      </p:sp>
      <p:sp>
        <p:nvSpPr>
          <p:cNvPr id="36" name="Text 33"/>
          <p:cNvSpPr txBox="1"/>
          <p:nvPr/>
        </p:nvSpPr>
        <p:spPr>
          <a:xfrm>
            <a:off x="8270748" y="4133088"/>
            <a:ext cx="2489454" cy="585216"/>
          </a:xfrm>
          <a:prstGeom prst="rect">
            <a:avLst/>
          </a:prstGeom>
          <a:noFill/>
          <a:ln/>
        </p:spPr>
        <p:txBody>
          <a:bodyPr wrap="square" lIns="0" tIns="0" rIns="0" bIns="0" rtlCol="0" anchor="ctr"/>
          <a:lstStyle/>
          <a:p>
            <a:pPr algn="ctr" indent="0" marL="0">
              <a:buNone/>
            </a:pPr>
            <a:r>
              <a:rPr lang="en-US" sz="1500" b="1" dirty="0">
                <a:solidFill>
                  <a:schemeClr val="bg1"/>
                </a:solidFill>
              </a:rPr>
              <a:t>Pricing &amp; Tariffs</a:t>
            </a:r>
            <a:endParaRPr lang="en-US" sz="2400" dirty="0"/>
          </a:p>
        </p:txBody>
      </p:sp>
      <p:sp>
        <p:nvSpPr>
          <p:cNvPr id="37" name="Shape 34"/>
          <p:cNvSpPr/>
          <p:nvPr/>
        </p:nvSpPr>
        <p:spPr>
          <a:xfrm>
            <a:off x="11007090" y="4133088"/>
            <a:ext cx="2708910" cy="585216"/>
          </a:xfrm>
          <a:prstGeom prst="rect">
            <a:avLst/>
          </a:prstGeom>
          <a:solidFill>
            <a:schemeClr val="tx2"/>
          </a:solidFill>
          <a:ln w="12700">
            <a:solidFill>
              <a:schemeClr val="tx2"/>
            </a:solidFill>
            <a:prstDash val="solid"/>
          </a:ln>
        </p:spPr>
      </p:sp>
      <p:sp>
        <p:nvSpPr>
          <p:cNvPr id="38" name="Text 35"/>
          <p:cNvSpPr txBox="1"/>
          <p:nvPr/>
        </p:nvSpPr>
        <p:spPr>
          <a:xfrm>
            <a:off x="11116818" y="4133088"/>
            <a:ext cx="2489454" cy="585216"/>
          </a:xfrm>
          <a:prstGeom prst="rect">
            <a:avLst/>
          </a:prstGeom>
          <a:noFill/>
          <a:ln/>
        </p:spPr>
        <p:txBody>
          <a:bodyPr wrap="square" lIns="0" tIns="0" rIns="0" bIns="0" rtlCol="0" anchor="ctr"/>
          <a:lstStyle/>
          <a:p>
            <a:pPr algn="ctr" indent="0" marL="0">
              <a:buNone/>
            </a:pPr>
            <a:r>
              <a:rPr lang="en-US" sz="1500" b="1" dirty="0">
                <a:solidFill>
                  <a:schemeClr val="bg1"/>
                </a:solidFill>
              </a:rPr>
              <a:t>Fleet &amp; Vehicles</a:t>
            </a:r>
            <a:endParaRPr lang="en-US" sz="2400" dirty="0"/>
          </a:p>
        </p:txBody>
      </p:sp>
      <p:sp>
        <p:nvSpPr>
          <p:cNvPr id="39" name="Shape 36"/>
          <p:cNvSpPr/>
          <p:nvPr/>
        </p:nvSpPr>
        <p:spPr>
          <a:xfrm>
            <a:off x="2468880" y="4809744"/>
            <a:ext cx="2708910" cy="585216"/>
          </a:xfrm>
          <a:prstGeom prst="rect">
            <a:avLst/>
          </a:prstGeom>
          <a:solidFill>
            <a:schemeClr val="tx2"/>
          </a:solidFill>
          <a:ln w="12700">
            <a:solidFill>
              <a:schemeClr val="tx2"/>
            </a:solidFill>
            <a:prstDash val="solid"/>
          </a:ln>
        </p:spPr>
      </p:sp>
      <p:sp>
        <p:nvSpPr>
          <p:cNvPr id="40" name="Text 37"/>
          <p:cNvSpPr txBox="1"/>
          <p:nvPr/>
        </p:nvSpPr>
        <p:spPr>
          <a:xfrm>
            <a:off x="2578608" y="4809744"/>
            <a:ext cx="2489454" cy="585216"/>
          </a:xfrm>
          <a:prstGeom prst="rect">
            <a:avLst/>
          </a:prstGeom>
          <a:noFill/>
          <a:ln/>
        </p:spPr>
        <p:txBody>
          <a:bodyPr wrap="square" lIns="0" tIns="0" rIns="0" bIns="0" rtlCol="0" anchor="ctr"/>
          <a:lstStyle/>
          <a:p>
            <a:pPr algn="ctr" indent="0" marL="0">
              <a:buNone/>
            </a:pPr>
            <a:r>
              <a:rPr lang="en-US" sz="1500" b="1" dirty="0">
                <a:solidFill>
                  <a:schemeClr val="bg1"/>
                </a:solidFill>
              </a:rPr>
              <a:t>Settlement &amp; Payouts</a:t>
            </a:r>
            <a:endParaRPr lang="en-US" sz="2400" dirty="0"/>
          </a:p>
        </p:txBody>
      </p:sp>
      <p:sp>
        <p:nvSpPr>
          <p:cNvPr id="41" name="Shape 38"/>
          <p:cNvSpPr/>
          <p:nvPr/>
        </p:nvSpPr>
        <p:spPr>
          <a:xfrm>
            <a:off x="5314950" y="4809744"/>
            <a:ext cx="2708910" cy="585216"/>
          </a:xfrm>
          <a:prstGeom prst="rect">
            <a:avLst/>
          </a:prstGeom>
          <a:solidFill>
            <a:schemeClr val="tx2"/>
          </a:solidFill>
          <a:ln w="12700">
            <a:solidFill>
              <a:schemeClr val="tx2"/>
            </a:solidFill>
            <a:prstDash val="solid"/>
          </a:ln>
        </p:spPr>
      </p:sp>
      <p:sp>
        <p:nvSpPr>
          <p:cNvPr id="42" name="Text 39"/>
          <p:cNvSpPr txBox="1"/>
          <p:nvPr/>
        </p:nvSpPr>
        <p:spPr>
          <a:xfrm>
            <a:off x="5424678" y="4809744"/>
            <a:ext cx="2489454" cy="585216"/>
          </a:xfrm>
          <a:prstGeom prst="rect">
            <a:avLst/>
          </a:prstGeom>
          <a:noFill/>
          <a:ln/>
        </p:spPr>
        <p:txBody>
          <a:bodyPr wrap="square" lIns="0" tIns="0" rIns="0" bIns="0" rtlCol="0" anchor="ctr"/>
          <a:lstStyle/>
          <a:p>
            <a:pPr algn="ctr" indent="0" marL="0">
              <a:buNone/>
            </a:pPr>
            <a:r>
              <a:rPr lang="en-US" sz="1500" b="1" dirty="0">
                <a:solidFill>
                  <a:schemeClr val="bg1"/>
                </a:solidFill>
              </a:rPr>
              <a:t>Notifications</a:t>
            </a:r>
            <a:endParaRPr lang="en-US" sz="2400" dirty="0"/>
          </a:p>
        </p:txBody>
      </p:sp>
      <p:sp>
        <p:nvSpPr>
          <p:cNvPr id="43" name="Shape 40"/>
          <p:cNvSpPr/>
          <p:nvPr/>
        </p:nvSpPr>
        <p:spPr>
          <a:xfrm>
            <a:off x="8161020" y="4809744"/>
            <a:ext cx="2708910" cy="585216"/>
          </a:xfrm>
          <a:prstGeom prst="rect">
            <a:avLst/>
          </a:prstGeom>
          <a:solidFill>
            <a:schemeClr val="tx2"/>
          </a:solidFill>
          <a:ln w="12700">
            <a:solidFill>
              <a:schemeClr val="tx2"/>
            </a:solidFill>
            <a:prstDash val="solid"/>
          </a:ln>
        </p:spPr>
      </p:sp>
      <p:sp>
        <p:nvSpPr>
          <p:cNvPr id="44" name="Text 41"/>
          <p:cNvSpPr txBox="1"/>
          <p:nvPr/>
        </p:nvSpPr>
        <p:spPr>
          <a:xfrm>
            <a:off x="8270748" y="4809744"/>
            <a:ext cx="2489454" cy="585216"/>
          </a:xfrm>
          <a:prstGeom prst="rect">
            <a:avLst/>
          </a:prstGeom>
          <a:noFill/>
          <a:ln/>
        </p:spPr>
        <p:txBody>
          <a:bodyPr wrap="square" lIns="0" tIns="0" rIns="0" bIns="0" rtlCol="0" anchor="ctr"/>
          <a:lstStyle/>
          <a:p>
            <a:pPr algn="ctr" indent="0" marL="0">
              <a:buNone/>
            </a:pPr>
            <a:r>
              <a:rPr lang="en-US" sz="1500" b="1" dirty="0">
                <a:solidFill>
                  <a:schemeClr val="bg1"/>
                </a:solidFill>
              </a:rPr>
              <a:t>Identity &amp; Access</a:t>
            </a:r>
            <a:endParaRPr lang="en-US" sz="2400" dirty="0"/>
          </a:p>
        </p:txBody>
      </p:sp>
      <p:sp>
        <p:nvSpPr>
          <p:cNvPr id="45" name="Shape 42"/>
          <p:cNvSpPr/>
          <p:nvPr/>
        </p:nvSpPr>
        <p:spPr>
          <a:xfrm>
            <a:off x="11007090" y="4809744"/>
            <a:ext cx="2708910" cy="585216"/>
          </a:xfrm>
          <a:prstGeom prst="rect">
            <a:avLst/>
          </a:prstGeom>
          <a:solidFill>
            <a:schemeClr val="tx2"/>
          </a:solidFill>
          <a:ln w="12700">
            <a:solidFill>
              <a:schemeClr val="tx2"/>
            </a:solidFill>
            <a:prstDash val="solid"/>
          </a:ln>
        </p:spPr>
      </p:sp>
      <p:sp>
        <p:nvSpPr>
          <p:cNvPr id="46" name="Text 43"/>
          <p:cNvSpPr txBox="1"/>
          <p:nvPr/>
        </p:nvSpPr>
        <p:spPr>
          <a:xfrm>
            <a:off x="11116818" y="4809744"/>
            <a:ext cx="2489454" cy="585216"/>
          </a:xfrm>
          <a:prstGeom prst="rect">
            <a:avLst/>
          </a:prstGeom>
          <a:noFill/>
          <a:ln/>
        </p:spPr>
        <p:txBody>
          <a:bodyPr wrap="square" lIns="0" tIns="0" rIns="0" bIns="0" rtlCol="0" anchor="ctr"/>
          <a:lstStyle/>
          <a:p>
            <a:pPr algn="ctr" indent="0" marL="0">
              <a:buNone/>
            </a:pPr>
            <a:r>
              <a:rPr lang="en-US" sz="1500" b="1" dirty="0">
                <a:solidFill>
                  <a:schemeClr val="bg1"/>
                </a:solidFill>
              </a:rPr>
              <a:t>Audit</a:t>
            </a:r>
            <a:endParaRPr lang="en-US" sz="2400" dirty="0"/>
          </a:p>
        </p:txBody>
      </p:sp>
      <p:sp>
        <p:nvSpPr>
          <p:cNvPr id="47" name="Shape 44"/>
          <p:cNvSpPr/>
          <p:nvPr/>
        </p:nvSpPr>
        <p:spPr>
          <a:xfrm>
            <a:off x="14264640" y="3703320"/>
            <a:ext cx="3200400" cy="1828800"/>
          </a:xfrm>
          <a:prstGeom prst="rect">
            <a:avLst/>
          </a:prstGeom>
          <a:solidFill>
            <a:srgbClr val="CFFFEA"/>
          </a:solidFill>
          <a:ln w="19050">
            <a:solidFill>
              <a:schemeClr val="accent1"/>
            </a:solidFill>
            <a:prstDash val="solid"/>
          </a:ln>
        </p:spPr>
      </p:sp>
      <p:sp>
        <p:nvSpPr>
          <p:cNvPr id="48" name="Text 45"/>
          <p:cNvSpPr txBox="1"/>
          <p:nvPr/>
        </p:nvSpPr>
        <p:spPr>
          <a:xfrm>
            <a:off x="14374368" y="3703320"/>
            <a:ext cx="2980944" cy="1828800"/>
          </a:xfrm>
          <a:prstGeom prst="rect">
            <a:avLst/>
          </a:prstGeom>
          <a:noFill/>
          <a:ln/>
        </p:spPr>
        <p:txBody>
          <a:bodyPr wrap="square" lIns="0" tIns="0" rIns="0" bIns="0" rtlCol="0" anchor="ctr"/>
          <a:lstStyle/>
          <a:p>
            <a:pPr algn="ctr" indent="0" marL="0">
              <a:buNone/>
            </a:pPr>
            <a:r>
              <a:rPr lang="en-US" sz="1700" b="1" dirty="0">
                <a:solidFill>
                  <a:schemeClr val="tx2"/>
                </a:solidFill>
              </a:rPr>
              <a:t>Temporal</a:t>
            </a:r>
            <a:endParaRPr lang="en-US" sz="2400" dirty="0"/>
          </a:p>
          <a:p>
            <a:pPr algn="ctr" indent="0" marL="0">
              <a:buNone/>
            </a:pPr>
            <a:r>
              <a:rPr lang="en-US" sz="1400" dirty="0">
                <a:solidFill>
                  <a:srgbClr val="3A3A3A"/>
                </a:solidFill>
              </a:rPr>
              <a:t>workflow engine: hold TTLs, reminders, T-15 station hold, no-show release, rebook sagas. Self-hosted or Temporal Cloud</a:t>
            </a:r>
            <a:endParaRPr lang="en-US" sz="2400" dirty="0"/>
          </a:p>
        </p:txBody>
      </p:sp>
      <p:sp>
        <p:nvSpPr>
          <p:cNvPr id="49" name="Shape 46"/>
          <p:cNvSpPr/>
          <p:nvPr/>
        </p:nvSpPr>
        <p:spPr>
          <a:xfrm>
            <a:off x="13935456" y="4617720"/>
            <a:ext cx="292608" cy="914"/>
          </a:xfrm>
          <a:prstGeom prst="line">
            <a:avLst/>
          </a:prstGeom>
          <a:noFill/>
          <a:ln w="25400">
            <a:solidFill>
              <a:srgbClr val="6F6F6F"/>
            </a:solidFill>
            <a:prstDash val="solid"/>
            <a:headEnd type="triangle"/>
            <a:tailEnd type="triangle"/>
          </a:ln>
        </p:spPr>
      </p:sp>
      <p:sp>
        <p:nvSpPr>
          <p:cNvPr id="50" name="Shape 47"/>
          <p:cNvSpPr/>
          <p:nvPr/>
        </p:nvSpPr>
        <p:spPr>
          <a:xfrm>
            <a:off x="4114800" y="5550408"/>
            <a:ext cx="914" cy="237744"/>
          </a:xfrm>
          <a:prstGeom prst="line">
            <a:avLst/>
          </a:prstGeom>
          <a:noFill/>
          <a:ln w="25400">
            <a:solidFill>
              <a:srgbClr val="6F6F6F"/>
            </a:solidFill>
            <a:prstDash val="solid"/>
            <a:headEnd type="triangle"/>
            <a:tailEnd type="triangle"/>
          </a:ln>
        </p:spPr>
      </p:sp>
      <p:sp>
        <p:nvSpPr>
          <p:cNvPr id="51" name="Shape 48"/>
          <p:cNvSpPr/>
          <p:nvPr/>
        </p:nvSpPr>
        <p:spPr>
          <a:xfrm>
            <a:off x="8092440" y="5550408"/>
            <a:ext cx="914" cy="237744"/>
          </a:xfrm>
          <a:prstGeom prst="line">
            <a:avLst/>
          </a:prstGeom>
          <a:noFill/>
          <a:ln w="25400">
            <a:solidFill>
              <a:srgbClr val="6F6F6F"/>
            </a:solidFill>
            <a:prstDash val="solid"/>
            <a:headEnd type="triangle"/>
            <a:tailEnd type="triangle"/>
          </a:ln>
        </p:spPr>
      </p:sp>
      <p:sp>
        <p:nvSpPr>
          <p:cNvPr id="52" name="Shape 49"/>
          <p:cNvSpPr/>
          <p:nvPr/>
        </p:nvSpPr>
        <p:spPr>
          <a:xfrm>
            <a:off x="12070080" y="5550408"/>
            <a:ext cx="914" cy="237744"/>
          </a:xfrm>
          <a:prstGeom prst="line">
            <a:avLst/>
          </a:prstGeom>
          <a:noFill/>
          <a:ln w="25400">
            <a:solidFill>
              <a:srgbClr val="6F6F6F"/>
            </a:solidFill>
            <a:prstDash val="solid"/>
            <a:headEnd type="triangle"/>
            <a:tailEnd type="triangle"/>
          </a:ln>
        </p:spPr>
      </p:sp>
      <p:sp>
        <p:nvSpPr>
          <p:cNvPr id="53" name="Shape 50"/>
          <p:cNvSpPr/>
          <p:nvPr/>
        </p:nvSpPr>
        <p:spPr>
          <a:xfrm>
            <a:off x="2286000" y="5806440"/>
            <a:ext cx="11612880" cy="1737360"/>
          </a:xfrm>
          <a:prstGeom prst="rect">
            <a:avLst/>
          </a:prstGeom>
          <a:solidFill>
            <a:schemeClr val="bg2"/>
          </a:solidFill>
          <a:ln w="12700">
            <a:solidFill>
              <a:schemeClr val="bg2"/>
            </a:solidFill>
            <a:prstDash val="solid"/>
          </a:ln>
        </p:spPr>
      </p:sp>
      <p:sp>
        <p:nvSpPr>
          <p:cNvPr id="54" name="Shape 51"/>
          <p:cNvSpPr/>
          <p:nvPr/>
        </p:nvSpPr>
        <p:spPr>
          <a:xfrm>
            <a:off x="2468880" y="5916168"/>
            <a:ext cx="3657600" cy="694944"/>
          </a:xfrm>
          <a:prstGeom prst="rect">
            <a:avLst/>
          </a:prstGeom>
          <a:solidFill>
            <a:schemeClr val="tx2"/>
          </a:solidFill>
          <a:ln w="12700">
            <a:solidFill>
              <a:schemeClr val="tx2"/>
            </a:solidFill>
            <a:prstDash val="solid"/>
          </a:ln>
        </p:spPr>
      </p:sp>
      <p:sp>
        <p:nvSpPr>
          <p:cNvPr id="55" name="Text 52"/>
          <p:cNvSpPr txBox="1"/>
          <p:nvPr/>
        </p:nvSpPr>
        <p:spPr>
          <a:xfrm>
            <a:off x="2578608" y="5916168"/>
            <a:ext cx="3438144" cy="694944"/>
          </a:xfrm>
          <a:prstGeom prst="rect">
            <a:avLst/>
          </a:prstGeom>
          <a:noFill/>
          <a:ln/>
        </p:spPr>
        <p:txBody>
          <a:bodyPr wrap="square" lIns="0" tIns="0" rIns="0" bIns="0" rtlCol="0" anchor="ctr"/>
          <a:lstStyle/>
          <a:p>
            <a:pPr algn="ctr" indent="0" marL="0">
              <a:buNone/>
            </a:pPr>
            <a:r>
              <a:rPr lang="en-US" sz="1600" b="1" dirty="0">
                <a:solidFill>
                  <a:schemeClr val="bg1"/>
                </a:solidFill>
              </a:rPr>
              <a:t>OCPI 2.2.1 eMSP gateway</a:t>
            </a:r>
            <a:endParaRPr lang="en-US" sz="2400" dirty="0"/>
          </a:p>
          <a:p>
            <a:pPr algn="ctr" indent="0" marL="0">
              <a:buNone/>
            </a:pPr>
            <a:r>
              <a:rPr lang="en-US" sz="1400" dirty="0">
                <a:solidFill>
                  <a:srgbClr val="D0D0D0"/>
                </a:solidFill>
              </a:rPr>
              <a:t>Locations · Sessions · CDRs · Tariffs</a:t>
            </a:r>
            <a:endParaRPr lang="en-US" sz="2400" dirty="0"/>
          </a:p>
        </p:txBody>
      </p:sp>
      <p:sp>
        <p:nvSpPr>
          <p:cNvPr id="56" name="Shape 53"/>
          <p:cNvSpPr/>
          <p:nvPr/>
        </p:nvSpPr>
        <p:spPr>
          <a:xfrm>
            <a:off x="6263640" y="5916168"/>
            <a:ext cx="3657600" cy="694944"/>
          </a:xfrm>
          <a:prstGeom prst="rect">
            <a:avLst/>
          </a:prstGeom>
          <a:solidFill>
            <a:schemeClr val="tx2"/>
          </a:solidFill>
          <a:ln w="12700">
            <a:solidFill>
              <a:schemeClr val="tx2"/>
            </a:solidFill>
            <a:prstDash val="solid"/>
          </a:ln>
        </p:spPr>
      </p:sp>
      <p:sp>
        <p:nvSpPr>
          <p:cNvPr id="57" name="Text 54"/>
          <p:cNvSpPr txBox="1"/>
          <p:nvPr/>
        </p:nvSpPr>
        <p:spPr>
          <a:xfrm>
            <a:off x="6373368" y="5916168"/>
            <a:ext cx="3438144" cy="694944"/>
          </a:xfrm>
          <a:prstGeom prst="rect">
            <a:avLst/>
          </a:prstGeom>
          <a:noFill/>
          <a:ln/>
        </p:spPr>
        <p:txBody>
          <a:bodyPr wrap="square" lIns="0" tIns="0" rIns="0" bIns="0" rtlCol="0" anchor="ctr"/>
          <a:lstStyle/>
          <a:p>
            <a:pPr algn="ctr" indent="0" marL="0">
              <a:buNone/>
            </a:pPr>
            <a:r>
              <a:rPr lang="en-US" sz="1600" b="1" dirty="0">
                <a:solidFill>
                  <a:schemeClr val="bg1"/>
                </a:solidFill>
              </a:rPr>
              <a:t>CSMS adapters</a:t>
            </a:r>
            <a:endParaRPr lang="en-US" sz="2400" dirty="0"/>
          </a:p>
          <a:p>
            <a:pPr algn="ctr" indent="0" marL="0">
              <a:buNone/>
            </a:pPr>
            <a:r>
              <a:rPr lang="en-US" sz="1400" dirty="0">
                <a:solidFill>
                  <a:srgbClr val="D0D0D0"/>
                </a:solidFill>
              </a:rPr>
              <a:t>AMPECO · ChargeLab · CSV ingest</a:t>
            </a:r>
            <a:endParaRPr lang="en-US" sz="2400" dirty="0"/>
          </a:p>
        </p:txBody>
      </p:sp>
      <p:sp>
        <p:nvSpPr>
          <p:cNvPr id="58" name="Shape 55"/>
          <p:cNvSpPr/>
          <p:nvPr/>
        </p:nvSpPr>
        <p:spPr>
          <a:xfrm>
            <a:off x="10058400" y="5916168"/>
            <a:ext cx="3657600" cy="694944"/>
          </a:xfrm>
          <a:prstGeom prst="rect">
            <a:avLst/>
          </a:prstGeom>
          <a:solidFill>
            <a:srgbClr val="CFFFEA"/>
          </a:solidFill>
          <a:ln w="19050">
            <a:solidFill>
              <a:schemeClr val="accent1"/>
            </a:solidFill>
            <a:prstDash val="solid"/>
          </a:ln>
        </p:spPr>
      </p:sp>
      <p:sp>
        <p:nvSpPr>
          <p:cNvPr id="59" name="Text 56"/>
          <p:cNvSpPr txBox="1"/>
          <p:nvPr/>
        </p:nvSpPr>
        <p:spPr>
          <a:xfrm>
            <a:off x="10168128" y="5916168"/>
            <a:ext cx="3438144" cy="694944"/>
          </a:xfrm>
          <a:prstGeom prst="rect">
            <a:avLst/>
          </a:prstGeom>
          <a:noFill/>
          <a:ln/>
        </p:spPr>
        <p:txBody>
          <a:bodyPr wrap="square" lIns="0" tIns="0" rIns="0" bIns="0" rtlCol="0" anchor="ctr"/>
          <a:lstStyle/>
          <a:p>
            <a:pPr algn="ctr" indent="0" marL="0">
              <a:buNone/>
            </a:pPr>
            <a:r>
              <a:rPr lang="en-US" sz="1600" b="1" dirty="0">
                <a:solidFill>
                  <a:schemeClr val="tx2"/>
                </a:solidFill>
              </a:rPr>
              <a:t>CitrineOS</a:t>
            </a:r>
            <a:endParaRPr lang="en-US" sz="2400" dirty="0"/>
          </a:p>
          <a:p>
            <a:pPr algn="ctr" indent="0" marL="0">
              <a:buNone/>
            </a:pPr>
            <a:r>
              <a:rPr lang="en-US" sz="1400" dirty="0">
                <a:solidFill>
                  <a:srgbClr val="3A3A3A"/>
                </a:solidFill>
              </a:rPr>
              <a:t>direct OCPP hosts (no CSMS)</a:t>
            </a:r>
            <a:endParaRPr lang="en-US" sz="2400" dirty="0"/>
          </a:p>
        </p:txBody>
      </p:sp>
      <p:sp>
        <p:nvSpPr>
          <p:cNvPr id="60" name="Shape 57"/>
          <p:cNvSpPr/>
          <p:nvPr/>
        </p:nvSpPr>
        <p:spPr>
          <a:xfrm>
            <a:off x="2468880" y="6702552"/>
            <a:ext cx="3657600" cy="694944"/>
          </a:xfrm>
          <a:prstGeom prst="rect">
            <a:avLst/>
          </a:prstGeom>
          <a:solidFill>
            <a:schemeClr val="tx2"/>
          </a:solidFill>
          <a:ln w="12700">
            <a:solidFill>
              <a:schemeClr val="tx2"/>
            </a:solidFill>
            <a:prstDash val="solid"/>
          </a:ln>
        </p:spPr>
      </p:sp>
      <p:sp>
        <p:nvSpPr>
          <p:cNvPr id="61" name="Text 58"/>
          <p:cNvSpPr txBox="1"/>
          <p:nvPr/>
        </p:nvSpPr>
        <p:spPr>
          <a:xfrm>
            <a:off x="2578608" y="6702552"/>
            <a:ext cx="3438144" cy="694944"/>
          </a:xfrm>
          <a:prstGeom prst="rect">
            <a:avLst/>
          </a:prstGeom>
          <a:noFill/>
          <a:ln/>
        </p:spPr>
        <p:txBody>
          <a:bodyPr wrap="square" lIns="0" tIns="0" rIns="0" bIns="0" rtlCol="0" anchor="ctr"/>
          <a:lstStyle/>
          <a:p>
            <a:pPr algn="ctr" indent="0" marL="0">
              <a:buNone/>
            </a:pPr>
            <a:r>
              <a:rPr lang="en-US" sz="1600" b="1" dirty="0">
                <a:solidFill>
                  <a:schemeClr val="bg1"/>
                </a:solidFill>
              </a:rPr>
              <a:t>Telematics adapters</a:t>
            </a:r>
            <a:endParaRPr lang="en-US" sz="2400" dirty="0"/>
          </a:p>
          <a:p>
            <a:pPr algn="ctr" indent="0" marL="0">
              <a:buNone/>
            </a:pPr>
            <a:r>
              <a:rPr lang="en-US" sz="1400" dirty="0">
                <a:solidFill>
                  <a:srgbClr val="D0D0D0"/>
                </a:solidFill>
              </a:rPr>
              <a:t>Geotab · Tesla Fleet API · Smartcar</a:t>
            </a:r>
            <a:endParaRPr lang="en-US" sz="2400" dirty="0"/>
          </a:p>
        </p:txBody>
      </p:sp>
      <p:sp>
        <p:nvSpPr>
          <p:cNvPr id="62" name="Shape 59"/>
          <p:cNvSpPr/>
          <p:nvPr/>
        </p:nvSpPr>
        <p:spPr>
          <a:xfrm>
            <a:off x="6263640" y="6702552"/>
            <a:ext cx="3657600" cy="694944"/>
          </a:xfrm>
          <a:prstGeom prst="rect">
            <a:avLst/>
          </a:prstGeom>
          <a:solidFill>
            <a:schemeClr val="bg1"/>
          </a:solidFill>
          <a:ln w="25400">
            <a:solidFill>
              <a:schemeClr val="accent2"/>
            </a:solidFill>
            <a:prstDash val="solid"/>
          </a:ln>
        </p:spPr>
      </p:sp>
      <p:sp>
        <p:nvSpPr>
          <p:cNvPr id="63" name="Text 60"/>
          <p:cNvSpPr txBox="1"/>
          <p:nvPr/>
        </p:nvSpPr>
        <p:spPr>
          <a:xfrm>
            <a:off x="6373368" y="6702552"/>
            <a:ext cx="3438144" cy="694944"/>
          </a:xfrm>
          <a:prstGeom prst="rect">
            <a:avLst/>
          </a:prstGeom>
          <a:noFill/>
          <a:ln/>
        </p:spPr>
        <p:txBody>
          <a:bodyPr wrap="square" lIns="0" tIns="0" rIns="0" bIns="0" rtlCol="0" anchor="ctr"/>
          <a:lstStyle/>
          <a:p>
            <a:pPr algn="ctr" indent="0" marL="0">
              <a:buNone/>
            </a:pPr>
            <a:r>
              <a:rPr lang="en-US" sz="1600" b="1" dirty="0">
                <a:solidFill>
                  <a:schemeClr val="tx2"/>
                </a:solidFill>
              </a:rPr>
              <a:t>Stripe Connect</a:t>
            </a:r>
            <a:endParaRPr lang="en-US" sz="2400" dirty="0"/>
          </a:p>
          <a:p>
            <a:pPr algn="ctr" indent="0" marL="0">
              <a:buNone/>
            </a:pPr>
            <a:r>
              <a:rPr lang="en-US" sz="1400" dirty="0">
                <a:solidFill>
                  <a:srgbClr val="3A3A3A"/>
                </a:solidFill>
              </a:rPr>
              <a:t>payouts · invoicing · 1099 filing</a:t>
            </a:r>
            <a:endParaRPr lang="en-US" sz="2400" dirty="0"/>
          </a:p>
        </p:txBody>
      </p:sp>
      <p:sp>
        <p:nvSpPr>
          <p:cNvPr id="64" name="Shape 61"/>
          <p:cNvSpPr/>
          <p:nvPr/>
        </p:nvSpPr>
        <p:spPr>
          <a:xfrm>
            <a:off x="10058400" y="6702552"/>
            <a:ext cx="3657600" cy="694944"/>
          </a:xfrm>
          <a:prstGeom prst="rect">
            <a:avLst/>
          </a:prstGeom>
          <a:solidFill>
            <a:schemeClr val="bg1"/>
          </a:solidFill>
          <a:ln w="25400">
            <a:solidFill>
              <a:schemeClr val="accent2"/>
            </a:solidFill>
            <a:prstDash val="solid"/>
          </a:ln>
        </p:spPr>
      </p:sp>
      <p:sp>
        <p:nvSpPr>
          <p:cNvPr id="65" name="Text 62"/>
          <p:cNvSpPr txBox="1"/>
          <p:nvPr/>
        </p:nvSpPr>
        <p:spPr>
          <a:xfrm>
            <a:off x="10168128" y="6702552"/>
            <a:ext cx="3438144" cy="694944"/>
          </a:xfrm>
          <a:prstGeom prst="rect">
            <a:avLst/>
          </a:prstGeom>
          <a:noFill/>
          <a:ln/>
        </p:spPr>
        <p:txBody>
          <a:bodyPr wrap="square" lIns="0" tIns="0" rIns="0" bIns="0" rtlCol="0" anchor="ctr"/>
          <a:lstStyle/>
          <a:p>
            <a:pPr algn="ctr" indent="0" marL="0">
              <a:buNone/>
            </a:pPr>
            <a:r>
              <a:rPr lang="en-US" sz="1600" b="1" dirty="0">
                <a:solidFill>
                  <a:schemeClr val="tx2"/>
                </a:solidFill>
              </a:rPr>
              <a:t>Twilio</a:t>
            </a:r>
            <a:endParaRPr lang="en-US" sz="2400" dirty="0"/>
          </a:p>
          <a:p>
            <a:pPr algn="ctr" indent="0" marL="0">
              <a:buNone/>
            </a:pPr>
            <a:r>
              <a:rPr lang="en-US" sz="1400" dirty="0">
                <a:solidFill>
                  <a:srgbClr val="3A3A3A"/>
                </a:solidFill>
              </a:rPr>
              <a:t>SMS · WhatsApp</a:t>
            </a:r>
            <a:endParaRPr lang="en-US" sz="2400" dirty="0"/>
          </a:p>
        </p:txBody>
      </p:sp>
      <p:sp>
        <p:nvSpPr>
          <p:cNvPr id="66" name="Shape 63"/>
          <p:cNvSpPr/>
          <p:nvPr/>
        </p:nvSpPr>
        <p:spPr>
          <a:xfrm>
            <a:off x="4114800" y="7562088"/>
            <a:ext cx="914" cy="237744"/>
          </a:xfrm>
          <a:prstGeom prst="line">
            <a:avLst/>
          </a:prstGeom>
          <a:noFill/>
          <a:ln w="25400">
            <a:solidFill>
              <a:srgbClr val="6F6F6F"/>
            </a:solidFill>
            <a:prstDash val="solid"/>
            <a:headEnd type="triangle"/>
            <a:tailEnd type="triangle"/>
          </a:ln>
        </p:spPr>
      </p:sp>
      <p:sp>
        <p:nvSpPr>
          <p:cNvPr id="67" name="Shape 64"/>
          <p:cNvSpPr/>
          <p:nvPr/>
        </p:nvSpPr>
        <p:spPr>
          <a:xfrm>
            <a:off x="8092440" y="7562088"/>
            <a:ext cx="914" cy="237744"/>
          </a:xfrm>
          <a:prstGeom prst="line">
            <a:avLst/>
          </a:prstGeom>
          <a:noFill/>
          <a:ln w="25400">
            <a:solidFill>
              <a:srgbClr val="6F6F6F"/>
            </a:solidFill>
            <a:prstDash val="solid"/>
            <a:headEnd type="triangle"/>
            <a:tailEnd type="triangle"/>
          </a:ln>
        </p:spPr>
      </p:sp>
      <p:sp>
        <p:nvSpPr>
          <p:cNvPr id="68" name="Shape 65"/>
          <p:cNvSpPr/>
          <p:nvPr/>
        </p:nvSpPr>
        <p:spPr>
          <a:xfrm>
            <a:off x="12070080" y="7562088"/>
            <a:ext cx="914" cy="237744"/>
          </a:xfrm>
          <a:prstGeom prst="line">
            <a:avLst/>
          </a:prstGeom>
          <a:noFill/>
          <a:ln w="25400">
            <a:solidFill>
              <a:srgbClr val="6F6F6F"/>
            </a:solidFill>
            <a:prstDash val="solid"/>
            <a:headEnd type="triangle"/>
            <a:tailEnd type="triangle"/>
          </a:ln>
        </p:spPr>
      </p:sp>
      <p:sp>
        <p:nvSpPr>
          <p:cNvPr id="69" name="Shape 66"/>
          <p:cNvSpPr/>
          <p:nvPr/>
        </p:nvSpPr>
        <p:spPr>
          <a:xfrm>
            <a:off x="2286000" y="7818120"/>
            <a:ext cx="2766060" cy="640080"/>
          </a:xfrm>
          <a:prstGeom prst="rect">
            <a:avLst/>
          </a:prstGeom>
          <a:solidFill>
            <a:srgbClr val="CFFFEA"/>
          </a:solidFill>
          <a:ln w="19050">
            <a:solidFill>
              <a:schemeClr val="accent1"/>
            </a:solidFill>
            <a:prstDash val="solid"/>
          </a:ln>
        </p:spPr>
      </p:sp>
      <p:sp>
        <p:nvSpPr>
          <p:cNvPr id="70" name="Text 67"/>
          <p:cNvSpPr txBox="1"/>
          <p:nvPr/>
        </p:nvSpPr>
        <p:spPr>
          <a:xfrm>
            <a:off x="2395728" y="7818120"/>
            <a:ext cx="2546604" cy="640080"/>
          </a:xfrm>
          <a:prstGeom prst="rect">
            <a:avLst/>
          </a:prstGeom>
          <a:noFill/>
          <a:ln/>
        </p:spPr>
        <p:txBody>
          <a:bodyPr wrap="square" lIns="0" tIns="0" rIns="0" bIns="0" rtlCol="0" anchor="ctr"/>
          <a:lstStyle/>
          <a:p>
            <a:pPr algn="ctr" indent="0" marL="0">
              <a:buNone/>
            </a:pPr>
            <a:r>
              <a:rPr lang="en-US" sz="1600" b="1" dirty="0">
                <a:solidFill>
                  <a:schemeClr val="tx2"/>
                </a:solidFill>
              </a:rPr>
              <a:t>PostgreSQL + PostGIS</a:t>
            </a:r>
            <a:endParaRPr lang="en-US" sz="2400" dirty="0"/>
          </a:p>
          <a:p>
            <a:pPr algn="ctr" indent="0" marL="0">
              <a:buNone/>
            </a:pPr>
            <a:r>
              <a:rPr lang="en-US" sz="1400" dirty="0">
                <a:solidFill>
                  <a:srgbClr val="3A3A3A"/>
                </a:solidFill>
              </a:rPr>
              <a:t>bookings, holds, geo</a:t>
            </a:r>
            <a:endParaRPr lang="en-US" sz="2400" dirty="0"/>
          </a:p>
        </p:txBody>
      </p:sp>
      <p:sp>
        <p:nvSpPr>
          <p:cNvPr id="71" name="Shape 68"/>
          <p:cNvSpPr/>
          <p:nvPr/>
        </p:nvSpPr>
        <p:spPr>
          <a:xfrm>
            <a:off x="5234940" y="7818120"/>
            <a:ext cx="2766060" cy="640080"/>
          </a:xfrm>
          <a:prstGeom prst="rect">
            <a:avLst/>
          </a:prstGeom>
          <a:solidFill>
            <a:srgbClr val="CFFFEA"/>
          </a:solidFill>
          <a:ln w="19050">
            <a:solidFill>
              <a:schemeClr val="accent1"/>
            </a:solidFill>
            <a:prstDash val="solid"/>
          </a:ln>
        </p:spPr>
      </p:sp>
      <p:sp>
        <p:nvSpPr>
          <p:cNvPr id="72" name="Text 69"/>
          <p:cNvSpPr txBox="1"/>
          <p:nvPr/>
        </p:nvSpPr>
        <p:spPr>
          <a:xfrm>
            <a:off x="5344668" y="7818120"/>
            <a:ext cx="2546604" cy="640080"/>
          </a:xfrm>
          <a:prstGeom prst="rect">
            <a:avLst/>
          </a:prstGeom>
          <a:noFill/>
          <a:ln/>
        </p:spPr>
        <p:txBody>
          <a:bodyPr wrap="square" lIns="0" tIns="0" rIns="0" bIns="0" rtlCol="0" anchor="ctr"/>
          <a:lstStyle/>
          <a:p>
            <a:pPr algn="ctr" indent="0" marL="0">
              <a:buNone/>
            </a:pPr>
            <a:r>
              <a:rPr lang="en-US" sz="1600" b="1" dirty="0">
                <a:solidFill>
                  <a:schemeClr val="tx2"/>
                </a:solidFill>
              </a:rPr>
              <a:t>Time series</a:t>
            </a:r>
            <a:endParaRPr lang="en-US" sz="2400" dirty="0"/>
          </a:p>
          <a:p>
            <a:pPr algn="ctr" indent="0" marL="0">
              <a:buNone/>
            </a:pPr>
            <a:r>
              <a:rPr lang="en-US" sz="1400" dirty="0">
                <a:solidFill>
                  <a:srgbClr val="3A3A3A"/>
                </a:solidFill>
              </a:rPr>
              <a:t>native partitioning on RDS</a:t>
            </a:r>
            <a:endParaRPr lang="en-US" sz="2400" dirty="0"/>
          </a:p>
        </p:txBody>
      </p:sp>
      <p:sp>
        <p:nvSpPr>
          <p:cNvPr id="73" name="Shape 70"/>
          <p:cNvSpPr/>
          <p:nvPr/>
        </p:nvSpPr>
        <p:spPr>
          <a:xfrm>
            <a:off x="8183880" y="7818120"/>
            <a:ext cx="2766060" cy="640080"/>
          </a:xfrm>
          <a:prstGeom prst="rect">
            <a:avLst/>
          </a:prstGeom>
          <a:solidFill>
            <a:schemeClr val="bg1"/>
          </a:solidFill>
          <a:ln w="25400">
            <a:solidFill>
              <a:schemeClr val="accent2"/>
            </a:solidFill>
            <a:prstDash val="solid"/>
          </a:ln>
        </p:spPr>
      </p:sp>
      <p:sp>
        <p:nvSpPr>
          <p:cNvPr id="74" name="Text 71"/>
          <p:cNvSpPr txBox="1"/>
          <p:nvPr/>
        </p:nvSpPr>
        <p:spPr>
          <a:xfrm>
            <a:off x="8293608" y="7818120"/>
            <a:ext cx="2546604" cy="640080"/>
          </a:xfrm>
          <a:prstGeom prst="rect">
            <a:avLst/>
          </a:prstGeom>
          <a:noFill/>
          <a:ln/>
        </p:spPr>
        <p:txBody>
          <a:bodyPr wrap="square" lIns="0" tIns="0" rIns="0" bIns="0" rtlCol="0" anchor="ctr"/>
          <a:lstStyle/>
          <a:p>
            <a:pPr algn="ctr" indent="0" marL="0">
              <a:buNone/>
            </a:pPr>
            <a:r>
              <a:rPr lang="en-US" sz="1600" b="1" dirty="0">
                <a:solidFill>
                  <a:schemeClr val="tx2"/>
                </a:solidFill>
              </a:rPr>
              <a:t>Valkey (ElastiCache)</a:t>
            </a:r>
            <a:endParaRPr lang="en-US" sz="2400" dirty="0"/>
          </a:p>
          <a:p>
            <a:pPr algn="ctr" indent="0" marL="0">
              <a:buNone/>
            </a:pPr>
            <a:r>
              <a:rPr lang="en-US" sz="1400" dirty="0">
                <a:solidFill>
                  <a:srgbClr val="3A3A3A"/>
                </a:solidFill>
              </a:rPr>
              <a:t>rate limits, idempotency</a:t>
            </a:r>
            <a:endParaRPr lang="en-US" sz="2400" dirty="0"/>
          </a:p>
        </p:txBody>
      </p:sp>
      <p:sp>
        <p:nvSpPr>
          <p:cNvPr id="75" name="Shape 72"/>
          <p:cNvSpPr/>
          <p:nvPr/>
        </p:nvSpPr>
        <p:spPr>
          <a:xfrm>
            <a:off x="11132820" y="7818120"/>
            <a:ext cx="2766060" cy="640080"/>
          </a:xfrm>
          <a:prstGeom prst="rect">
            <a:avLst/>
          </a:prstGeom>
          <a:solidFill>
            <a:schemeClr val="bg1"/>
          </a:solidFill>
          <a:ln w="25400">
            <a:solidFill>
              <a:schemeClr val="accent2"/>
            </a:solidFill>
            <a:prstDash val="solid"/>
          </a:ln>
        </p:spPr>
      </p:sp>
      <p:sp>
        <p:nvSpPr>
          <p:cNvPr id="76" name="Text 73"/>
          <p:cNvSpPr txBox="1"/>
          <p:nvPr/>
        </p:nvSpPr>
        <p:spPr>
          <a:xfrm>
            <a:off x="11242548" y="7818120"/>
            <a:ext cx="2546604" cy="640080"/>
          </a:xfrm>
          <a:prstGeom prst="rect">
            <a:avLst/>
          </a:prstGeom>
          <a:noFill/>
          <a:ln/>
        </p:spPr>
        <p:txBody>
          <a:bodyPr wrap="square" lIns="0" tIns="0" rIns="0" bIns="0" rtlCol="0" anchor="ctr"/>
          <a:lstStyle/>
          <a:p>
            <a:pPr algn="ctr" indent="0" marL="0">
              <a:buNone/>
            </a:pPr>
            <a:r>
              <a:rPr lang="en-US" sz="1600" b="1" dirty="0">
                <a:solidFill>
                  <a:schemeClr val="tx2"/>
                </a:solidFill>
              </a:rPr>
              <a:t>Event bus</a:t>
            </a:r>
            <a:endParaRPr lang="en-US" sz="2400" dirty="0"/>
          </a:p>
          <a:p>
            <a:pPr algn="ctr" indent="0" marL="0">
              <a:buNone/>
            </a:pPr>
            <a:r>
              <a:rPr lang="en-US" sz="1400" dirty="0">
                <a:solidFill>
                  <a:srgbClr val="3A3A3A"/>
                </a:solidFill>
              </a:rPr>
              <a:t>EventBridge/SQS → Kafka</a:t>
            </a:r>
            <a:endParaRPr lang="en-US" sz="2400" dirty="0"/>
          </a:p>
        </p:txBody>
      </p:sp>
      <p:sp>
        <p:nvSpPr>
          <p:cNvPr id="77" name="Shape 74"/>
          <p:cNvSpPr/>
          <p:nvPr/>
        </p:nvSpPr>
        <p:spPr>
          <a:xfrm>
            <a:off x="2286000" y="8732520"/>
            <a:ext cx="4572000" cy="457200"/>
          </a:xfrm>
          <a:prstGeom prst="rect">
            <a:avLst/>
          </a:prstGeom>
          <a:solidFill>
            <a:schemeClr val="bg1"/>
          </a:solidFill>
          <a:ln w="25400">
            <a:solidFill>
              <a:schemeClr val="accent2"/>
            </a:solidFill>
            <a:prstDash val="solid"/>
          </a:ln>
        </p:spPr>
      </p:sp>
      <p:sp>
        <p:nvSpPr>
          <p:cNvPr id="78" name="Text 75"/>
          <p:cNvSpPr txBox="1"/>
          <p:nvPr/>
        </p:nvSpPr>
        <p:spPr>
          <a:xfrm>
            <a:off x="2395728" y="8732520"/>
            <a:ext cx="4352544" cy="457200"/>
          </a:xfrm>
          <a:prstGeom prst="rect">
            <a:avLst/>
          </a:prstGeom>
          <a:noFill/>
          <a:ln/>
        </p:spPr>
        <p:txBody>
          <a:bodyPr wrap="square" lIns="0" tIns="0" rIns="0" bIns="0" rtlCol="0" anchor="ctr"/>
          <a:lstStyle/>
          <a:p>
            <a:pPr algn="ctr" indent="0" marL="0">
              <a:buNone/>
            </a:pPr>
            <a:r>
              <a:rPr lang="en-US" sz="1600" b="1" dirty="0">
                <a:solidFill>
                  <a:schemeClr val="tx2"/>
                </a:solidFill>
              </a:rPr>
              <a:t>AWS  ·  ECS Fargate, RDS</a:t>
            </a:r>
            <a:endParaRPr lang="en-US" sz="2400" dirty="0"/>
          </a:p>
        </p:txBody>
      </p:sp>
      <p:sp>
        <p:nvSpPr>
          <p:cNvPr id="79" name="Shape 76"/>
          <p:cNvSpPr/>
          <p:nvPr/>
        </p:nvSpPr>
        <p:spPr>
          <a:xfrm>
            <a:off x="7040880" y="8732520"/>
            <a:ext cx="2743200" cy="457200"/>
          </a:xfrm>
          <a:prstGeom prst="rect">
            <a:avLst/>
          </a:prstGeom>
          <a:solidFill>
            <a:schemeClr val="bg1"/>
          </a:solidFill>
          <a:ln w="25400">
            <a:solidFill>
              <a:schemeClr val="accent2"/>
            </a:solidFill>
            <a:prstDash val="solid"/>
          </a:ln>
        </p:spPr>
      </p:sp>
      <p:sp>
        <p:nvSpPr>
          <p:cNvPr id="80" name="Text 77"/>
          <p:cNvSpPr txBox="1"/>
          <p:nvPr/>
        </p:nvSpPr>
        <p:spPr>
          <a:xfrm>
            <a:off x="7150608" y="8732520"/>
            <a:ext cx="2523744" cy="457200"/>
          </a:xfrm>
          <a:prstGeom prst="rect">
            <a:avLst/>
          </a:prstGeom>
          <a:noFill/>
          <a:ln/>
        </p:spPr>
        <p:txBody>
          <a:bodyPr wrap="square" lIns="0" tIns="0" rIns="0" bIns="0" rtlCol="0" anchor="ctr"/>
          <a:lstStyle/>
          <a:p>
            <a:pPr algn="ctr" indent="0" marL="0">
              <a:buNone/>
            </a:pPr>
            <a:r>
              <a:rPr lang="en-US" sz="1600" b="1" dirty="0">
                <a:solidFill>
                  <a:schemeClr val="tx2"/>
                </a:solidFill>
              </a:rPr>
              <a:t>Terraform</a:t>
            </a:r>
            <a:endParaRPr lang="en-US" sz="2400" dirty="0"/>
          </a:p>
        </p:txBody>
      </p:sp>
      <p:sp>
        <p:nvSpPr>
          <p:cNvPr id="81" name="Shape 78"/>
          <p:cNvSpPr/>
          <p:nvPr/>
        </p:nvSpPr>
        <p:spPr>
          <a:xfrm>
            <a:off x="9966960" y="8732520"/>
            <a:ext cx="3931920" cy="457200"/>
          </a:xfrm>
          <a:prstGeom prst="rect">
            <a:avLst/>
          </a:prstGeom>
          <a:solidFill>
            <a:srgbClr val="CFFFEA"/>
          </a:solidFill>
          <a:ln w="19050">
            <a:solidFill>
              <a:schemeClr val="accent1"/>
            </a:solidFill>
            <a:prstDash val="solid"/>
          </a:ln>
        </p:spPr>
      </p:sp>
      <p:sp>
        <p:nvSpPr>
          <p:cNvPr id="82" name="Text 79"/>
          <p:cNvSpPr txBox="1"/>
          <p:nvPr/>
        </p:nvSpPr>
        <p:spPr>
          <a:xfrm>
            <a:off x="10076688" y="8732520"/>
            <a:ext cx="3712464" cy="457200"/>
          </a:xfrm>
          <a:prstGeom prst="rect">
            <a:avLst/>
          </a:prstGeom>
          <a:noFill/>
          <a:ln/>
        </p:spPr>
        <p:txBody>
          <a:bodyPr wrap="square" lIns="0" tIns="0" rIns="0" bIns="0" rtlCol="0" anchor="ctr"/>
          <a:lstStyle/>
          <a:p>
            <a:pPr algn="ctr" indent="0" marL="0">
              <a:buNone/>
            </a:pPr>
            <a:r>
              <a:rPr lang="en-US" sz="1600" b="1" dirty="0">
                <a:solidFill>
                  <a:schemeClr val="tx2"/>
                </a:solidFill>
              </a:rPr>
              <a:t>OpenTelemetry + Grafana</a:t>
            </a:r>
            <a:endParaRPr lang="en-US" sz="2400" dirty="0"/>
          </a:p>
        </p:txBody>
      </p:sp>
      <p:sp>
        <p:nvSpPr>
          <p:cNvPr id="83" name="Shape 80"/>
          <p:cNvSpPr/>
          <p:nvPr/>
        </p:nvSpPr>
        <p:spPr>
          <a:xfrm>
            <a:off x="14264640" y="2112264"/>
            <a:ext cx="292608" cy="292608"/>
          </a:xfrm>
          <a:prstGeom prst="rect">
            <a:avLst/>
          </a:prstGeom>
          <a:solidFill>
            <a:schemeClr val="tx2"/>
          </a:solidFill>
          <a:ln w="12700">
            <a:solidFill>
              <a:schemeClr val="tx2"/>
            </a:solidFill>
            <a:prstDash val="solid"/>
          </a:ln>
        </p:spPr>
      </p:sp>
      <p:sp>
        <p:nvSpPr>
          <p:cNvPr id="84" name="Text 81"/>
          <p:cNvSpPr txBox="1"/>
          <p:nvPr/>
        </p:nvSpPr>
        <p:spPr>
          <a:xfrm>
            <a:off x="14721840" y="2057400"/>
            <a:ext cx="2743200" cy="402336"/>
          </a:xfrm>
          <a:prstGeom prst="rect">
            <a:avLst/>
          </a:prstGeom>
          <a:noFill/>
          <a:ln/>
        </p:spPr>
        <p:txBody>
          <a:bodyPr wrap="square" lIns="0" tIns="0" rIns="0" bIns="0" rtlCol="0" anchor="ctr"/>
          <a:lstStyle/>
          <a:p>
            <a:pPr indent="0" marL="0">
              <a:buNone/>
            </a:pPr>
            <a:r>
              <a:rPr lang="en-US" sz="1500" dirty="0">
                <a:solidFill>
                  <a:schemeClr val="tx2"/>
                </a:solidFill>
              </a:rPr>
              <a:t>Built for Amperlane (your IP)</a:t>
            </a:r>
            <a:endParaRPr lang="en-US" sz="1500" dirty="0"/>
          </a:p>
        </p:txBody>
      </p:sp>
      <p:sp>
        <p:nvSpPr>
          <p:cNvPr id="85" name="Shape 82"/>
          <p:cNvSpPr/>
          <p:nvPr/>
        </p:nvSpPr>
        <p:spPr>
          <a:xfrm>
            <a:off x="14264640" y="2569464"/>
            <a:ext cx="292608" cy="292608"/>
          </a:xfrm>
          <a:prstGeom prst="rect">
            <a:avLst/>
          </a:prstGeom>
          <a:solidFill>
            <a:srgbClr val="CFFFEA"/>
          </a:solidFill>
          <a:ln w="19050">
            <a:solidFill>
              <a:schemeClr val="accent1"/>
            </a:solidFill>
            <a:prstDash val="solid"/>
          </a:ln>
        </p:spPr>
      </p:sp>
      <p:sp>
        <p:nvSpPr>
          <p:cNvPr id="86" name="Text 83"/>
          <p:cNvSpPr txBox="1"/>
          <p:nvPr/>
        </p:nvSpPr>
        <p:spPr>
          <a:xfrm>
            <a:off x="14721840" y="2514600"/>
            <a:ext cx="2743200" cy="402336"/>
          </a:xfrm>
          <a:prstGeom prst="rect">
            <a:avLst/>
          </a:prstGeom>
          <a:noFill/>
          <a:ln/>
        </p:spPr>
        <p:txBody>
          <a:bodyPr wrap="square" lIns="0" tIns="0" rIns="0" bIns="0" rtlCol="0" anchor="ctr"/>
          <a:lstStyle/>
          <a:p>
            <a:pPr indent="0" marL="0">
              <a:buNone/>
            </a:pPr>
            <a:r>
              <a:rPr lang="en-US" sz="1500" dirty="0">
                <a:solidFill>
                  <a:schemeClr val="tx2"/>
                </a:solidFill>
              </a:rPr>
              <a:t>Open source / open data</a:t>
            </a:r>
            <a:endParaRPr lang="en-US" sz="1500" dirty="0"/>
          </a:p>
        </p:txBody>
      </p:sp>
      <p:sp>
        <p:nvSpPr>
          <p:cNvPr id="87" name="Shape 84"/>
          <p:cNvSpPr/>
          <p:nvPr/>
        </p:nvSpPr>
        <p:spPr>
          <a:xfrm>
            <a:off x="14264640" y="3026664"/>
            <a:ext cx="292608" cy="292608"/>
          </a:xfrm>
          <a:prstGeom prst="rect">
            <a:avLst/>
          </a:prstGeom>
          <a:solidFill>
            <a:schemeClr val="bg1"/>
          </a:solidFill>
          <a:ln w="25400">
            <a:solidFill>
              <a:schemeClr val="accent2"/>
            </a:solidFill>
            <a:prstDash val="solid"/>
          </a:ln>
        </p:spPr>
      </p:sp>
      <p:sp>
        <p:nvSpPr>
          <p:cNvPr id="88" name="Text 85"/>
          <p:cNvSpPr txBox="1"/>
          <p:nvPr/>
        </p:nvSpPr>
        <p:spPr>
          <a:xfrm>
            <a:off x="14721840" y="2971800"/>
            <a:ext cx="2743200" cy="402336"/>
          </a:xfrm>
          <a:prstGeom prst="rect">
            <a:avLst/>
          </a:prstGeom>
          <a:noFill/>
          <a:ln/>
        </p:spPr>
        <p:txBody>
          <a:bodyPr wrap="square" lIns="0" tIns="0" rIns="0" bIns="0" rtlCol="0" anchor="ctr"/>
          <a:lstStyle/>
          <a:p>
            <a:pPr indent="0" marL="0">
              <a:buNone/>
            </a:pPr>
            <a:r>
              <a:rPr lang="en-US" sz="1500" dirty="0">
                <a:solidFill>
                  <a:schemeClr val="tx2"/>
                </a:solidFill>
              </a:rPr>
              <a:t>Commercial / managed</a:t>
            </a:r>
            <a:endParaRPr lang="en-US" sz="1500" dirty="0"/>
          </a:p>
        </p:txBody>
      </p:sp>
      <p:sp>
        <p:nvSpPr>
          <p:cNvPr id="89" name="Shape 86"/>
          <p:cNvSpPr/>
          <p:nvPr/>
        </p:nvSpPr>
        <p:spPr>
          <a:xfrm>
            <a:off x="14264640" y="5806440"/>
            <a:ext cx="3200400" cy="2651760"/>
          </a:xfrm>
          <a:prstGeom prst="rect">
            <a:avLst/>
          </a:prstGeom>
          <a:solidFill>
            <a:schemeClr val="bg2"/>
          </a:solidFill>
          <a:ln w="12700">
            <a:solidFill>
              <a:schemeClr val="bg2"/>
            </a:solidFill>
            <a:prstDash val="solid"/>
          </a:ln>
        </p:spPr>
      </p:sp>
      <p:sp>
        <p:nvSpPr>
          <p:cNvPr id="90" name="Text 87"/>
          <p:cNvSpPr txBox="1"/>
          <p:nvPr/>
        </p:nvSpPr>
        <p:spPr>
          <a:xfrm>
            <a:off x="14401800" y="5852160"/>
            <a:ext cx="2926080" cy="365760"/>
          </a:xfrm>
          <a:prstGeom prst="rect">
            <a:avLst/>
          </a:prstGeom>
          <a:noFill/>
          <a:ln/>
        </p:spPr>
        <p:txBody>
          <a:bodyPr wrap="square" lIns="0" tIns="0" rIns="0" bIns="0" rtlCol="0" anchor="ctr"/>
          <a:lstStyle/>
          <a:p>
            <a:pPr indent="0" marL="0">
              <a:buNone/>
            </a:pPr>
            <a:r>
              <a:rPr lang="en-US" sz="1500" b="1" dirty="0">
                <a:solidFill>
                  <a:schemeClr val="tx2"/>
                </a:solidFill>
              </a:rPr>
              <a:t>External data</a:t>
            </a:r>
            <a:endParaRPr lang="en-US" sz="1500" dirty="0"/>
          </a:p>
        </p:txBody>
      </p:sp>
      <p:sp>
        <p:nvSpPr>
          <p:cNvPr id="91" name="Shape 88"/>
          <p:cNvSpPr/>
          <p:nvPr/>
        </p:nvSpPr>
        <p:spPr>
          <a:xfrm>
            <a:off x="14401800" y="6263640"/>
            <a:ext cx="2926080" cy="640080"/>
          </a:xfrm>
          <a:prstGeom prst="rect">
            <a:avLst/>
          </a:prstGeom>
          <a:solidFill>
            <a:srgbClr val="CFFFEA"/>
          </a:solidFill>
          <a:ln w="19050">
            <a:solidFill>
              <a:schemeClr val="accent1"/>
            </a:solidFill>
            <a:prstDash val="solid"/>
          </a:ln>
        </p:spPr>
      </p:sp>
      <p:sp>
        <p:nvSpPr>
          <p:cNvPr id="92" name="Text 89"/>
          <p:cNvSpPr txBox="1"/>
          <p:nvPr/>
        </p:nvSpPr>
        <p:spPr>
          <a:xfrm>
            <a:off x="14511528" y="6263640"/>
            <a:ext cx="2706624" cy="640080"/>
          </a:xfrm>
          <a:prstGeom prst="rect">
            <a:avLst/>
          </a:prstGeom>
          <a:noFill/>
          <a:ln/>
        </p:spPr>
        <p:txBody>
          <a:bodyPr wrap="square" lIns="0" tIns="0" rIns="0" bIns="0" rtlCol="0" anchor="ctr"/>
          <a:lstStyle/>
          <a:p>
            <a:pPr algn="ctr" indent="0" marL="0">
              <a:buNone/>
            </a:pPr>
            <a:r>
              <a:rPr lang="en-US" sz="1400" b="1" dirty="0">
                <a:solidFill>
                  <a:schemeClr val="tx2"/>
                </a:solidFill>
              </a:rPr>
              <a:t>NLR AFDC + Open Charge Map</a:t>
            </a:r>
            <a:endParaRPr lang="en-US" sz="2400" dirty="0"/>
          </a:p>
          <a:p>
            <a:pPr algn="ctr" indent="0" marL="0">
              <a:buNone/>
            </a:pPr>
            <a:r>
              <a:rPr lang="en-US" sz="1400" dirty="0">
                <a:solidFill>
                  <a:srgbClr val="3A3A3A"/>
                </a:solidFill>
              </a:rPr>
              <a:t>discovery only</a:t>
            </a:r>
            <a:endParaRPr lang="en-US" sz="2400" dirty="0"/>
          </a:p>
        </p:txBody>
      </p:sp>
      <p:sp>
        <p:nvSpPr>
          <p:cNvPr id="93" name="Shape 90"/>
          <p:cNvSpPr/>
          <p:nvPr/>
        </p:nvSpPr>
        <p:spPr>
          <a:xfrm>
            <a:off x="14401800" y="6995160"/>
            <a:ext cx="2926080" cy="640080"/>
          </a:xfrm>
          <a:prstGeom prst="rect">
            <a:avLst/>
          </a:prstGeom>
          <a:solidFill>
            <a:srgbClr val="CFFFEA"/>
          </a:solidFill>
          <a:ln w="19050">
            <a:solidFill>
              <a:schemeClr val="accent1"/>
            </a:solidFill>
            <a:prstDash val="solid"/>
          </a:ln>
        </p:spPr>
      </p:sp>
      <p:sp>
        <p:nvSpPr>
          <p:cNvPr id="94" name="Text 91"/>
          <p:cNvSpPr txBox="1"/>
          <p:nvPr/>
        </p:nvSpPr>
        <p:spPr>
          <a:xfrm>
            <a:off x="14511528" y="6995160"/>
            <a:ext cx="2706624" cy="640080"/>
          </a:xfrm>
          <a:prstGeom prst="rect">
            <a:avLst/>
          </a:prstGeom>
          <a:noFill/>
          <a:ln/>
        </p:spPr>
        <p:txBody>
          <a:bodyPr wrap="square" lIns="0" tIns="0" rIns="0" bIns="0" rtlCol="0" anchor="ctr"/>
          <a:lstStyle/>
          <a:p>
            <a:pPr algn="ctr" indent="0" marL="0">
              <a:buNone/>
            </a:pPr>
            <a:r>
              <a:rPr lang="en-US" sz="1400" b="1" dirty="0">
                <a:solidFill>
                  <a:schemeClr val="tx2"/>
                </a:solidFill>
              </a:rPr>
              <a:t>OpenEI URDB</a:t>
            </a:r>
            <a:endParaRPr lang="en-US" sz="2400" dirty="0"/>
          </a:p>
          <a:p>
            <a:pPr algn="ctr" indent="0" marL="0">
              <a:buNone/>
            </a:pPr>
            <a:r>
              <a:rPr lang="en-US" sz="1400" dirty="0">
                <a:solidFill>
                  <a:srgbClr val="3A3A3A"/>
                </a:solidFill>
              </a:rPr>
              <a:t>tariff context</a:t>
            </a:r>
            <a:endParaRPr lang="en-US" sz="2400" dirty="0"/>
          </a:p>
        </p:txBody>
      </p:sp>
      <p:sp>
        <p:nvSpPr>
          <p:cNvPr id="95" name="Shape 92"/>
          <p:cNvSpPr/>
          <p:nvPr/>
        </p:nvSpPr>
        <p:spPr>
          <a:xfrm>
            <a:off x="14401800" y="7726680"/>
            <a:ext cx="2926080" cy="640080"/>
          </a:xfrm>
          <a:prstGeom prst="rect">
            <a:avLst/>
          </a:prstGeom>
          <a:solidFill>
            <a:srgbClr val="CFFFEA"/>
          </a:solidFill>
          <a:ln w="19050">
            <a:solidFill>
              <a:schemeClr val="accent1"/>
            </a:solidFill>
            <a:prstDash val="solid"/>
          </a:ln>
        </p:spPr>
      </p:sp>
      <p:sp>
        <p:nvSpPr>
          <p:cNvPr id="96" name="Text 93"/>
          <p:cNvSpPr txBox="1"/>
          <p:nvPr/>
        </p:nvSpPr>
        <p:spPr>
          <a:xfrm>
            <a:off x="14511528" y="7726680"/>
            <a:ext cx="2706624" cy="640080"/>
          </a:xfrm>
          <a:prstGeom prst="rect">
            <a:avLst/>
          </a:prstGeom>
          <a:noFill/>
          <a:ln/>
        </p:spPr>
        <p:txBody>
          <a:bodyPr wrap="square" lIns="0" tIns="0" rIns="0" bIns="0" rtlCol="0" anchor="ctr"/>
          <a:lstStyle/>
          <a:p>
            <a:pPr algn="ctr" indent="0" marL="0">
              <a:buNone/>
            </a:pPr>
            <a:r>
              <a:rPr lang="en-US" sz="1400" b="1" dirty="0">
                <a:solidFill>
                  <a:schemeClr val="tx2"/>
                </a:solidFill>
              </a:rPr>
              <a:t>Valhalla on OSM</a:t>
            </a:r>
            <a:endParaRPr lang="en-US" sz="2400" dirty="0"/>
          </a:p>
          <a:p>
            <a:pPr algn="ctr" indent="0" marL="0">
              <a:buNone/>
            </a:pPr>
            <a:r>
              <a:rPr lang="en-US" sz="1400" dirty="0">
                <a:solidFill>
                  <a:srgbClr val="3A3A3A"/>
                </a:solidFill>
              </a:rPr>
              <a:t>routing, ETA (or Mapbox)</a:t>
            </a:r>
            <a:endParaRPr lang="en-US" sz="2400" dirty="0"/>
          </a:p>
        </p:txBody>
      </p:sp>
      <p:sp>
        <p:nvSpPr>
          <p:cNvPr id="97" name="Shape 94"/>
          <p:cNvSpPr/>
          <p:nvPr/>
        </p:nvSpPr>
        <p:spPr>
          <a:xfrm flipH="1">
            <a:off x="13935456" y="6675120"/>
            <a:ext cx="292608" cy="914"/>
          </a:xfrm>
          <a:prstGeom prst="line">
            <a:avLst/>
          </a:prstGeom>
          <a:noFill/>
          <a:ln w="25400">
            <a:solidFill>
              <a:srgbClr val="6F6F6F"/>
            </a:solidFill>
            <a:prstDash val="solid"/>
            <a:tailEnd type="triangle"/>
          </a:ln>
        </p:spPr>
      </p:sp>
      <p:sp>
        <p:nvSpPr>
          <p:cNvPr id="25" name="Slide Number Placeholder 0"/>
          <p:cNvSpPr>
            <a:spLocks noGrp="1"/>
          </p:cNvSpPr>
          <p:nvPr>
            <p:ph type="sldNum" sz="quarter" idx="4294967295"/>
          </p:nvPr>
        </p:nvSpPr>
        <p:spPr>
          <a:xfrm>
            <a:off x="16642080" y="9646920"/>
            <a:ext cx="822960" cy="347472"/>
          </a:xfrm>
          <a:prstGeom prst="rect">
            <a:avLst/>
          </a:prstGeom>
          <a:extLst>
            <a:ext uri="{C572A759-6A51-4108-AA02-DFA0A04FC94B}">
              <ma14:wrappingTextBoxFlag xmlns:ma14="http://schemas.microsoft.com/office/mac/drawingml/2011/main" val="0"/>
            </a:ext>
          </a:extLst>
        </p:spPr>
        <p:txBody>
          <a:bodyPr/>
          <a:lstStyle>
            <a:lvl1pPr>
              <a:defRPr sz="1500">
                <a:solidFill>
                  <a:schemeClr val="tx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header"/>
          <p:cNvSpPr txBox="1"/>
          <p:nvPr/>
        </p:nvSpPr>
        <p:spPr>
          <a:xfrm>
            <a:off x="822960" y="219456"/>
            <a:ext cx="10972800" cy="347472"/>
          </a:xfrm>
          <a:prstGeom prst="rect">
            <a:avLst/>
          </a:prstGeom>
          <a:noFill/>
          <a:ln/>
        </p:spPr>
        <p:txBody>
          <a:bodyPr wrap="square" lIns="0" tIns="0" rIns="0" bIns="0" rtlCol="0" anchor="ctr"/>
          <a:lstStyle/>
          <a:p>
            <a:pPr indent="0" marL="0">
              <a:buNone/>
            </a:pPr>
            <a:r>
              <a:rPr lang="en-US" sz="1500" dirty="0">
                <a:solidFill>
                  <a:schemeClr val="tx1"/>
                </a:solidFill>
              </a:rPr>
              <a:t>amperlane/02-solution</a:t>
            </a:r>
            <a:endParaRPr lang="en-US" sz="1500" dirty="0"/>
          </a:p>
        </p:txBody>
      </p:sp>
      <p:sp>
        <p:nvSpPr>
          <p:cNvPr id="3" name="Text 0"/>
          <p:cNvSpPr/>
          <p:nvPr>
            <p:ph idx="100" type="title" hasCustomPrompt="1"/>
          </p:nvPr>
        </p:nvSpPr>
        <p:spPr>
          <a:xfrm>
            <a:off x="822960" y="841248"/>
            <a:ext cx="16642080" cy="1005840"/>
          </a:xfrm>
          <a:prstGeom prst="rect">
            <a:avLst/>
          </a:prstGeom>
          <a:noFill/>
          <a:ln/>
        </p:spPr>
        <p:txBody>
          <a:bodyPr wrap="square" lIns="0" tIns="0" rIns="0" bIns="0" rtlCol="0" anchor="t"/>
          <a:lstStyle/>
          <a:p>
            <a:pPr algn="l" indent="0" marL="0">
              <a:buNone/>
            </a:pPr>
            <a:r>
              <a:rPr lang="en-US" sz="4500" dirty="0">
                <a:solidFill>
                  <a:schemeClr val="tx1"/>
                </a:solidFill>
              </a:rPr>
              <a:t>Open source vs commercial</a:t>
            </a:r>
            <a:endParaRPr lang="en-US" sz="4500" dirty="0"/>
          </a:p>
        </p:txBody>
      </p:sp>
      <p:sp>
        <p:nvSpPr>
          <p:cNvPr id="5" name="Shape 2"/>
          <p:cNvSpPr/>
          <p:nvPr/>
        </p:nvSpPr>
        <p:spPr>
          <a:xfrm>
            <a:off x="822960" y="2057400"/>
            <a:ext cx="329184" cy="329184"/>
          </a:xfrm>
          <a:prstGeom prst="rect">
            <a:avLst/>
          </a:prstGeom>
          <a:solidFill>
            <a:srgbClr val="CFFFEA"/>
          </a:solidFill>
          <a:ln w="19050">
            <a:solidFill>
              <a:schemeClr val="accent1"/>
            </a:solidFill>
            <a:prstDash val="solid"/>
          </a:ln>
        </p:spPr>
      </p:sp>
      <p:sp>
        <p:nvSpPr>
          <p:cNvPr id="6" name="Text 3"/>
          <p:cNvSpPr txBox="1"/>
          <p:nvPr/>
        </p:nvSpPr>
        <p:spPr>
          <a:xfrm>
            <a:off x="1325880" y="1965960"/>
            <a:ext cx="8275320" cy="512064"/>
          </a:xfrm>
          <a:prstGeom prst="rect">
            <a:avLst/>
          </a:prstGeom>
          <a:noFill/>
          <a:ln/>
        </p:spPr>
        <p:txBody>
          <a:bodyPr wrap="square" lIns="0" tIns="0" rIns="0" bIns="0" rtlCol="0" anchor="ctr"/>
          <a:lstStyle/>
          <a:p>
            <a:pPr indent="0" marL="0">
              <a:buNone/>
            </a:pPr>
            <a:r>
              <a:rPr lang="en-US" sz="2000" b="1" dirty="0">
                <a:solidFill>
                  <a:schemeClr val="tx2"/>
                </a:solidFill>
              </a:rPr>
              <a:t>Open source</a:t>
            </a:r>
            <a:pPr indent="0" marL="0">
              <a:buNone/>
            </a:pPr>
            <a:r>
              <a:rPr lang="en-US" sz="2000" dirty="0">
                <a:solidFill>
                  <a:srgbClr val="6F6F6F"/>
                </a:solidFill>
              </a:rPr>
              <a:t>   own the code, no lock-in</a:t>
            </a:r>
            <a:endParaRPr lang="en-US" sz="2000" dirty="0"/>
          </a:p>
        </p:txBody>
      </p:sp>
      <p:sp>
        <p:nvSpPr>
          <p:cNvPr id="7" name="Shape 4"/>
          <p:cNvSpPr/>
          <p:nvPr/>
        </p:nvSpPr>
        <p:spPr>
          <a:xfrm>
            <a:off x="822960" y="2651760"/>
            <a:ext cx="8778240" cy="649224"/>
          </a:xfrm>
          <a:prstGeom prst="rect">
            <a:avLst/>
          </a:prstGeom>
          <a:solidFill>
            <a:schemeClr val="bg2"/>
          </a:solidFill>
          <a:ln w="12700">
            <a:solidFill>
              <a:schemeClr val="bg2"/>
            </a:solidFill>
            <a:prstDash val="solid"/>
          </a:ln>
        </p:spPr>
      </p:sp>
      <p:sp>
        <p:nvSpPr>
          <p:cNvPr id="8" name="Text 5"/>
          <p:cNvSpPr txBox="1"/>
          <p:nvPr/>
        </p:nvSpPr>
        <p:spPr>
          <a:xfrm>
            <a:off x="1051560" y="2679192"/>
            <a:ext cx="8321040" cy="310896"/>
          </a:xfrm>
          <a:prstGeom prst="rect">
            <a:avLst/>
          </a:prstGeom>
          <a:noFill/>
          <a:ln/>
        </p:spPr>
        <p:txBody>
          <a:bodyPr wrap="square" lIns="0" tIns="0" rIns="0" bIns="0" rtlCol="0" anchor="ctr"/>
          <a:lstStyle/>
          <a:p>
            <a:pPr indent="0" marL="0">
              <a:buNone/>
            </a:pPr>
            <a:r>
              <a:rPr lang="en-US" sz="1800" b="1" dirty="0">
                <a:solidFill>
                  <a:schemeClr val="tx2"/>
                </a:solidFill>
              </a:rPr>
              <a:t>NestJS (TypeScript)</a:t>
            </a:r>
            <a:pPr indent="0" marL="0">
              <a:buNone/>
            </a:pPr>
            <a:r>
              <a:rPr lang="en-US" sz="1800" dirty="0">
                <a:solidFill>
                  <a:srgbClr val="007A4D"/>
                </a:solidFill>
              </a:rPr>
              <a:t>  ·  MIT</a:t>
            </a:r>
            <a:endParaRPr lang="en-US" sz="1800" dirty="0"/>
          </a:p>
        </p:txBody>
      </p:sp>
      <p:sp>
        <p:nvSpPr>
          <p:cNvPr id="9" name="Text 6"/>
          <p:cNvSpPr txBox="1"/>
          <p:nvPr/>
        </p:nvSpPr>
        <p:spPr>
          <a:xfrm>
            <a:off x="1051560" y="2980944"/>
            <a:ext cx="8321040" cy="292608"/>
          </a:xfrm>
          <a:prstGeom prst="rect">
            <a:avLst/>
          </a:prstGeom>
          <a:noFill/>
          <a:ln/>
        </p:spPr>
        <p:txBody>
          <a:bodyPr wrap="square" lIns="0" tIns="0" rIns="0" bIns="0" rtlCol="0" anchor="ctr"/>
          <a:lstStyle/>
          <a:p>
            <a:pPr indent="0" marL="0">
              <a:buNone/>
            </a:pPr>
            <a:r>
              <a:rPr lang="en-US" sz="1600" dirty="0">
                <a:solidFill>
                  <a:srgbClr val="3A3A3A"/>
                </a:solidFill>
              </a:rPr>
              <a:t>Modular monolith in the stack your team prefers</a:t>
            </a:r>
            <a:endParaRPr lang="en-US" sz="1600" dirty="0"/>
          </a:p>
        </p:txBody>
      </p:sp>
      <p:sp>
        <p:nvSpPr>
          <p:cNvPr id="10" name="Shape 7"/>
          <p:cNvSpPr/>
          <p:nvPr/>
        </p:nvSpPr>
        <p:spPr>
          <a:xfrm>
            <a:off x="822960" y="3374136"/>
            <a:ext cx="8778240" cy="649224"/>
          </a:xfrm>
          <a:prstGeom prst="rect">
            <a:avLst/>
          </a:prstGeom>
          <a:solidFill>
            <a:schemeClr val="bg2"/>
          </a:solidFill>
          <a:ln w="12700">
            <a:solidFill>
              <a:schemeClr val="bg2"/>
            </a:solidFill>
            <a:prstDash val="solid"/>
          </a:ln>
        </p:spPr>
      </p:sp>
      <p:sp>
        <p:nvSpPr>
          <p:cNvPr id="11" name="Text 8"/>
          <p:cNvSpPr txBox="1"/>
          <p:nvPr/>
        </p:nvSpPr>
        <p:spPr>
          <a:xfrm>
            <a:off x="1051560" y="3401568"/>
            <a:ext cx="8321040" cy="310896"/>
          </a:xfrm>
          <a:prstGeom prst="rect">
            <a:avLst/>
          </a:prstGeom>
          <a:noFill/>
          <a:ln/>
        </p:spPr>
        <p:txBody>
          <a:bodyPr wrap="square" lIns="0" tIns="0" rIns="0" bIns="0" rtlCol="0" anchor="ctr"/>
          <a:lstStyle/>
          <a:p>
            <a:pPr indent="0" marL="0">
              <a:buNone/>
            </a:pPr>
            <a:r>
              <a:rPr lang="en-US" sz="1800" b="1" dirty="0">
                <a:solidFill>
                  <a:schemeClr val="tx2"/>
                </a:solidFill>
              </a:rPr>
              <a:t>PostgreSQL + PostGIS</a:t>
            </a:r>
            <a:pPr indent="0" marL="0">
              <a:buNone/>
            </a:pPr>
            <a:r>
              <a:rPr lang="en-US" sz="1800" dirty="0">
                <a:solidFill>
                  <a:srgbClr val="007A4D"/>
                </a:solidFill>
              </a:rPr>
              <a:t>  ·  PostgreSQL Licence / GPL-2.0</a:t>
            </a:r>
            <a:endParaRPr lang="en-US" sz="1800" dirty="0"/>
          </a:p>
        </p:txBody>
      </p:sp>
      <p:sp>
        <p:nvSpPr>
          <p:cNvPr id="12" name="Text 9"/>
          <p:cNvSpPr txBox="1"/>
          <p:nvPr/>
        </p:nvSpPr>
        <p:spPr>
          <a:xfrm>
            <a:off x="1051560" y="3703320"/>
            <a:ext cx="8321040" cy="292608"/>
          </a:xfrm>
          <a:prstGeom prst="rect">
            <a:avLst/>
          </a:prstGeom>
          <a:noFill/>
          <a:ln/>
        </p:spPr>
        <p:txBody>
          <a:bodyPr wrap="square" lIns="0" tIns="0" rIns="0" bIns="0" rtlCol="0" anchor="ctr"/>
          <a:lstStyle/>
          <a:p>
            <a:pPr indent="0" marL="0">
              <a:buNone/>
            </a:pPr>
            <a:r>
              <a:rPr lang="en-US" sz="1600" dirty="0">
                <a:solidFill>
                  <a:srgbClr val="3A3A3A"/>
                </a:solidFill>
              </a:rPr>
              <a:t>Exclusion constraints and geo queries in one database</a:t>
            </a:r>
            <a:endParaRPr lang="en-US" sz="1600" dirty="0"/>
          </a:p>
        </p:txBody>
      </p:sp>
      <p:sp>
        <p:nvSpPr>
          <p:cNvPr id="13" name="Shape 10"/>
          <p:cNvSpPr/>
          <p:nvPr/>
        </p:nvSpPr>
        <p:spPr>
          <a:xfrm>
            <a:off x="822960" y="4096512"/>
            <a:ext cx="8778240" cy="649224"/>
          </a:xfrm>
          <a:prstGeom prst="rect">
            <a:avLst/>
          </a:prstGeom>
          <a:solidFill>
            <a:schemeClr val="bg2"/>
          </a:solidFill>
          <a:ln w="12700">
            <a:solidFill>
              <a:schemeClr val="bg2"/>
            </a:solidFill>
            <a:prstDash val="solid"/>
          </a:ln>
        </p:spPr>
      </p:sp>
      <p:sp>
        <p:nvSpPr>
          <p:cNvPr id="14" name="Text 11"/>
          <p:cNvSpPr txBox="1"/>
          <p:nvPr/>
        </p:nvSpPr>
        <p:spPr>
          <a:xfrm>
            <a:off x="1051560" y="4123944"/>
            <a:ext cx="8321040" cy="310896"/>
          </a:xfrm>
          <a:prstGeom prst="rect">
            <a:avLst/>
          </a:prstGeom>
          <a:noFill/>
          <a:ln/>
        </p:spPr>
        <p:txBody>
          <a:bodyPr wrap="square" lIns="0" tIns="0" rIns="0" bIns="0" rtlCol="0" anchor="ctr"/>
          <a:lstStyle/>
          <a:p>
            <a:pPr indent="0" marL="0">
              <a:buNone/>
            </a:pPr>
            <a:r>
              <a:rPr lang="en-US" sz="1800" b="1" dirty="0">
                <a:solidFill>
                  <a:schemeClr val="tx2"/>
                </a:solidFill>
              </a:rPr>
              <a:t>PostgreSQL partitioning (RDS)</a:t>
            </a:r>
            <a:pPr indent="0" marL="0">
              <a:buNone/>
            </a:pPr>
            <a:r>
              <a:rPr lang="en-US" sz="1800" dirty="0">
                <a:solidFill>
                  <a:srgbClr val="007A4D"/>
                </a:solidFill>
              </a:rPr>
              <a:t>  ·  built in</a:t>
            </a:r>
            <a:endParaRPr lang="en-US" sz="1800" dirty="0"/>
          </a:p>
        </p:txBody>
      </p:sp>
      <p:sp>
        <p:nvSpPr>
          <p:cNvPr id="15" name="Text 12"/>
          <p:cNvSpPr txBox="1"/>
          <p:nvPr/>
        </p:nvSpPr>
        <p:spPr>
          <a:xfrm>
            <a:off x="1051560" y="4425696"/>
            <a:ext cx="8321040" cy="292608"/>
          </a:xfrm>
          <a:prstGeom prst="rect">
            <a:avLst/>
          </a:prstGeom>
          <a:noFill/>
          <a:ln/>
        </p:spPr>
        <p:txBody>
          <a:bodyPr wrap="square" lIns="0" tIns="0" rIns="0" bIns="0" rtlCol="0" anchor="ctr"/>
          <a:lstStyle/>
          <a:p>
            <a:pPr indent="0" marL="0">
              <a:buNone/>
            </a:pPr>
            <a:r>
              <a:rPr lang="en-US" sz="1600" dirty="0">
                <a:solidFill>
                  <a:srgbClr val="3A3A3A"/>
                </a:solidFill>
              </a:rPr>
              <a:t>MVP time series; TimescaleDB later only if volume justifies (Timescale License)</a:t>
            </a:r>
            <a:endParaRPr lang="en-US" sz="1600" dirty="0"/>
          </a:p>
        </p:txBody>
      </p:sp>
      <p:sp>
        <p:nvSpPr>
          <p:cNvPr id="16" name="Shape 13"/>
          <p:cNvSpPr/>
          <p:nvPr/>
        </p:nvSpPr>
        <p:spPr>
          <a:xfrm>
            <a:off x="822960" y="4818888"/>
            <a:ext cx="8778240" cy="649224"/>
          </a:xfrm>
          <a:prstGeom prst="rect">
            <a:avLst/>
          </a:prstGeom>
          <a:solidFill>
            <a:schemeClr val="bg2"/>
          </a:solidFill>
          <a:ln w="12700">
            <a:solidFill>
              <a:schemeClr val="bg2"/>
            </a:solidFill>
            <a:prstDash val="solid"/>
          </a:ln>
        </p:spPr>
      </p:sp>
      <p:sp>
        <p:nvSpPr>
          <p:cNvPr id="17" name="Text 14"/>
          <p:cNvSpPr txBox="1"/>
          <p:nvPr/>
        </p:nvSpPr>
        <p:spPr>
          <a:xfrm>
            <a:off x="1051560" y="4846320"/>
            <a:ext cx="8321040" cy="310896"/>
          </a:xfrm>
          <a:prstGeom prst="rect">
            <a:avLst/>
          </a:prstGeom>
          <a:noFill/>
          <a:ln/>
        </p:spPr>
        <p:txBody>
          <a:bodyPr wrap="square" lIns="0" tIns="0" rIns="0" bIns="0" rtlCol="0" anchor="ctr"/>
          <a:lstStyle/>
          <a:p>
            <a:pPr indent="0" marL="0">
              <a:buNone/>
            </a:pPr>
            <a:r>
              <a:rPr lang="en-US" sz="1800" b="1" dirty="0">
                <a:solidFill>
                  <a:schemeClr val="tx2"/>
                </a:solidFill>
              </a:rPr>
              <a:t>Valkey (on ElastiCache)</a:t>
            </a:r>
            <a:pPr indent="0" marL="0">
              <a:buNone/>
            </a:pPr>
            <a:r>
              <a:rPr lang="en-US" sz="1800" dirty="0">
                <a:solidFill>
                  <a:srgbClr val="007A4D"/>
                </a:solidFill>
              </a:rPr>
              <a:t>  ·  BSD-3</a:t>
            </a:r>
            <a:endParaRPr lang="en-US" sz="1800" dirty="0"/>
          </a:p>
        </p:txBody>
      </p:sp>
      <p:sp>
        <p:nvSpPr>
          <p:cNvPr id="18" name="Text 15"/>
          <p:cNvSpPr txBox="1"/>
          <p:nvPr/>
        </p:nvSpPr>
        <p:spPr>
          <a:xfrm>
            <a:off x="1051560" y="5148072"/>
            <a:ext cx="8321040" cy="292608"/>
          </a:xfrm>
          <a:prstGeom prst="rect">
            <a:avLst/>
          </a:prstGeom>
          <a:noFill/>
          <a:ln/>
        </p:spPr>
        <p:txBody>
          <a:bodyPr wrap="square" lIns="0" tIns="0" rIns="0" bIns="0" rtlCol="0" anchor="ctr"/>
          <a:lstStyle/>
          <a:p>
            <a:pPr indent="0" marL="0">
              <a:buNone/>
            </a:pPr>
            <a:r>
              <a:rPr lang="en-US" sz="1600" dirty="0">
                <a:solidFill>
                  <a:srgbClr val="3A3A3A"/>
                </a:solidFill>
              </a:rPr>
              <a:t>Rate limiting and idempotency cache; holds stay in Postgres</a:t>
            </a:r>
            <a:endParaRPr lang="en-US" sz="1600" dirty="0"/>
          </a:p>
        </p:txBody>
      </p:sp>
      <p:sp>
        <p:nvSpPr>
          <p:cNvPr id="19" name="Shape 16"/>
          <p:cNvSpPr/>
          <p:nvPr/>
        </p:nvSpPr>
        <p:spPr>
          <a:xfrm>
            <a:off x="822960" y="5541264"/>
            <a:ext cx="8778240" cy="649224"/>
          </a:xfrm>
          <a:prstGeom prst="rect">
            <a:avLst/>
          </a:prstGeom>
          <a:solidFill>
            <a:schemeClr val="bg2"/>
          </a:solidFill>
          <a:ln w="12700">
            <a:solidFill>
              <a:schemeClr val="bg2"/>
            </a:solidFill>
            <a:prstDash val="solid"/>
          </a:ln>
        </p:spPr>
      </p:sp>
      <p:sp>
        <p:nvSpPr>
          <p:cNvPr id="20" name="Text 17"/>
          <p:cNvSpPr txBox="1"/>
          <p:nvPr/>
        </p:nvSpPr>
        <p:spPr>
          <a:xfrm>
            <a:off x="1051560" y="5568696"/>
            <a:ext cx="8321040" cy="310896"/>
          </a:xfrm>
          <a:prstGeom prst="rect">
            <a:avLst/>
          </a:prstGeom>
          <a:noFill/>
          <a:ln/>
        </p:spPr>
        <p:txBody>
          <a:bodyPr wrap="square" lIns="0" tIns="0" rIns="0" bIns="0" rtlCol="0" anchor="ctr"/>
          <a:lstStyle/>
          <a:p>
            <a:pPr indent="0" marL="0">
              <a:buNone/>
            </a:pPr>
            <a:r>
              <a:rPr lang="en-US" sz="1800" b="1" dirty="0">
                <a:solidFill>
                  <a:schemeClr val="tx2"/>
                </a:solidFill>
              </a:rPr>
              <a:t>Temporal</a:t>
            </a:r>
            <a:pPr indent="0" marL="0">
              <a:buNone/>
            </a:pPr>
            <a:r>
              <a:rPr lang="en-US" sz="1800" dirty="0">
                <a:solidFill>
                  <a:srgbClr val="007A4D"/>
                </a:solidFill>
              </a:rPr>
              <a:t>  ·  MIT</a:t>
            </a:r>
            <a:endParaRPr lang="en-US" sz="1800" dirty="0"/>
          </a:p>
        </p:txBody>
      </p:sp>
      <p:sp>
        <p:nvSpPr>
          <p:cNvPr id="21" name="Text 18"/>
          <p:cNvSpPr txBox="1"/>
          <p:nvPr/>
        </p:nvSpPr>
        <p:spPr>
          <a:xfrm>
            <a:off x="1051560" y="5870448"/>
            <a:ext cx="8321040" cy="292608"/>
          </a:xfrm>
          <a:prstGeom prst="rect">
            <a:avLst/>
          </a:prstGeom>
          <a:noFill/>
          <a:ln/>
        </p:spPr>
        <p:txBody>
          <a:bodyPr wrap="square" lIns="0" tIns="0" rIns="0" bIns="0" rtlCol="0" anchor="ctr"/>
          <a:lstStyle/>
          <a:p>
            <a:pPr indent="0" marL="0">
              <a:buNone/>
            </a:pPr>
            <a:r>
              <a:rPr lang="en-US" sz="1600" dirty="0">
                <a:solidFill>
                  <a:srgbClr val="3A3A3A"/>
                </a:solidFill>
              </a:rPr>
              <a:t>Durable timers; self-hosted vs Temporal Cloud, both costed in proposal</a:t>
            </a:r>
            <a:endParaRPr lang="en-US" sz="1600" dirty="0"/>
          </a:p>
        </p:txBody>
      </p:sp>
      <p:sp>
        <p:nvSpPr>
          <p:cNvPr id="22" name="Shape 19"/>
          <p:cNvSpPr/>
          <p:nvPr/>
        </p:nvSpPr>
        <p:spPr>
          <a:xfrm>
            <a:off x="822960" y="6263640"/>
            <a:ext cx="8778240" cy="649224"/>
          </a:xfrm>
          <a:prstGeom prst="rect">
            <a:avLst/>
          </a:prstGeom>
          <a:solidFill>
            <a:schemeClr val="bg2"/>
          </a:solidFill>
          <a:ln w="12700">
            <a:solidFill>
              <a:schemeClr val="bg2"/>
            </a:solidFill>
            <a:prstDash val="solid"/>
          </a:ln>
        </p:spPr>
      </p:sp>
      <p:sp>
        <p:nvSpPr>
          <p:cNvPr id="23" name="Text 20"/>
          <p:cNvSpPr txBox="1"/>
          <p:nvPr/>
        </p:nvSpPr>
        <p:spPr>
          <a:xfrm>
            <a:off x="1051560" y="6291072"/>
            <a:ext cx="8321040" cy="310896"/>
          </a:xfrm>
          <a:prstGeom prst="rect">
            <a:avLst/>
          </a:prstGeom>
          <a:noFill/>
          <a:ln/>
        </p:spPr>
        <p:txBody>
          <a:bodyPr wrap="square" lIns="0" tIns="0" rIns="0" bIns="0" rtlCol="0" anchor="ctr"/>
          <a:lstStyle/>
          <a:p>
            <a:pPr indent="0" marL="0">
              <a:buNone/>
            </a:pPr>
            <a:r>
              <a:rPr lang="en-US" sz="1800" b="1" dirty="0">
                <a:solidFill>
                  <a:schemeClr val="tx2"/>
                </a:solidFill>
              </a:rPr>
              <a:t>Keycloak</a:t>
            </a:r>
            <a:pPr indent="0" marL="0">
              <a:buNone/>
            </a:pPr>
            <a:r>
              <a:rPr lang="en-US" sz="1800" dirty="0">
                <a:solidFill>
                  <a:srgbClr val="007A4D"/>
                </a:solidFill>
              </a:rPr>
              <a:t>  ·  Apache-2.0</a:t>
            </a:r>
            <a:endParaRPr lang="en-US" sz="1800" dirty="0"/>
          </a:p>
        </p:txBody>
      </p:sp>
      <p:sp>
        <p:nvSpPr>
          <p:cNvPr id="24" name="Text 21"/>
          <p:cNvSpPr txBox="1"/>
          <p:nvPr/>
        </p:nvSpPr>
        <p:spPr>
          <a:xfrm>
            <a:off x="1051560" y="6592824"/>
            <a:ext cx="8321040" cy="292608"/>
          </a:xfrm>
          <a:prstGeom prst="rect">
            <a:avLst/>
          </a:prstGeom>
          <a:noFill/>
          <a:ln/>
        </p:spPr>
        <p:txBody>
          <a:bodyPr wrap="square" lIns="0" tIns="0" rIns="0" bIns="0" rtlCol="0" anchor="ctr"/>
          <a:lstStyle/>
          <a:p>
            <a:pPr indent="0" marL="0">
              <a:buNone/>
            </a:pPr>
            <a:r>
              <a:rPr lang="en-US" sz="1600" dirty="0">
                <a:solidFill>
                  <a:srgbClr val="3A3A3A"/>
                </a:solidFill>
              </a:rPr>
              <a:t>SSO and roles across four portals</a:t>
            </a:r>
            <a:endParaRPr lang="en-US" sz="1600" dirty="0"/>
          </a:p>
        </p:txBody>
      </p:sp>
      <p:sp>
        <p:nvSpPr>
          <p:cNvPr id="25" name="Shape 22"/>
          <p:cNvSpPr/>
          <p:nvPr/>
        </p:nvSpPr>
        <p:spPr>
          <a:xfrm>
            <a:off x="822960" y="6986016"/>
            <a:ext cx="8778240" cy="649224"/>
          </a:xfrm>
          <a:prstGeom prst="rect">
            <a:avLst/>
          </a:prstGeom>
          <a:solidFill>
            <a:schemeClr val="bg2"/>
          </a:solidFill>
          <a:ln w="12700">
            <a:solidFill>
              <a:schemeClr val="bg2"/>
            </a:solidFill>
            <a:prstDash val="solid"/>
          </a:ln>
        </p:spPr>
      </p:sp>
      <p:sp>
        <p:nvSpPr>
          <p:cNvPr id="26" name="Text 23"/>
          <p:cNvSpPr txBox="1"/>
          <p:nvPr/>
        </p:nvSpPr>
        <p:spPr>
          <a:xfrm>
            <a:off x="1051560" y="7013448"/>
            <a:ext cx="8321040" cy="310896"/>
          </a:xfrm>
          <a:prstGeom prst="rect">
            <a:avLst/>
          </a:prstGeom>
          <a:noFill/>
          <a:ln/>
        </p:spPr>
        <p:txBody>
          <a:bodyPr wrap="square" lIns="0" tIns="0" rIns="0" bIns="0" rtlCol="0" anchor="ctr"/>
          <a:lstStyle/>
          <a:p>
            <a:pPr indent="0" marL="0">
              <a:buNone/>
            </a:pPr>
            <a:r>
              <a:rPr lang="en-US" sz="1800" b="1" dirty="0">
                <a:solidFill>
                  <a:schemeClr val="tx2"/>
                </a:solidFill>
              </a:rPr>
              <a:t>CitrineOS (LF Energy)</a:t>
            </a:r>
            <a:pPr indent="0" marL="0">
              <a:buNone/>
            </a:pPr>
            <a:r>
              <a:rPr lang="en-US" sz="1800" dirty="0">
                <a:solidFill>
                  <a:srgbClr val="007A4D"/>
                </a:solidFill>
              </a:rPr>
              <a:t>  ·  Apache-2.0</a:t>
            </a:r>
            <a:endParaRPr lang="en-US" sz="1800" dirty="0"/>
          </a:p>
        </p:txBody>
      </p:sp>
      <p:sp>
        <p:nvSpPr>
          <p:cNvPr id="27" name="Text 24"/>
          <p:cNvSpPr txBox="1"/>
          <p:nvPr/>
        </p:nvSpPr>
        <p:spPr>
          <a:xfrm>
            <a:off x="1051560" y="7315200"/>
            <a:ext cx="8321040" cy="292608"/>
          </a:xfrm>
          <a:prstGeom prst="rect">
            <a:avLst/>
          </a:prstGeom>
          <a:noFill/>
          <a:ln/>
        </p:spPr>
        <p:txBody>
          <a:bodyPr wrap="square" lIns="0" tIns="0" rIns="0" bIns="0" rtlCol="0" anchor="ctr"/>
          <a:lstStyle/>
          <a:p>
            <a:pPr indent="0" marL="0">
              <a:buNone/>
            </a:pPr>
            <a:r>
              <a:rPr lang="en-US" sz="1600" dirty="0">
                <a:solidFill>
                  <a:srgbClr val="3A3A3A"/>
                </a:solidFill>
              </a:rPr>
              <a:t>Direct OCPP 1.6 / 2.0.1 / 2.1 for hosts without a CSMS</a:t>
            </a:r>
            <a:endParaRPr lang="en-US" sz="1600" dirty="0"/>
          </a:p>
        </p:txBody>
      </p:sp>
      <p:sp>
        <p:nvSpPr>
          <p:cNvPr id="28" name="Shape 25"/>
          <p:cNvSpPr/>
          <p:nvPr/>
        </p:nvSpPr>
        <p:spPr>
          <a:xfrm>
            <a:off x="822960" y="7708392"/>
            <a:ext cx="8778240" cy="649224"/>
          </a:xfrm>
          <a:prstGeom prst="rect">
            <a:avLst/>
          </a:prstGeom>
          <a:solidFill>
            <a:schemeClr val="bg2"/>
          </a:solidFill>
          <a:ln w="12700">
            <a:solidFill>
              <a:schemeClr val="bg2"/>
            </a:solidFill>
            <a:prstDash val="solid"/>
          </a:ln>
        </p:spPr>
      </p:sp>
      <p:sp>
        <p:nvSpPr>
          <p:cNvPr id="29" name="Text 26"/>
          <p:cNvSpPr txBox="1"/>
          <p:nvPr/>
        </p:nvSpPr>
        <p:spPr>
          <a:xfrm>
            <a:off x="1051560" y="7735824"/>
            <a:ext cx="8321040" cy="310896"/>
          </a:xfrm>
          <a:prstGeom prst="rect">
            <a:avLst/>
          </a:prstGeom>
          <a:noFill/>
          <a:ln/>
        </p:spPr>
        <p:txBody>
          <a:bodyPr wrap="square" lIns="0" tIns="0" rIns="0" bIns="0" rtlCol="0" anchor="ctr"/>
          <a:lstStyle/>
          <a:p>
            <a:pPr indent="0" marL="0">
              <a:buNone/>
            </a:pPr>
            <a:r>
              <a:rPr lang="en-US" sz="1800" b="1" dirty="0">
                <a:solidFill>
                  <a:schemeClr val="tx2"/>
                </a:solidFill>
              </a:rPr>
              <a:t>Valhalla + OpenStreetMap</a:t>
            </a:r>
            <a:pPr indent="0" marL="0">
              <a:buNone/>
            </a:pPr>
            <a:r>
              <a:rPr lang="en-US" sz="1800" dirty="0">
                <a:solidFill>
                  <a:srgbClr val="007A4D"/>
                </a:solidFill>
              </a:rPr>
              <a:t>  ·  MIT / ODbL</a:t>
            </a:r>
            <a:endParaRPr lang="en-US" sz="1800" dirty="0"/>
          </a:p>
        </p:txBody>
      </p:sp>
      <p:sp>
        <p:nvSpPr>
          <p:cNvPr id="30" name="Text 27"/>
          <p:cNvSpPr txBox="1"/>
          <p:nvPr/>
        </p:nvSpPr>
        <p:spPr>
          <a:xfrm>
            <a:off x="1051560" y="8037576"/>
            <a:ext cx="8321040" cy="292608"/>
          </a:xfrm>
          <a:prstGeom prst="rect">
            <a:avLst/>
          </a:prstGeom>
          <a:noFill/>
          <a:ln/>
        </p:spPr>
        <p:txBody>
          <a:bodyPr wrap="square" lIns="0" tIns="0" rIns="0" bIns="0" rtlCol="0" anchor="ctr"/>
          <a:lstStyle/>
          <a:p>
            <a:pPr indent="0" marL="0">
              <a:buNone/>
            </a:pPr>
            <a:r>
              <a:rPr lang="en-US" sz="1600" dirty="0">
                <a:solidFill>
                  <a:srgbClr val="3A3A3A"/>
                </a:solidFill>
              </a:rPr>
              <a:t>Routing and arrival ETA</a:t>
            </a:r>
            <a:endParaRPr lang="en-US" sz="1600" dirty="0"/>
          </a:p>
        </p:txBody>
      </p:sp>
      <p:sp>
        <p:nvSpPr>
          <p:cNvPr id="31" name="Shape 28"/>
          <p:cNvSpPr/>
          <p:nvPr/>
        </p:nvSpPr>
        <p:spPr>
          <a:xfrm>
            <a:off x="822960" y="8430768"/>
            <a:ext cx="8778240" cy="649224"/>
          </a:xfrm>
          <a:prstGeom prst="rect">
            <a:avLst/>
          </a:prstGeom>
          <a:solidFill>
            <a:schemeClr val="bg2"/>
          </a:solidFill>
          <a:ln w="12700">
            <a:solidFill>
              <a:schemeClr val="bg2"/>
            </a:solidFill>
            <a:prstDash val="solid"/>
          </a:ln>
        </p:spPr>
      </p:sp>
      <p:sp>
        <p:nvSpPr>
          <p:cNvPr id="32" name="Text 29"/>
          <p:cNvSpPr txBox="1"/>
          <p:nvPr/>
        </p:nvSpPr>
        <p:spPr>
          <a:xfrm>
            <a:off x="1051560" y="8458200"/>
            <a:ext cx="8321040" cy="310896"/>
          </a:xfrm>
          <a:prstGeom prst="rect">
            <a:avLst/>
          </a:prstGeom>
          <a:noFill/>
          <a:ln/>
        </p:spPr>
        <p:txBody>
          <a:bodyPr wrap="square" lIns="0" tIns="0" rIns="0" bIns="0" rtlCol="0" anchor="ctr"/>
          <a:lstStyle/>
          <a:p>
            <a:pPr indent="0" marL="0">
              <a:buNone/>
            </a:pPr>
            <a:r>
              <a:rPr lang="en-US" sz="1800" b="1" dirty="0">
                <a:solidFill>
                  <a:schemeClr val="tx2"/>
                </a:solidFill>
              </a:rPr>
              <a:t>OpenTelemetry + Grafana</a:t>
            </a:r>
            <a:pPr indent="0" marL="0">
              <a:buNone/>
            </a:pPr>
            <a:r>
              <a:rPr lang="en-US" sz="1800" dirty="0">
                <a:solidFill>
                  <a:srgbClr val="007A4D"/>
                </a:solidFill>
              </a:rPr>
              <a:t>  ·  Apache-2.0 / AGPL-3.0</a:t>
            </a:r>
            <a:endParaRPr lang="en-US" sz="1800" dirty="0"/>
          </a:p>
        </p:txBody>
      </p:sp>
      <p:sp>
        <p:nvSpPr>
          <p:cNvPr id="33" name="Text 30"/>
          <p:cNvSpPr txBox="1"/>
          <p:nvPr/>
        </p:nvSpPr>
        <p:spPr>
          <a:xfrm>
            <a:off x="1051560" y="8759952"/>
            <a:ext cx="8321040" cy="292608"/>
          </a:xfrm>
          <a:prstGeom prst="rect">
            <a:avLst/>
          </a:prstGeom>
          <a:noFill/>
          <a:ln/>
        </p:spPr>
        <p:txBody>
          <a:bodyPr wrap="square" lIns="0" tIns="0" rIns="0" bIns="0" rtlCol="0" anchor="ctr"/>
          <a:lstStyle/>
          <a:p>
            <a:pPr indent="0" marL="0">
              <a:buNone/>
            </a:pPr>
            <a:r>
              <a:rPr lang="en-US" sz="1600" dirty="0">
                <a:solidFill>
                  <a:srgbClr val="3A3A3A"/>
                </a:solidFill>
              </a:rPr>
              <a:t>Vendor-neutral observability, SOC 2 evidence</a:t>
            </a:r>
            <a:endParaRPr lang="en-US" sz="1600" dirty="0"/>
          </a:p>
        </p:txBody>
      </p:sp>
      <p:sp>
        <p:nvSpPr>
          <p:cNvPr id="34" name="Shape 31"/>
          <p:cNvSpPr/>
          <p:nvPr/>
        </p:nvSpPr>
        <p:spPr>
          <a:xfrm>
            <a:off x="9966960" y="2057400"/>
            <a:ext cx="329184" cy="329184"/>
          </a:xfrm>
          <a:prstGeom prst="rect">
            <a:avLst/>
          </a:prstGeom>
          <a:solidFill>
            <a:schemeClr val="bg1"/>
          </a:solidFill>
          <a:ln w="25400">
            <a:solidFill>
              <a:schemeClr val="accent2"/>
            </a:solidFill>
            <a:prstDash val="solid"/>
          </a:ln>
        </p:spPr>
      </p:sp>
      <p:sp>
        <p:nvSpPr>
          <p:cNvPr id="35" name="Text 32"/>
          <p:cNvSpPr txBox="1"/>
          <p:nvPr/>
        </p:nvSpPr>
        <p:spPr>
          <a:xfrm>
            <a:off x="10469880" y="1965960"/>
            <a:ext cx="6995160" cy="512064"/>
          </a:xfrm>
          <a:prstGeom prst="rect">
            <a:avLst/>
          </a:prstGeom>
          <a:noFill/>
          <a:ln/>
        </p:spPr>
        <p:txBody>
          <a:bodyPr wrap="square" lIns="0" tIns="0" rIns="0" bIns="0" rtlCol="0" anchor="ctr"/>
          <a:lstStyle/>
          <a:p>
            <a:pPr indent="0" marL="0">
              <a:buNone/>
            </a:pPr>
            <a:r>
              <a:rPr lang="en-US" sz="2000" b="1" dirty="0">
                <a:solidFill>
                  <a:schemeClr val="tx2"/>
                </a:solidFill>
              </a:rPr>
              <a:t>Commercial</a:t>
            </a:r>
            <a:pPr indent="0" marL="0">
              <a:buNone/>
            </a:pPr>
            <a:r>
              <a:rPr lang="en-US" sz="2000" dirty="0">
                <a:solidFill>
                  <a:srgbClr val="6F6F6F"/>
                </a:solidFill>
              </a:rPr>
              <a:t>   buy the commodity rails</a:t>
            </a:r>
            <a:endParaRPr lang="en-US" sz="2000" dirty="0"/>
          </a:p>
        </p:txBody>
      </p:sp>
      <p:sp>
        <p:nvSpPr>
          <p:cNvPr id="36" name="Shape 33"/>
          <p:cNvSpPr/>
          <p:nvPr/>
        </p:nvSpPr>
        <p:spPr>
          <a:xfrm>
            <a:off x="9966960" y="2651760"/>
            <a:ext cx="7498080" cy="649224"/>
          </a:xfrm>
          <a:prstGeom prst="rect">
            <a:avLst/>
          </a:prstGeom>
          <a:solidFill>
            <a:schemeClr val="bg2"/>
          </a:solidFill>
          <a:ln w="12700">
            <a:solidFill>
              <a:schemeClr val="bg2"/>
            </a:solidFill>
            <a:prstDash val="solid"/>
          </a:ln>
        </p:spPr>
      </p:sp>
      <p:sp>
        <p:nvSpPr>
          <p:cNvPr id="37" name="Text 34"/>
          <p:cNvSpPr txBox="1"/>
          <p:nvPr/>
        </p:nvSpPr>
        <p:spPr>
          <a:xfrm>
            <a:off x="10195560" y="2679192"/>
            <a:ext cx="7040880" cy="310896"/>
          </a:xfrm>
          <a:prstGeom prst="rect">
            <a:avLst/>
          </a:prstGeom>
          <a:noFill/>
          <a:ln/>
        </p:spPr>
        <p:txBody>
          <a:bodyPr wrap="square" lIns="0" tIns="0" rIns="0" bIns="0" rtlCol="0" anchor="ctr"/>
          <a:lstStyle/>
          <a:p>
            <a:pPr indent="0" marL="0">
              <a:buNone/>
            </a:pPr>
            <a:r>
              <a:rPr lang="en-US" sz="1800" b="1" dirty="0">
                <a:solidFill>
                  <a:schemeClr val="tx2"/>
                </a:solidFill>
              </a:rPr>
              <a:t>AWS (ECS Fargate, RDS)</a:t>
            </a:r>
            <a:pPr indent="0" marL="0">
              <a:buNone/>
            </a:pPr>
            <a:r>
              <a:rPr lang="en-US" sz="1800" dirty="0">
                <a:solidFill>
                  <a:schemeClr val="accent2"/>
                </a:solidFill>
              </a:rPr>
              <a:t>  ·  your $100k Activate credits</a:t>
            </a:r>
            <a:endParaRPr lang="en-US" sz="1800" dirty="0"/>
          </a:p>
        </p:txBody>
      </p:sp>
      <p:sp>
        <p:nvSpPr>
          <p:cNvPr id="38" name="Text 35"/>
          <p:cNvSpPr txBox="1"/>
          <p:nvPr/>
        </p:nvSpPr>
        <p:spPr>
          <a:xfrm>
            <a:off x="10195560" y="2980944"/>
            <a:ext cx="7040880" cy="292608"/>
          </a:xfrm>
          <a:prstGeom prst="rect">
            <a:avLst/>
          </a:prstGeom>
          <a:noFill/>
          <a:ln/>
        </p:spPr>
        <p:txBody>
          <a:bodyPr wrap="square" lIns="0" tIns="0" rIns="0" bIns="0" rtlCol="0" anchor="ctr"/>
          <a:lstStyle/>
          <a:p>
            <a:pPr indent="0" marL="0">
              <a:buNone/>
            </a:pPr>
            <a:r>
              <a:rPr lang="en-US" sz="1600" dirty="0">
                <a:solidFill>
                  <a:srgbClr val="3A3A3A"/>
                </a:solidFill>
              </a:rPr>
              <a:t>Your preferred cloud; managed ops for a small team</a:t>
            </a:r>
            <a:endParaRPr lang="en-US" sz="1600" dirty="0"/>
          </a:p>
        </p:txBody>
      </p:sp>
      <p:sp>
        <p:nvSpPr>
          <p:cNvPr id="39" name="Shape 36"/>
          <p:cNvSpPr/>
          <p:nvPr/>
        </p:nvSpPr>
        <p:spPr>
          <a:xfrm>
            <a:off x="9966960" y="3374136"/>
            <a:ext cx="7498080" cy="649224"/>
          </a:xfrm>
          <a:prstGeom prst="rect">
            <a:avLst/>
          </a:prstGeom>
          <a:solidFill>
            <a:schemeClr val="bg2"/>
          </a:solidFill>
          <a:ln w="12700">
            <a:solidFill>
              <a:schemeClr val="bg2"/>
            </a:solidFill>
            <a:prstDash val="solid"/>
          </a:ln>
        </p:spPr>
      </p:sp>
      <p:sp>
        <p:nvSpPr>
          <p:cNvPr id="40" name="Text 37"/>
          <p:cNvSpPr txBox="1"/>
          <p:nvPr/>
        </p:nvSpPr>
        <p:spPr>
          <a:xfrm>
            <a:off x="10195560" y="3401568"/>
            <a:ext cx="7040880" cy="310896"/>
          </a:xfrm>
          <a:prstGeom prst="rect">
            <a:avLst/>
          </a:prstGeom>
          <a:noFill/>
          <a:ln/>
        </p:spPr>
        <p:txBody>
          <a:bodyPr wrap="square" lIns="0" tIns="0" rIns="0" bIns="0" rtlCol="0" anchor="ctr"/>
          <a:lstStyle/>
          <a:p>
            <a:pPr indent="0" marL="0">
              <a:buNone/>
            </a:pPr>
            <a:r>
              <a:rPr lang="en-US" sz="1800" b="1" dirty="0">
                <a:solidFill>
                  <a:schemeClr val="tx2"/>
                </a:solidFill>
              </a:rPr>
              <a:t>Stripe Connect</a:t>
            </a:r>
            <a:pPr indent="0" marL="0">
              <a:buNone/>
            </a:pPr>
            <a:r>
              <a:rPr lang="en-US" sz="1800" dirty="0">
                <a:solidFill>
                  <a:schemeClr val="accent2"/>
                </a:solidFill>
              </a:rPr>
              <a:t>  ·  per active account + per payout¹</a:t>
            </a:r>
            <a:endParaRPr lang="en-US" sz="1800" dirty="0"/>
          </a:p>
        </p:txBody>
      </p:sp>
      <p:sp>
        <p:nvSpPr>
          <p:cNvPr id="41" name="Text 38"/>
          <p:cNvSpPr txBox="1"/>
          <p:nvPr/>
        </p:nvSpPr>
        <p:spPr>
          <a:xfrm>
            <a:off x="10195560" y="3703320"/>
            <a:ext cx="7040880" cy="292608"/>
          </a:xfrm>
          <a:prstGeom prst="rect">
            <a:avLst/>
          </a:prstGeom>
          <a:noFill/>
          <a:ln/>
        </p:spPr>
        <p:txBody>
          <a:bodyPr wrap="square" lIns="0" tIns="0" rIns="0" bIns="0" rtlCol="0" anchor="ctr"/>
          <a:lstStyle/>
          <a:p>
            <a:pPr indent="0" marL="0">
              <a:buNone/>
            </a:pPr>
            <a:r>
              <a:rPr lang="en-US" sz="1600" dirty="0">
                <a:solidFill>
                  <a:srgbClr val="3A3A3A"/>
                </a:solidFill>
              </a:rPr>
              <a:t>Payouts; can file &amp; deliver 1099s for connected accounts</a:t>
            </a:r>
            <a:endParaRPr lang="en-US" sz="1600" dirty="0"/>
          </a:p>
        </p:txBody>
      </p:sp>
      <p:sp>
        <p:nvSpPr>
          <p:cNvPr id="42" name="Shape 39"/>
          <p:cNvSpPr/>
          <p:nvPr/>
        </p:nvSpPr>
        <p:spPr>
          <a:xfrm>
            <a:off x="9966960" y="4096512"/>
            <a:ext cx="7498080" cy="649224"/>
          </a:xfrm>
          <a:prstGeom prst="rect">
            <a:avLst/>
          </a:prstGeom>
          <a:solidFill>
            <a:schemeClr val="bg2"/>
          </a:solidFill>
          <a:ln w="12700">
            <a:solidFill>
              <a:schemeClr val="bg2"/>
            </a:solidFill>
            <a:prstDash val="solid"/>
          </a:ln>
        </p:spPr>
      </p:sp>
      <p:sp>
        <p:nvSpPr>
          <p:cNvPr id="43" name="Text 40"/>
          <p:cNvSpPr txBox="1"/>
          <p:nvPr/>
        </p:nvSpPr>
        <p:spPr>
          <a:xfrm>
            <a:off x="10195560" y="4123944"/>
            <a:ext cx="7040880" cy="310896"/>
          </a:xfrm>
          <a:prstGeom prst="rect">
            <a:avLst/>
          </a:prstGeom>
          <a:noFill/>
          <a:ln/>
        </p:spPr>
        <p:txBody>
          <a:bodyPr wrap="square" lIns="0" tIns="0" rIns="0" bIns="0" rtlCol="0" anchor="ctr"/>
          <a:lstStyle/>
          <a:p>
            <a:pPr indent="0" marL="0">
              <a:buNone/>
            </a:pPr>
            <a:r>
              <a:rPr lang="en-US" sz="1800" b="1" dirty="0">
                <a:solidFill>
                  <a:schemeClr val="tx2"/>
                </a:solidFill>
              </a:rPr>
              <a:t>Twilio</a:t>
            </a:r>
            <a:pPr indent="0" marL="0">
              <a:buNone/>
            </a:pPr>
            <a:r>
              <a:rPr lang="en-US" sz="1800" dirty="0">
                <a:solidFill>
                  <a:schemeClr val="accent2"/>
                </a:solidFill>
              </a:rPr>
              <a:t>  ·  usage-based</a:t>
            </a:r>
            <a:endParaRPr lang="en-US" sz="1800" dirty="0"/>
          </a:p>
        </p:txBody>
      </p:sp>
      <p:sp>
        <p:nvSpPr>
          <p:cNvPr id="44" name="Text 41"/>
          <p:cNvSpPr txBox="1"/>
          <p:nvPr/>
        </p:nvSpPr>
        <p:spPr>
          <a:xfrm>
            <a:off x="10195560" y="4425696"/>
            <a:ext cx="7040880" cy="292608"/>
          </a:xfrm>
          <a:prstGeom prst="rect">
            <a:avLst/>
          </a:prstGeom>
          <a:noFill/>
          <a:ln/>
        </p:spPr>
        <p:txBody>
          <a:bodyPr wrap="square" lIns="0" tIns="0" rIns="0" bIns="0" rtlCol="0" anchor="ctr"/>
          <a:lstStyle/>
          <a:p>
            <a:pPr indent="0" marL="0">
              <a:buNone/>
            </a:pPr>
            <a:r>
              <a:rPr lang="en-US" sz="1600" dirty="0">
                <a:solidFill>
                  <a:srgbClr val="3A3A3A"/>
                </a:solidFill>
              </a:rPr>
              <a:t>SMS and WhatsApp, already used in the pilot</a:t>
            </a:r>
            <a:endParaRPr lang="en-US" sz="1600" dirty="0"/>
          </a:p>
        </p:txBody>
      </p:sp>
      <p:sp>
        <p:nvSpPr>
          <p:cNvPr id="45" name="Shape 42"/>
          <p:cNvSpPr/>
          <p:nvPr/>
        </p:nvSpPr>
        <p:spPr>
          <a:xfrm>
            <a:off x="9966960" y="4818888"/>
            <a:ext cx="7498080" cy="649224"/>
          </a:xfrm>
          <a:prstGeom prst="rect">
            <a:avLst/>
          </a:prstGeom>
          <a:solidFill>
            <a:schemeClr val="bg2"/>
          </a:solidFill>
          <a:ln w="12700">
            <a:solidFill>
              <a:schemeClr val="bg2"/>
            </a:solidFill>
            <a:prstDash val="solid"/>
          </a:ln>
        </p:spPr>
      </p:sp>
      <p:sp>
        <p:nvSpPr>
          <p:cNvPr id="46" name="Text 43"/>
          <p:cNvSpPr txBox="1"/>
          <p:nvPr/>
        </p:nvSpPr>
        <p:spPr>
          <a:xfrm>
            <a:off x="10195560" y="4846320"/>
            <a:ext cx="7040880" cy="310896"/>
          </a:xfrm>
          <a:prstGeom prst="rect">
            <a:avLst/>
          </a:prstGeom>
          <a:noFill/>
          <a:ln/>
        </p:spPr>
        <p:txBody>
          <a:bodyPr wrap="square" lIns="0" tIns="0" rIns="0" bIns="0" rtlCol="0" anchor="ctr"/>
          <a:lstStyle/>
          <a:p>
            <a:pPr indent="0" marL="0">
              <a:buNone/>
            </a:pPr>
            <a:r>
              <a:rPr lang="en-US" sz="1800" b="1" dirty="0">
                <a:solidFill>
                  <a:schemeClr val="tx2"/>
                </a:solidFill>
              </a:rPr>
              <a:t>Geotab · Tesla Fleet API · Smartcar</a:t>
            </a:r>
            <a:pPr indent="0" marL="0">
              <a:buNone/>
            </a:pPr>
            <a:r>
              <a:rPr lang="en-US" sz="1800" dirty="0">
                <a:solidFill>
                  <a:schemeClr val="accent2"/>
                </a:solidFill>
              </a:rPr>
              <a:t>  ·  paid APIs</a:t>
            </a:r>
            <a:endParaRPr lang="en-US" sz="1800" dirty="0"/>
          </a:p>
        </p:txBody>
      </p:sp>
      <p:sp>
        <p:nvSpPr>
          <p:cNvPr id="47" name="Text 44"/>
          <p:cNvSpPr txBox="1"/>
          <p:nvPr/>
        </p:nvSpPr>
        <p:spPr>
          <a:xfrm>
            <a:off x="10195560" y="5148072"/>
            <a:ext cx="7040880" cy="292608"/>
          </a:xfrm>
          <a:prstGeom prst="rect">
            <a:avLst/>
          </a:prstGeom>
          <a:noFill/>
          <a:ln/>
        </p:spPr>
        <p:txBody>
          <a:bodyPr wrap="square" lIns="0" tIns="0" rIns="0" bIns="0" rtlCol="0" anchor="ctr"/>
          <a:lstStyle/>
          <a:p>
            <a:pPr indent="0" marL="0">
              <a:buNone/>
            </a:pPr>
            <a:r>
              <a:rPr lang="en-US" sz="1600" dirty="0">
                <a:solidFill>
                  <a:srgbClr val="3A3A3A"/>
                </a:solidFill>
              </a:rPr>
              <a:t>Vehicle SoC across a mixed fleet</a:t>
            </a:r>
            <a:endParaRPr lang="en-US" sz="1600" dirty="0"/>
          </a:p>
        </p:txBody>
      </p:sp>
      <p:sp>
        <p:nvSpPr>
          <p:cNvPr id="48" name="Shape 45"/>
          <p:cNvSpPr/>
          <p:nvPr/>
        </p:nvSpPr>
        <p:spPr>
          <a:xfrm>
            <a:off x="9966960" y="5541264"/>
            <a:ext cx="7498080" cy="649224"/>
          </a:xfrm>
          <a:prstGeom prst="rect">
            <a:avLst/>
          </a:prstGeom>
          <a:solidFill>
            <a:schemeClr val="bg2"/>
          </a:solidFill>
          <a:ln w="12700">
            <a:solidFill>
              <a:schemeClr val="bg2"/>
            </a:solidFill>
            <a:prstDash val="solid"/>
          </a:ln>
        </p:spPr>
      </p:sp>
      <p:sp>
        <p:nvSpPr>
          <p:cNvPr id="49" name="Text 46"/>
          <p:cNvSpPr txBox="1"/>
          <p:nvPr/>
        </p:nvSpPr>
        <p:spPr>
          <a:xfrm>
            <a:off x="10195560" y="5568696"/>
            <a:ext cx="7040880" cy="310896"/>
          </a:xfrm>
          <a:prstGeom prst="rect">
            <a:avLst/>
          </a:prstGeom>
          <a:noFill/>
          <a:ln/>
        </p:spPr>
        <p:txBody>
          <a:bodyPr wrap="square" lIns="0" tIns="0" rIns="0" bIns="0" rtlCol="0" anchor="ctr"/>
          <a:lstStyle/>
          <a:p>
            <a:pPr indent="0" marL="0">
              <a:buNone/>
            </a:pPr>
            <a:r>
              <a:rPr lang="en-US" sz="1800" b="1" dirty="0">
                <a:solidFill>
                  <a:schemeClr val="tx2"/>
                </a:solidFill>
              </a:rPr>
              <a:t>AMPECO · ChargeLab APIs</a:t>
            </a:r>
            <a:pPr indent="0" marL="0">
              <a:buNone/>
            </a:pPr>
            <a:r>
              <a:rPr lang="en-US" sz="1800" dirty="0">
                <a:solidFill>
                  <a:schemeClr val="accent2"/>
                </a:solidFill>
              </a:rPr>
              <a:t>  ·  partner CSMS</a:t>
            </a:r>
            <a:endParaRPr lang="en-US" sz="1800" dirty="0"/>
          </a:p>
        </p:txBody>
      </p:sp>
      <p:sp>
        <p:nvSpPr>
          <p:cNvPr id="50" name="Text 47"/>
          <p:cNvSpPr txBox="1"/>
          <p:nvPr/>
        </p:nvSpPr>
        <p:spPr>
          <a:xfrm>
            <a:off x="10195560" y="5870448"/>
            <a:ext cx="7040880" cy="292608"/>
          </a:xfrm>
          <a:prstGeom prst="rect">
            <a:avLst/>
          </a:prstGeom>
          <a:noFill/>
          <a:ln/>
        </p:spPr>
        <p:txBody>
          <a:bodyPr wrap="square" lIns="0" tIns="0" rIns="0" bIns="0" rtlCol="0" anchor="ctr"/>
          <a:lstStyle/>
          <a:p>
            <a:pPr indent="0" marL="0">
              <a:buNone/>
            </a:pPr>
            <a:r>
              <a:rPr lang="en-US" sz="1600" dirty="0">
                <a:solidFill>
                  <a:srgbClr val="3A3A3A"/>
                </a:solidFill>
              </a:rPr>
              <a:t>Live status and reservations at partner sites</a:t>
            </a:r>
            <a:endParaRPr lang="en-US" sz="1600" dirty="0"/>
          </a:p>
        </p:txBody>
      </p:sp>
      <p:sp>
        <p:nvSpPr>
          <p:cNvPr id="51" name="Shape 48"/>
          <p:cNvSpPr/>
          <p:nvPr/>
        </p:nvSpPr>
        <p:spPr>
          <a:xfrm>
            <a:off x="9966960" y="6446520"/>
            <a:ext cx="7498080" cy="1508760"/>
          </a:xfrm>
          <a:prstGeom prst="rect">
            <a:avLst/>
          </a:prstGeom>
          <a:solidFill>
            <a:schemeClr val="accent1"/>
          </a:solidFill>
          <a:ln w="12700">
            <a:solidFill>
              <a:schemeClr val="accent1"/>
            </a:solidFill>
            <a:prstDash val="solid"/>
          </a:ln>
        </p:spPr>
      </p:sp>
      <p:sp>
        <p:nvSpPr>
          <p:cNvPr id="52" name="Text 49"/>
          <p:cNvSpPr txBox="1"/>
          <p:nvPr/>
        </p:nvSpPr>
        <p:spPr>
          <a:xfrm>
            <a:off x="10332720" y="6446520"/>
            <a:ext cx="6766560" cy="1508760"/>
          </a:xfrm>
          <a:prstGeom prst="rect">
            <a:avLst/>
          </a:prstGeom>
          <a:noFill/>
          <a:ln/>
        </p:spPr>
        <p:txBody>
          <a:bodyPr wrap="square" lIns="0" tIns="0" rIns="0" bIns="0" rtlCol="0" anchor="ctr"/>
          <a:lstStyle/>
          <a:p>
            <a:pPr indent="0" marL="0">
              <a:buNone/>
            </a:pPr>
            <a:r>
              <a:rPr lang="en-US" sz="2200" b="1" dirty="0">
                <a:solidFill>
                  <a:schemeClr val="tx2"/>
                </a:solidFill>
              </a:rPr>
              <a:t>Own the booking core. Buy the rails. Adapters keep every vendor swappable.</a:t>
            </a:r>
            <a:endParaRPr lang="en-US" sz="2200" dirty="0"/>
          </a:p>
        </p:txBody>
      </p:sp>
      <p:sp>
        <p:nvSpPr>
          <p:cNvPr id="53" name="Text 50"/>
          <p:cNvSpPr txBox="1"/>
          <p:nvPr/>
        </p:nvSpPr>
        <p:spPr>
          <a:xfrm>
            <a:off x="9966960" y="8183880"/>
            <a:ext cx="7498080" cy="548640"/>
          </a:xfrm>
          <a:prstGeom prst="rect">
            <a:avLst/>
          </a:prstGeom>
          <a:noFill/>
          <a:ln/>
        </p:spPr>
        <p:txBody>
          <a:bodyPr wrap="square" lIns="0" tIns="0" rIns="0" bIns="0" rtlCol="0" anchor="t"/>
          <a:lstStyle/>
          <a:p>
            <a:pPr indent="0" marL="0">
              <a:buNone/>
            </a:pPr>
            <a:r>
              <a:rPr lang="en-US" sz="1400" dirty="0">
                <a:solidFill>
                  <a:srgbClr val="6F6F6F"/>
                </a:solidFill>
              </a:rPr>
              <a:t>¹ Stripe Connect “you handle pricing”: $2 per monthly active account, plus 0.25% + 25¢ per payout (Stripe pricing). Tesla Fleet API: pay-per-use since late 2024.</a:t>
            </a:r>
            <a:endParaRPr lang="en-US" sz="1400" dirty="0"/>
          </a:p>
        </p:txBody>
      </p:sp>
      <p:sp>
        <p:nvSpPr>
          <p:cNvPr id="25" name="Slide Number Placeholder 0"/>
          <p:cNvSpPr>
            <a:spLocks noGrp="1"/>
          </p:cNvSpPr>
          <p:nvPr>
            <p:ph type="sldNum" sz="quarter" idx="4294967295"/>
          </p:nvPr>
        </p:nvSpPr>
        <p:spPr>
          <a:xfrm>
            <a:off x="16642080" y="9646920"/>
            <a:ext cx="822960" cy="347472"/>
          </a:xfrm>
          <a:prstGeom prst="rect">
            <a:avLst/>
          </a:prstGeom>
          <a:extLst>
            <a:ext uri="{C572A759-6A51-4108-AA02-DFA0A04FC94B}">
              <ma14:wrappingTextBoxFlag xmlns:ma14="http://schemas.microsoft.com/office/mac/drawingml/2011/main" val="0"/>
            </a:ext>
          </a:extLst>
        </p:spPr>
        <p:txBody>
          <a:bodyPr/>
          <a:lstStyle>
            <a:lvl1pPr>
              <a:defRPr sz="1500">
                <a:solidFill>
                  <a:schemeClr val="tx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header"/>
          <p:cNvSpPr txBox="1"/>
          <p:nvPr/>
        </p:nvSpPr>
        <p:spPr>
          <a:xfrm>
            <a:off x="822960" y="219456"/>
            <a:ext cx="10972800" cy="347472"/>
          </a:xfrm>
          <a:prstGeom prst="rect">
            <a:avLst/>
          </a:prstGeom>
          <a:noFill/>
          <a:ln/>
        </p:spPr>
        <p:txBody>
          <a:bodyPr wrap="square" lIns="0" tIns="0" rIns="0" bIns="0" rtlCol="0" anchor="ctr"/>
          <a:lstStyle/>
          <a:p>
            <a:pPr indent="0" marL="0">
              <a:buNone/>
            </a:pPr>
            <a:r>
              <a:rPr lang="en-US" sz="1500" dirty="0">
                <a:solidFill>
                  <a:schemeClr val="tx1"/>
                </a:solidFill>
              </a:rPr>
              <a:t>amperlane/02-solution</a:t>
            </a:r>
            <a:endParaRPr lang="en-US" sz="1500" dirty="0"/>
          </a:p>
        </p:txBody>
      </p:sp>
      <p:sp>
        <p:nvSpPr>
          <p:cNvPr id="3" name="Text 0"/>
          <p:cNvSpPr/>
          <p:nvPr>
            <p:ph idx="100" type="title" hasCustomPrompt="1"/>
          </p:nvPr>
        </p:nvSpPr>
        <p:spPr>
          <a:xfrm>
            <a:off x="822960" y="841248"/>
            <a:ext cx="16642080" cy="1005840"/>
          </a:xfrm>
          <a:prstGeom prst="rect">
            <a:avLst/>
          </a:prstGeom>
          <a:noFill/>
          <a:ln/>
        </p:spPr>
        <p:txBody>
          <a:bodyPr wrap="square" lIns="0" tIns="0" rIns="0" bIns="0" rtlCol="0" anchor="t"/>
          <a:lstStyle/>
          <a:p>
            <a:pPr algn="l" indent="0" marL="0">
              <a:buNone/>
            </a:pPr>
            <a:r>
              <a:rPr lang="en-US" sz="4500" dirty="0">
                <a:solidFill>
                  <a:schemeClr val="tx1"/>
                </a:solidFill>
              </a:rPr>
              <a:t>The “no double booking” design</a:t>
            </a:r>
            <a:endParaRPr lang="en-US" sz="4500" dirty="0"/>
          </a:p>
        </p:txBody>
      </p:sp>
      <p:sp>
        <p:nvSpPr>
          <p:cNvPr id="5" name="Shape 2"/>
          <p:cNvSpPr/>
          <p:nvPr/>
        </p:nvSpPr>
        <p:spPr>
          <a:xfrm>
            <a:off x="822960" y="2103120"/>
            <a:ext cx="2063931" cy="1463040"/>
          </a:xfrm>
          <a:prstGeom prst="rect">
            <a:avLst/>
          </a:prstGeom>
          <a:solidFill>
            <a:schemeClr val="bg2"/>
          </a:solidFill>
          <a:ln w="12700">
            <a:solidFill>
              <a:schemeClr val="bg2"/>
            </a:solidFill>
            <a:prstDash val="solid"/>
          </a:ln>
        </p:spPr>
      </p:sp>
      <p:sp>
        <p:nvSpPr>
          <p:cNvPr id="6" name="Text 3"/>
          <p:cNvSpPr txBox="1"/>
          <p:nvPr/>
        </p:nvSpPr>
        <p:spPr>
          <a:xfrm>
            <a:off x="978408" y="2103120"/>
            <a:ext cx="1753035" cy="1463040"/>
          </a:xfrm>
          <a:prstGeom prst="rect">
            <a:avLst/>
          </a:prstGeom>
          <a:noFill/>
          <a:ln/>
        </p:spPr>
        <p:txBody>
          <a:bodyPr wrap="square" lIns="0" tIns="0" rIns="0" bIns="0" rtlCol="0" anchor="ctr"/>
          <a:lstStyle/>
          <a:p>
            <a:pPr indent="0" marL="0">
              <a:spcAft>
                <a:spcPts val="400"/>
              </a:spcAft>
              <a:buNone/>
            </a:pPr>
            <a:r>
              <a:rPr lang="en-US" sz="1900" b="1" dirty="0">
                <a:solidFill>
                  <a:schemeClr val="tx2"/>
                </a:solidFill>
              </a:rPr>
              <a:t>Tap “Book”</a:t>
            </a:r>
            <a:endParaRPr lang="en-US" sz="2400" dirty="0"/>
          </a:p>
          <a:p>
            <a:pPr indent="0" marL="0">
              <a:spcAft>
                <a:spcPts val="400"/>
              </a:spcAft>
              <a:buNone/>
            </a:pPr>
            <a:r>
              <a:rPr lang="en-US" sz="1600" dirty="0">
                <a:solidFill>
                  <a:srgbClr val="3A3A3A"/>
                </a:solidFill>
              </a:rPr>
              <a:t>driver, fleet or ops</a:t>
            </a:r>
            <a:endParaRPr lang="en-US" sz="2400" dirty="0"/>
          </a:p>
        </p:txBody>
      </p:sp>
      <p:sp>
        <p:nvSpPr>
          <p:cNvPr id="7" name="Shape 4"/>
          <p:cNvSpPr/>
          <p:nvPr/>
        </p:nvSpPr>
        <p:spPr>
          <a:xfrm>
            <a:off x="2932611" y="2834640"/>
            <a:ext cx="274320" cy="914"/>
          </a:xfrm>
          <a:prstGeom prst="line">
            <a:avLst/>
          </a:prstGeom>
          <a:noFill/>
          <a:ln w="38100">
            <a:solidFill>
              <a:srgbClr val="6F6F6F"/>
            </a:solidFill>
            <a:prstDash val="solid"/>
            <a:tailEnd type="triangle"/>
          </a:ln>
        </p:spPr>
      </p:sp>
      <p:sp>
        <p:nvSpPr>
          <p:cNvPr id="8" name="Shape 5"/>
          <p:cNvSpPr/>
          <p:nvPr/>
        </p:nvSpPr>
        <p:spPr>
          <a:xfrm>
            <a:off x="3252651" y="2103120"/>
            <a:ext cx="2063931" cy="1463040"/>
          </a:xfrm>
          <a:prstGeom prst="rect">
            <a:avLst/>
          </a:prstGeom>
          <a:solidFill>
            <a:schemeClr val="bg2"/>
          </a:solidFill>
          <a:ln w="12700">
            <a:solidFill>
              <a:schemeClr val="bg2"/>
            </a:solidFill>
            <a:prstDash val="solid"/>
          </a:ln>
        </p:spPr>
      </p:sp>
      <p:sp>
        <p:nvSpPr>
          <p:cNvPr id="9" name="Text 6"/>
          <p:cNvSpPr txBox="1"/>
          <p:nvPr/>
        </p:nvSpPr>
        <p:spPr>
          <a:xfrm>
            <a:off x="3408099" y="2103120"/>
            <a:ext cx="1753035" cy="1463040"/>
          </a:xfrm>
          <a:prstGeom prst="rect">
            <a:avLst/>
          </a:prstGeom>
          <a:noFill/>
          <a:ln/>
        </p:spPr>
        <p:txBody>
          <a:bodyPr wrap="square" lIns="0" tIns="0" rIns="0" bIns="0" rtlCol="0" anchor="ctr"/>
          <a:lstStyle/>
          <a:p>
            <a:pPr indent="0" marL="0">
              <a:spcAft>
                <a:spcPts val="400"/>
              </a:spcAft>
              <a:buNone/>
            </a:pPr>
            <a:r>
              <a:rPr lang="en-US" sz="1900" b="1" dirty="0">
                <a:solidFill>
                  <a:schemeClr val="tx2"/>
                </a:solidFill>
              </a:rPr>
              <a:t>Idempotency key</a:t>
            </a:r>
            <a:endParaRPr lang="en-US" sz="2400" dirty="0"/>
          </a:p>
          <a:p>
            <a:pPr indent="0" marL="0">
              <a:spcAft>
                <a:spcPts val="400"/>
              </a:spcAft>
              <a:buNone/>
            </a:pPr>
            <a:r>
              <a:rPr lang="en-US" sz="1600" dirty="0">
                <a:solidFill>
                  <a:srgbClr val="3A3A3A"/>
                </a:solidFill>
              </a:rPr>
              <a:t>retries never duplicate</a:t>
            </a:r>
            <a:endParaRPr lang="en-US" sz="2400" dirty="0"/>
          </a:p>
        </p:txBody>
      </p:sp>
      <p:sp>
        <p:nvSpPr>
          <p:cNvPr id="10" name="Shape 7"/>
          <p:cNvSpPr/>
          <p:nvPr/>
        </p:nvSpPr>
        <p:spPr>
          <a:xfrm>
            <a:off x="5362303" y="2834640"/>
            <a:ext cx="274320" cy="914"/>
          </a:xfrm>
          <a:prstGeom prst="line">
            <a:avLst/>
          </a:prstGeom>
          <a:noFill/>
          <a:ln w="38100">
            <a:solidFill>
              <a:srgbClr val="6F6F6F"/>
            </a:solidFill>
            <a:prstDash val="solid"/>
            <a:tailEnd type="triangle"/>
          </a:ln>
        </p:spPr>
      </p:sp>
      <p:sp>
        <p:nvSpPr>
          <p:cNvPr id="11" name="Shape 8"/>
          <p:cNvSpPr/>
          <p:nvPr/>
        </p:nvSpPr>
        <p:spPr>
          <a:xfrm>
            <a:off x="5682343" y="2103120"/>
            <a:ext cx="2063931" cy="1463040"/>
          </a:xfrm>
          <a:prstGeom prst="rect">
            <a:avLst/>
          </a:prstGeom>
          <a:solidFill>
            <a:schemeClr val="bg2"/>
          </a:solidFill>
          <a:ln w="12700">
            <a:solidFill>
              <a:schemeClr val="bg2"/>
            </a:solidFill>
            <a:prstDash val="solid"/>
          </a:ln>
        </p:spPr>
      </p:sp>
      <p:sp>
        <p:nvSpPr>
          <p:cNvPr id="12" name="Text 9"/>
          <p:cNvSpPr txBox="1"/>
          <p:nvPr/>
        </p:nvSpPr>
        <p:spPr>
          <a:xfrm>
            <a:off x="5837791" y="2103120"/>
            <a:ext cx="1753035" cy="1463040"/>
          </a:xfrm>
          <a:prstGeom prst="rect">
            <a:avLst/>
          </a:prstGeom>
          <a:noFill/>
          <a:ln/>
        </p:spPr>
        <p:txBody>
          <a:bodyPr wrap="square" lIns="0" tIns="0" rIns="0" bIns="0" rtlCol="0" anchor="ctr"/>
          <a:lstStyle/>
          <a:p>
            <a:pPr indent="0" marL="0">
              <a:spcAft>
                <a:spcPts val="400"/>
              </a:spcAft>
              <a:buNone/>
            </a:pPr>
            <a:r>
              <a:rPr lang="en-US" sz="1900" b="1" dirty="0">
                <a:solidFill>
                  <a:schemeClr val="tx2"/>
                </a:solidFill>
              </a:rPr>
              <a:t>Per-site queue</a:t>
            </a:r>
            <a:endParaRPr lang="en-US" sz="2400" dirty="0"/>
          </a:p>
          <a:p>
            <a:pPr indent="0" marL="0">
              <a:spcAft>
                <a:spcPts val="400"/>
              </a:spcAft>
              <a:buNone/>
            </a:pPr>
            <a:r>
              <a:rPr lang="en-US" sz="1600" dirty="0">
                <a:solidFill>
                  <a:srgbClr val="3A3A3A"/>
                </a:solidFill>
              </a:rPr>
              <a:t>single writer at burst</a:t>
            </a:r>
            <a:endParaRPr lang="en-US" sz="2400" dirty="0"/>
          </a:p>
        </p:txBody>
      </p:sp>
      <p:sp>
        <p:nvSpPr>
          <p:cNvPr id="13" name="Shape 10"/>
          <p:cNvSpPr/>
          <p:nvPr/>
        </p:nvSpPr>
        <p:spPr>
          <a:xfrm>
            <a:off x="7791994" y="2834640"/>
            <a:ext cx="274320" cy="914"/>
          </a:xfrm>
          <a:prstGeom prst="line">
            <a:avLst/>
          </a:prstGeom>
          <a:noFill/>
          <a:ln w="38100">
            <a:solidFill>
              <a:srgbClr val="6F6F6F"/>
            </a:solidFill>
            <a:prstDash val="solid"/>
            <a:tailEnd type="triangle"/>
          </a:ln>
        </p:spPr>
      </p:sp>
      <p:sp>
        <p:nvSpPr>
          <p:cNvPr id="14" name="Shape 11"/>
          <p:cNvSpPr/>
          <p:nvPr/>
        </p:nvSpPr>
        <p:spPr>
          <a:xfrm>
            <a:off x="8112034" y="2103120"/>
            <a:ext cx="2063931" cy="1463040"/>
          </a:xfrm>
          <a:prstGeom prst="rect">
            <a:avLst/>
          </a:prstGeom>
          <a:solidFill>
            <a:schemeClr val="tx2"/>
          </a:solidFill>
          <a:ln w="12700">
            <a:solidFill>
              <a:schemeClr val="tx2"/>
            </a:solidFill>
            <a:prstDash val="solid"/>
          </a:ln>
        </p:spPr>
      </p:sp>
      <p:sp>
        <p:nvSpPr>
          <p:cNvPr id="15" name="Text 12"/>
          <p:cNvSpPr txBox="1"/>
          <p:nvPr/>
        </p:nvSpPr>
        <p:spPr>
          <a:xfrm>
            <a:off x="8267482" y="2103120"/>
            <a:ext cx="1753035" cy="1463040"/>
          </a:xfrm>
          <a:prstGeom prst="rect">
            <a:avLst/>
          </a:prstGeom>
          <a:noFill/>
          <a:ln/>
        </p:spPr>
        <p:txBody>
          <a:bodyPr wrap="square" lIns="0" tIns="0" rIns="0" bIns="0" rtlCol="0" anchor="ctr"/>
          <a:lstStyle/>
          <a:p>
            <a:pPr indent="0" marL="0">
              <a:spcAft>
                <a:spcPts val="400"/>
              </a:spcAft>
              <a:buNone/>
            </a:pPr>
            <a:r>
              <a:rPr lang="en-US" sz="1900" b="1" dirty="0">
                <a:solidFill>
                  <a:schemeClr val="accent1"/>
                </a:solidFill>
              </a:rPr>
              <a:t>Capacity bucket</a:t>
            </a:r>
            <a:endParaRPr lang="en-US" sz="2400" dirty="0"/>
          </a:p>
          <a:p>
            <a:pPr indent="0" marL="0">
              <a:spcAft>
                <a:spcPts val="400"/>
              </a:spcAft>
              <a:buNone/>
            </a:pPr>
            <a:r>
              <a:rPr lang="en-US" sz="1600" dirty="0">
                <a:solidFill>
                  <a:schemeClr val="bg1"/>
                </a:solidFill>
              </a:rPr>
              <a:t>take 1 unit, FOR UPDATE</a:t>
            </a:r>
            <a:endParaRPr lang="en-US" sz="2400" dirty="0"/>
          </a:p>
        </p:txBody>
      </p:sp>
      <p:sp>
        <p:nvSpPr>
          <p:cNvPr id="16" name="Shape 13"/>
          <p:cNvSpPr/>
          <p:nvPr/>
        </p:nvSpPr>
        <p:spPr>
          <a:xfrm>
            <a:off x="10221686" y="2834640"/>
            <a:ext cx="274320" cy="914"/>
          </a:xfrm>
          <a:prstGeom prst="line">
            <a:avLst/>
          </a:prstGeom>
          <a:noFill/>
          <a:ln w="38100">
            <a:solidFill>
              <a:srgbClr val="6F6F6F"/>
            </a:solidFill>
            <a:prstDash val="solid"/>
            <a:tailEnd type="triangle"/>
          </a:ln>
        </p:spPr>
      </p:sp>
      <p:sp>
        <p:nvSpPr>
          <p:cNvPr id="17" name="Shape 14"/>
          <p:cNvSpPr/>
          <p:nvPr/>
        </p:nvSpPr>
        <p:spPr>
          <a:xfrm>
            <a:off x="10541726" y="2103120"/>
            <a:ext cx="2063931" cy="1463040"/>
          </a:xfrm>
          <a:prstGeom prst="rect">
            <a:avLst/>
          </a:prstGeom>
          <a:solidFill>
            <a:schemeClr val="bg2"/>
          </a:solidFill>
          <a:ln w="12700">
            <a:solidFill>
              <a:schemeClr val="bg2"/>
            </a:solidFill>
            <a:prstDash val="solid"/>
          </a:ln>
        </p:spPr>
      </p:sp>
      <p:sp>
        <p:nvSpPr>
          <p:cNvPr id="18" name="Text 15"/>
          <p:cNvSpPr txBox="1"/>
          <p:nvPr/>
        </p:nvSpPr>
        <p:spPr>
          <a:xfrm>
            <a:off x="10697174" y="2103120"/>
            <a:ext cx="1753035" cy="1463040"/>
          </a:xfrm>
          <a:prstGeom prst="rect">
            <a:avLst/>
          </a:prstGeom>
          <a:noFill/>
          <a:ln/>
        </p:spPr>
        <p:txBody>
          <a:bodyPr wrap="square" lIns="0" tIns="0" rIns="0" bIns="0" rtlCol="0" anchor="ctr"/>
          <a:lstStyle/>
          <a:p>
            <a:pPr indent="0" marL="0">
              <a:spcAft>
                <a:spcPts val="400"/>
              </a:spcAft>
              <a:buNone/>
            </a:pPr>
            <a:r>
              <a:rPr lang="en-US" sz="1900" b="1" dirty="0">
                <a:solidFill>
                  <a:schemeClr val="tx2"/>
                </a:solidFill>
              </a:rPr>
              <a:t>Soft hold</a:t>
            </a:r>
            <a:endParaRPr lang="en-US" sz="2400" dirty="0"/>
          </a:p>
          <a:p>
            <a:pPr indent="0" marL="0">
              <a:spcAft>
                <a:spcPts val="400"/>
              </a:spcAft>
              <a:buNone/>
            </a:pPr>
            <a:r>
              <a:rPr lang="en-US" sz="1600" dirty="0">
                <a:solidFill>
                  <a:srgbClr val="3A3A3A"/>
                </a:solidFill>
              </a:rPr>
              <a:t>TTL 3 min to confirm</a:t>
            </a:r>
            <a:endParaRPr lang="en-US" sz="2400" dirty="0"/>
          </a:p>
        </p:txBody>
      </p:sp>
      <p:sp>
        <p:nvSpPr>
          <p:cNvPr id="19" name="Shape 16"/>
          <p:cNvSpPr/>
          <p:nvPr/>
        </p:nvSpPr>
        <p:spPr>
          <a:xfrm>
            <a:off x="12651377" y="2834640"/>
            <a:ext cx="274320" cy="914"/>
          </a:xfrm>
          <a:prstGeom prst="line">
            <a:avLst/>
          </a:prstGeom>
          <a:noFill/>
          <a:ln w="38100">
            <a:solidFill>
              <a:srgbClr val="6F6F6F"/>
            </a:solidFill>
            <a:prstDash val="solid"/>
            <a:tailEnd type="triangle"/>
          </a:ln>
        </p:spPr>
      </p:sp>
      <p:sp>
        <p:nvSpPr>
          <p:cNvPr id="20" name="Shape 17"/>
          <p:cNvSpPr/>
          <p:nvPr/>
        </p:nvSpPr>
        <p:spPr>
          <a:xfrm>
            <a:off x="12971417" y="2103120"/>
            <a:ext cx="2063931" cy="1463040"/>
          </a:xfrm>
          <a:prstGeom prst="rect">
            <a:avLst/>
          </a:prstGeom>
          <a:solidFill>
            <a:schemeClr val="accent1"/>
          </a:solidFill>
          <a:ln w="12700">
            <a:solidFill>
              <a:schemeClr val="accent1"/>
            </a:solidFill>
            <a:prstDash val="solid"/>
          </a:ln>
        </p:spPr>
      </p:sp>
      <p:sp>
        <p:nvSpPr>
          <p:cNvPr id="21" name="Text 18"/>
          <p:cNvSpPr txBox="1"/>
          <p:nvPr/>
        </p:nvSpPr>
        <p:spPr>
          <a:xfrm>
            <a:off x="13126865" y="2103120"/>
            <a:ext cx="1753035" cy="1463040"/>
          </a:xfrm>
          <a:prstGeom prst="rect">
            <a:avLst/>
          </a:prstGeom>
          <a:noFill/>
          <a:ln/>
        </p:spPr>
        <p:txBody>
          <a:bodyPr wrap="square" lIns="0" tIns="0" rIns="0" bIns="0" rtlCol="0" anchor="ctr"/>
          <a:lstStyle/>
          <a:p>
            <a:pPr indent="0" marL="0">
              <a:spcAft>
                <a:spcPts val="400"/>
              </a:spcAft>
              <a:buNone/>
            </a:pPr>
            <a:r>
              <a:rPr lang="en-US" sz="1900" b="1" dirty="0">
                <a:solidFill>
                  <a:schemeClr val="tx2"/>
                </a:solidFill>
              </a:rPr>
              <a:t>Confirmed</a:t>
            </a:r>
            <a:endParaRPr lang="en-US" sz="2400" dirty="0"/>
          </a:p>
          <a:p>
            <a:pPr indent="0" marL="0">
              <a:spcAft>
                <a:spcPts val="400"/>
              </a:spcAft>
              <a:buNone/>
            </a:pPr>
            <a:r>
              <a:rPr lang="en-US" sz="1600" dirty="0">
                <a:solidFill>
                  <a:srgbClr val="3A3A3A"/>
                </a:solidFill>
              </a:rPr>
              <a:t>against the pool</a:t>
            </a:r>
            <a:endParaRPr lang="en-US" sz="2400" dirty="0"/>
          </a:p>
        </p:txBody>
      </p:sp>
      <p:sp>
        <p:nvSpPr>
          <p:cNvPr id="22" name="Shape 19"/>
          <p:cNvSpPr/>
          <p:nvPr/>
        </p:nvSpPr>
        <p:spPr>
          <a:xfrm>
            <a:off x="15081069" y="2834640"/>
            <a:ext cx="274320" cy="914"/>
          </a:xfrm>
          <a:prstGeom prst="line">
            <a:avLst/>
          </a:prstGeom>
          <a:noFill/>
          <a:ln w="38100">
            <a:solidFill>
              <a:srgbClr val="6F6F6F"/>
            </a:solidFill>
            <a:prstDash val="solid"/>
            <a:tailEnd type="triangle"/>
          </a:ln>
        </p:spPr>
      </p:sp>
      <p:sp>
        <p:nvSpPr>
          <p:cNvPr id="23" name="Shape 20"/>
          <p:cNvSpPr/>
          <p:nvPr/>
        </p:nvSpPr>
        <p:spPr>
          <a:xfrm>
            <a:off x="15401109" y="2103120"/>
            <a:ext cx="2063931" cy="1463040"/>
          </a:xfrm>
          <a:prstGeom prst="rect">
            <a:avLst/>
          </a:prstGeom>
          <a:solidFill>
            <a:schemeClr val="tx2"/>
          </a:solidFill>
          <a:ln w="12700">
            <a:solidFill>
              <a:schemeClr val="tx2"/>
            </a:solidFill>
            <a:prstDash val="solid"/>
          </a:ln>
        </p:spPr>
      </p:sp>
      <p:sp>
        <p:nvSpPr>
          <p:cNvPr id="24" name="Text 21"/>
          <p:cNvSpPr txBox="1"/>
          <p:nvPr/>
        </p:nvSpPr>
        <p:spPr>
          <a:xfrm>
            <a:off x="15556557" y="2103120"/>
            <a:ext cx="1753035" cy="1463040"/>
          </a:xfrm>
          <a:prstGeom prst="rect">
            <a:avLst/>
          </a:prstGeom>
          <a:noFill/>
          <a:ln/>
        </p:spPr>
        <p:txBody>
          <a:bodyPr wrap="square" lIns="0" tIns="0" rIns="0" bIns="0" rtlCol="0" anchor="ctr"/>
          <a:lstStyle/>
          <a:p>
            <a:pPr indent="0" marL="0">
              <a:spcAft>
                <a:spcPts val="400"/>
              </a:spcAft>
              <a:buNone/>
            </a:pPr>
            <a:r>
              <a:rPr lang="en-US" sz="1900" b="1" dirty="0">
                <a:solidFill>
                  <a:schemeClr val="accent1"/>
                </a:solidFill>
              </a:rPr>
              <a:t>T-15 allocation</a:t>
            </a:r>
            <a:endParaRPr lang="en-US" sz="2400" dirty="0"/>
          </a:p>
          <a:p>
            <a:pPr indent="0" marL="0">
              <a:spcAft>
                <a:spcPts val="400"/>
              </a:spcAft>
              <a:buNone/>
            </a:pPr>
            <a:r>
              <a:rPr lang="en-US" sz="1600" dirty="0">
                <a:solidFill>
                  <a:schemeClr val="bg1"/>
                </a:solidFill>
              </a:rPr>
              <a:t>one EVSE, exclusion constraint</a:t>
            </a:r>
            <a:endParaRPr lang="en-US" sz="2400" dirty="0"/>
          </a:p>
        </p:txBody>
      </p:sp>
      <p:sp>
        <p:nvSpPr>
          <p:cNvPr id="25" name="Shape 22"/>
          <p:cNvSpPr/>
          <p:nvPr/>
        </p:nvSpPr>
        <p:spPr>
          <a:xfrm>
            <a:off x="822960" y="3931920"/>
            <a:ext cx="9966960" cy="3931920"/>
          </a:xfrm>
          <a:prstGeom prst="rect">
            <a:avLst/>
          </a:prstGeom>
          <a:solidFill>
            <a:schemeClr val="tx2"/>
          </a:solidFill>
          <a:ln w="12700">
            <a:solidFill>
              <a:schemeClr val="tx2"/>
            </a:solidFill>
            <a:prstDash val="solid"/>
          </a:ln>
        </p:spPr>
      </p:sp>
      <p:sp>
        <p:nvSpPr>
          <p:cNvPr id="26" name="Text 23"/>
          <p:cNvSpPr txBox="1"/>
          <p:nvPr/>
        </p:nvSpPr>
        <p:spPr>
          <a:xfrm>
            <a:off x="1143000" y="3931920"/>
            <a:ext cx="9418320" cy="3931920"/>
          </a:xfrm>
          <a:prstGeom prst="rect">
            <a:avLst/>
          </a:prstGeom>
          <a:noFill/>
          <a:ln/>
        </p:spPr>
        <p:txBody>
          <a:bodyPr wrap="square" lIns="0" tIns="0" rIns="0" bIns="0" rtlCol="0" anchor="ctr"/>
          <a:lstStyle/>
          <a:p>
            <a:pPr indent="0" marL="0">
              <a:buNone/>
            </a:pPr>
            <a:r>
              <a:rPr lang="en-US" sz="1600" dirty="0">
                <a:solidFill>
                  <a:schemeClr val="bg1"/>
                </a:solidFill>
                <a:latin typeface="Courier New" pitchFamily="34" charset="0"/>
                <a:ea typeface="Courier New" pitchFamily="34" charset="-122"/>
                <a:cs typeface="Courier New" pitchFamily="34" charset="-120"/>
              </a:rPr>
              <a:t>-- 1  Book: take one unit from the pool</a:t>
            </a:r>
            <a:endParaRPr lang="en-US" sz="1600" dirty="0"/>
          </a:p>
          <a:p>
            <a:pPr indent="0" marL="0">
              <a:buNone/>
            </a:pPr>
            <a:r>
              <a:rPr lang="en-US" sz="1600" dirty="0">
                <a:solidFill>
                  <a:schemeClr val="bg1"/>
                </a:solidFill>
                <a:latin typeface="Courier New" pitchFamily="34" charset="0"/>
                <a:ea typeface="Courier New" pitchFamily="34" charset="-122"/>
                <a:cs typeface="Courier New" pitchFamily="34" charset="-120"/>
              </a:rPr>
              <a:t>SELECT remaining FROM capacity_bucket</a:t>
            </a:r>
            <a:endParaRPr lang="en-US" sz="1600" dirty="0"/>
          </a:p>
          <a:p>
            <a:pPr indent="0" marL="0">
              <a:buNone/>
            </a:pPr>
            <a:r>
              <a:rPr lang="en-US" sz="1600" dirty="0">
                <a:solidFill>
                  <a:schemeClr val="bg1"/>
                </a:solidFill>
                <a:latin typeface="Courier New" pitchFamily="34" charset="0"/>
                <a:ea typeface="Courier New" pitchFamily="34" charset="-122"/>
                <a:cs typeface="Courier New" pitchFamily="34" charset="-120"/>
              </a:rPr>
              <a:t> WHERE site_id = $1 AND connector_type = $2</a:t>
            </a:r>
            <a:endParaRPr lang="en-US" sz="1600" dirty="0"/>
          </a:p>
          <a:p>
            <a:pPr indent="0" marL="0">
              <a:buNone/>
            </a:pPr>
            <a:r>
              <a:rPr lang="en-US" sz="1600" dirty="0">
                <a:solidFill>
                  <a:schemeClr val="bg1"/>
                </a:solidFill>
                <a:latin typeface="Courier New" pitchFamily="34" charset="0"/>
                <a:ea typeface="Courier New" pitchFamily="34" charset="-122"/>
                <a:cs typeface="Courier New" pitchFamily="34" charset="-120"/>
              </a:rPr>
              <a:t>   AND slot_start = $3  FOR UPDATE;</a:t>
            </a:r>
            <a:endParaRPr lang="en-US" sz="1600" dirty="0"/>
          </a:p>
          <a:p>
            <a:pPr indent="0" marL="0">
              <a:buNone/>
            </a:pPr>
            <a:r>
              <a:rPr lang="en-US" sz="1600" dirty="0">
                <a:solidFill>
                  <a:schemeClr val="bg1"/>
                </a:solidFill>
                <a:latin typeface="Courier New" pitchFamily="34" charset="0"/>
                <a:ea typeface="Courier New" pitchFamily="34" charset="-122"/>
                <a:cs typeface="Courier New" pitchFamily="34" charset="-120"/>
              </a:rPr>
              <a:t>UPDATE capacity_bucket SET remaining = remaining - 1 ...;</a:t>
            </a:r>
            <a:endParaRPr lang="en-US" sz="1600" dirty="0"/>
          </a:p>
          <a:p>
            <a:pPr indent="0" marL="0">
              <a:buNone/>
            </a:pPr>
            <a:r>
              <a:rPr lang="en-US" sz="1600" dirty="0">
                <a:solidFill>
                  <a:schemeClr val="bg1"/>
                </a:solidFill>
                <a:latin typeface="Courier New" pitchFamily="34" charset="0"/>
                <a:ea typeface="Courier New" pitchFamily="34" charset="-122"/>
                <a:cs typeface="Courier New" pitchFamily="34" charset="-120"/>
              </a:rPr>
              <a:t>--    CHECK (remaining &gt;= 0): cap never exceeded</a:t>
            </a:r>
            <a:endParaRPr lang="en-US" sz="1600" dirty="0"/>
          </a:p>
          <a:p>
            <a:pPr indent="0" marL="0">
              <a:buNone/>
            </a:pPr>
            <a:endParaRPr lang="en-US" sz="1600" dirty="0"/>
          </a:p>
          <a:p>
            <a:pPr indent="0" marL="0">
              <a:buNone/>
            </a:pPr>
            <a:r>
              <a:rPr lang="en-US" sz="1600" dirty="0">
                <a:solidFill>
                  <a:schemeClr val="bg1"/>
                </a:solidFill>
                <a:latin typeface="Courier New" pitchFamily="34" charset="0"/>
                <a:ea typeface="Courier New" pitchFamily="34" charset="-122"/>
                <a:cs typeface="Courier New" pitchFamily="34" charset="-120"/>
              </a:rPr>
              <a:t>-- 2  At T-15: assign a specific EVSE</a:t>
            </a:r>
            <a:endParaRPr lang="en-US" sz="1600" dirty="0"/>
          </a:p>
          <a:p>
            <a:pPr indent="0" marL="0">
              <a:buNone/>
            </a:pPr>
            <a:r>
              <a:rPr lang="en-US" sz="1600" dirty="0">
                <a:solidFill>
                  <a:schemeClr val="bg1"/>
                </a:solidFill>
                <a:latin typeface="Courier New" pitchFamily="34" charset="0"/>
                <a:ea typeface="Courier New" pitchFamily="34" charset="-122"/>
                <a:cs typeface="Courier New" pitchFamily="34" charset="-120"/>
              </a:rPr>
              <a:t>ALTER TABLE evse_allocation ADD CONSTRAINT one_car_per_evse</a:t>
            </a:r>
            <a:endParaRPr lang="en-US" sz="1600" dirty="0"/>
          </a:p>
          <a:p>
            <a:pPr indent="0" marL="0">
              <a:buNone/>
            </a:pPr>
            <a:r>
              <a:rPr lang="en-US" sz="1600" dirty="0">
                <a:solidFill>
                  <a:schemeClr val="bg1"/>
                </a:solidFill>
                <a:latin typeface="Courier New" pitchFamily="34" charset="0"/>
                <a:ea typeface="Courier New" pitchFamily="34" charset="-122"/>
                <a:cs typeface="Courier New" pitchFamily="34" charset="-120"/>
              </a:rPr>
              <a:t>  EXCLUDE USING gist (evse_id WITH =, slot WITH &amp;&amp;);</a:t>
            </a:r>
            <a:endParaRPr lang="en-US" sz="1600" dirty="0"/>
          </a:p>
        </p:txBody>
      </p:sp>
      <p:sp>
        <p:nvSpPr>
          <p:cNvPr id="27" name="Text 24"/>
          <p:cNvSpPr txBox="1"/>
          <p:nvPr/>
        </p:nvSpPr>
        <p:spPr>
          <a:xfrm>
            <a:off x="822960" y="8046720"/>
            <a:ext cx="9966960" cy="914400"/>
          </a:xfrm>
          <a:prstGeom prst="rect">
            <a:avLst/>
          </a:prstGeom>
          <a:noFill/>
          <a:ln/>
        </p:spPr>
        <p:txBody>
          <a:bodyPr wrap="square" lIns="0" tIns="0" rIns="0" bIns="0" rtlCol="0" anchor="t"/>
          <a:lstStyle/>
          <a:p>
            <a:pPr indent="0" marL="0">
              <a:buNone/>
            </a:pPr>
            <a:r>
              <a:rPr lang="en-US" sz="1800" dirty="0">
                <a:solidFill>
                  <a:schemeClr val="tx1"/>
                </a:solidFill>
              </a:rPr>
              <a:t>One bucket row per site, connector type and 15-min slot; it also enforces the 30–50% bookable cap. The exclusion constraint needs btree_gist.</a:t>
            </a:r>
            <a:endParaRPr lang="en-US" sz="1800" dirty="0"/>
          </a:p>
        </p:txBody>
      </p:sp>
      <p:sp>
        <p:nvSpPr>
          <p:cNvPr id="28" name="Shape 25"/>
          <p:cNvSpPr/>
          <p:nvPr/>
        </p:nvSpPr>
        <p:spPr>
          <a:xfrm>
            <a:off x="11155680" y="3931920"/>
            <a:ext cx="6309360" cy="2651760"/>
          </a:xfrm>
          <a:prstGeom prst="rect">
            <a:avLst/>
          </a:prstGeom>
          <a:solidFill>
            <a:schemeClr val="bg2"/>
          </a:solidFill>
          <a:ln w="12700">
            <a:solidFill>
              <a:schemeClr val="bg2"/>
            </a:solidFill>
            <a:prstDash val="solid"/>
          </a:ln>
        </p:spPr>
      </p:sp>
      <p:sp>
        <p:nvSpPr>
          <p:cNvPr id="29" name="Text 26"/>
          <p:cNvSpPr txBox="1"/>
          <p:nvPr/>
        </p:nvSpPr>
        <p:spPr>
          <a:xfrm>
            <a:off x="11521440" y="4114800"/>
            <a:ext cx="5577840" cy="1005840"/>
          </a:xfrm>
          <a:prstGeom prst="rect">
            <a:avLst/>
          </a:prstGeom>
          <a:noFill/>
          <a:ln/>
        </p:spPr>
        <p:txBody>
          <a:bodyPr wrap="square" lIns="0" tIns="0" rIns="0" bIns="0" rtlCol="0" anchor="ctr"/>
          <a:lstStyle/>
          <a:p>
            <a:pPr indent="0" marL="0">
              <a:buNone/>
            </a:pPr>
            <a:r>
              <a:rPr lang="en-US" sz="4800" b="1" dirty="0">
                <a:solidFill>
                  <a:schemeClr val="accent2"/>
                </a:solidFill>
              </a:rPr>
              <a:t>×5 headroom</a:t>
            </a:r>
            <a:endParaRPr lang="en-US" sz="4800" dirty="0"/>
          </a:p>
        </p:txBody>
      </p:sp>
      <p:sp>
        <p:nvSpPr>
          <p:cNvPr id="30" name="Text 27"/>
          <p:cNvSpPr txBox="1"/>
          <p:nvPr/>
        </p:nvSpPr>
        <p:spPr>
          <a:xfrm>
            <a:off x="11521440" y="5212080"/>
            <a:ext cx="5577840" cy="1188720"/>
          </a:xfrm>
          <a:prstGeom prst="rect">
            <a:avLst/>
          </a:prstGeom>
          <a:noFill/>
          <a:ln/>
        </p:spPr>
        <p:txBody>
          <a:bodyPr wrap="square" lIns="0" tIns="0" rIns="0" bIns="0" rtlCol="0" anchor="t"/>
          <a:lstStyle/>
          <a:p>
            <a:pPr indent="0" marL="0">
              <a:buNone/>
            </a:pPr>
            <a:r>
              <a:rPr lang="en-US" sz="1900" dirty="0">
                <a:solidFill>
                  <a:schemeClr val="tx1"/>
                </a:solidFill>
              </a:rPr>
              <a:t>Load test: 2,000 booking attempts in 10 min, against the ~400-attempt shift-change burst</a:t>
            </a:r>
            <a:endParaRPr lang="en-US" sz="1900" dirty="0"/>
          </a:p>
        </p:txBody>
      </p:sp>
      <p:sp>
        <p:nvSpPr>
          <p:cNvPr id="31" name="Shape 28"/>
          <p:cNvSpPr/>
          <p:nvPr/>
        </p:nvSpPr>
        <p:spPr>
          <a:xfrm>
            <a:off x="11155680" y="6812280"/>
            <a:ext cx="6309360" cy="2148840"/>
          </a:xfrm>
          <a:prstGeom prst="rect">
            <a:avLst/>
          </a:prstGeom>
          <a:solidFill>
            <a:srgbClr val="CFFFEA"/>
          </a:solidFill>
          <a:ln w="12700">
            <a:solidFill>
              <a:srgbClr val="CFFFEA"/>
            </a:solidFill>
            <a:prstDash val="solid"/>
          </a:ln>
        </p:spPr>
      </p:sp>
      <p:sp>
        <p:nvSpPr>
          <p:cNvPr id="32" name="Text 29"/>
          <p:cNvSpPr txBox="1"/>
          <p:nvPr/>
        </p:nvSpPr>
        <p:spPr>
          <a:xfrm>
            <a:off x="11521440" y="6995160"/>
            <a:ext cx="5577840" cy="548640"/>
          </a:xfrm>
          <a:prstGeom prst="rect">
            <a:avLst/>
          </a:prstGeom>
          <a:noFill/>
          <a:ln/>
        </p:spPr>
        <p:txBody>
          <a:bodyPr wrap="square" lIns="0" tIns="0" rIns="0" bIns="0" rtlCol="0" anchor="t"/>
          <a:lstStyle/>
          <a:p>
            <a:pPr indent="0" marL="0">
              <a:buNone/>
            </a:pPr>
            <a:r>
              <a:rPr lang="en-US" sz="2200" b="1" dirty="0">
                <a:solidFill>
                  <a:schemeClr val="tx2"/>
                </a:solidFill>
              </a:rPr>
              <a:t>Overbooking: off by default</a:t>
            </a:r>
            <a:endParaRPr lang="en-US" sz="2200" dirty="0"/>
          </a:p>
        </p:txBody>
      </p:sp>
      <p:sp>
        <p:nvSpPr>
          <p:cNvPr id="33" name="Text 30"/>
          <p:cNvSpPr txBox="1"/>
          <p:nvPr/>
        </p:nvSpPr>
        <p:spPr>
          <a:xfrm>
            <a:off x="11521440" y="7589520"/>
            <a:ext cx="5577840" cy="1188720"/>
          </a:xfrm>
          <a:prstGeom prst="rect">
            <a:avLst/>
          </a:prstGeom>
          <a:noFill/>
          <a:ln/>
        </p:spPr>
        <p:txBody>
          <a:bodyPr wrap="square" lIns="0" tIns="0" rIns="0" bIns="0" rtlCol="0" anchor="t"/>
          <a:lstStyle/>
          <a:p>
            <a:pPr indent="0" marL="0">
              <a:buNone/>
            </a:pPr>
            <a:r>
              <a:rPr lang="en-US" sz="1800" dirty="0">
                <a:solidFill>
                  <a:schemeClr val="tx1"/>
                </a:solidFill>
              </a:rPr>
              <a:t>A per-site policy later, only if the station agrees. Buffers absorb overstays from the previous session.</a:t>
            </a:r>
            <a:endParaRPr lang="en-US" sz="1800" dirty="0"/>
          </a:p>
        </p:txBody>
      </p:sp>
      <p:sp>
        <p:nvSpPr>
          <p:cNvPr id="25" name="Slide Number Placeholder 0"/>
          <p:cNvSpPr>
            <a:spLocks noGrp="1"/>
          </p:cNvSpPr>
          <p:nvPr>
            <p:ph type="sldNum" sz="quarter" idx="4294967295"/>
          </p:nvPr>
        </p:nvSpPr>
        <p:spPr>
          <a:xfrm>
            <a:off x="16642080" y="9646920"/>
            <a:ext cx="822960" cy="347472"/>
          </a:xfrm>
          <a:prstGeom prst="rect">
            <a:avLst/>
          </a:prstGeom>
          <a:extLst>
            <a:ext uri="{C572A759-6A51-4108-AA02-DFA0A04FC94B}">
              <ma14:wrappingTextBoxFlag xmlns:ma14="http://schemas.microsoft.com/office/mac/drawingml/2011/main" val="0"/>
            </a:ext>
          </a:extLst>
        </p:spPr>
        <p:txBody>
          <a:bodyPr/>
          <a:lstStyle>
            <a:lvl1pPr>
              <a:defRPr sz="1500">
                <a:solidFill>
                  <a:schemeClr val="tx1"/>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header"/>
          <p:cNvSpPr txBox="1"/>
          <p:nvPr/>
        </p:nvSpPr>
        <p:spPr>
          <a:xfrm>
            <a:off x="822960" y="219456"/>
            <a:ext cx="10972800" cy="347472"/>
          </a:xfrm>
          <a:prstGeom prst="rect">
            <a:avLst/>
          </a:prstGeom>
          <a:noFill/>
          <a:ln/>
        </p:spPr>
        <p:txBody>
          <a:bodyPr wrap="square" lIns="0" tIns="0" rIns="0" bIns="0" rtlCol="0" anchor="ctr"/>
          <a:lstStyle/>
          <a:p>
            <a:pPr indent="0" marL="0">
              <a:buNone/>
            </a:pPr>
            <a:r>
              <a:rPr lang="en-US" sz="1500" dirty="0">
                <a:solidFill>
                  <a:schemeClr val="tx1"/>
                </a:solidFill>
              </a:rPr>
              <a:t>amperlane/02-solution</a:t>
            </a:r>
            <a:endParaRPr lang="en-US" sz="1500" dirty="0"/>
          </a:p>
        </p:txBody>
      </p:sp>
      <p:sp>
        <p:nvSpPr>
          <p:cNvPr id="3" name="Text 0"/>
          <p:cNvSpPr/>
          <p:nvPr>
            <p:ph idx="100" type="title" hasCustomPrompt="1"/>
          </p:nvPr>
        </p:nvSpPr>
        <p:spPr>
          <a:xfrm>
            <a:off x="822960" y="841248"/>
            <a:ext cx="16642080" cy="1005840"/>
          </a:xfrm>
          <a:prstGeom prst="rect">
            <a:avLst/>
          </a:prstGeom>
          <a:noFill/>
          <a:ln/>
        </p:spPr>
        <p:txBody>
          <a:bodyPr wrap="square" lIns="0" tIns="0" rIns="0" bIns="0" rtlCol="0" anchor="t"/>
          <a:lstStyle/>
          <a:p>
            <a:pPr algn="l" indent="0" marL="0">
              <a:buNone/>
            </a:pPr>
            <a:r>
              <a:rPr lang="en-US" sz="4500" dirty="0">
                <a:solidFill>
                  <a:schemeClr val="tx1"/>
                </a:solidFill>
              </a:rPr>
              <a:t>NFRs and compliance</a:t>
            </a:r>
            <a:endParaRPr lang="en-US" sz="4500" dirty="0"/>
          </a:p>
        </p:txBody>
      </p:sp>
      <p:sp>
        <p:nvSpPr>
          <p:cNvPr id="5" name="Shape 2"/>
          <p:cNvSpPr/>
          <p:nvPr/>
        </p:nvSpPr>
        <p:spPr>
          <a:xfrm>
            <a:off x="822960" y="2103120"/>
            <a:ext cx="3931920" cy="3154680"/>
          </a:xfrm>
          <a:prstGeom prst="rect">
            <a:avLst/>
          </a:prstGeom>
          <a:solidFill>
            <a:schemeClr val="bg2"/>
          </a:solidFill>
          <a:ln w="12700">
            <a:solidFill>
              <a:schemeClr val="bg2"/>
            </a:solidFill>
            <a:prstDash val="solid"/>
          </a:ln>
        </p:spPr>
      </p:sp>
      <p:sp>
        <p:nvSpPr>
          <p:cNvPr id="6" name="Shape 3"/>
          <p:cNvSpPr/>
          <p:nvPr/>
        </p:nvSpPr>
        <p:spPr>
          <a:xfrm>
            <a:off x="1097280" y="2423160"/>
            <a:ext cx="731520" cy="731520"/>
          </a:xfrm>
          <a:prstGeom prst="ellipse">
            <a:avLst/>
          </a:prstGeom>
          <a:solidFill>
            <a:schemeClr val="accent1"/>
          </a:solidFill>
          <a:ln w="12700">
            <a:solidFill>
              <a:schemeClr val="accent1"/>
            </a:solidFill>
            <a:prstDash val="solid"/>
          </a:ln>
        </p:spPr>
      </p:sp>
      <p:pic>
        <p:nvPicPr>
          <p:cNvPr id="7" name="Image 0" descr="preencoded.png">    </p:cNvPr>
          <p:cNvPicPr>
            <a:picLocks noChangeAspect="1"/>
          </p:cNvPicPr>
          <p:nvPr/>
        </p:nvPicPr>
        <p:blipFill>
          <a:blip r:embed="rId1"/>
          <a:stretch>
            <a:fillRect/>
          </a:stretch>
        </p:blipFill>
        <p:spPr>
          <a:xfrm>
            <a:off x="1280160" y="2606040"/>
            <a:ext cx="365760" cy="365760"/>
          </a:xfrm>
          <a:prstGeom prst="rect">
            <a:avLst/>
          </a:prstGeom>
        </p:spPr>
      </p:pic>
      <p:sp>
        <p:nvSpPr>
          <p:cNvPr id="8" name="Text 4"/>
          <p:cNvSpPr txBox="1"/>
          <p:nvPr/>
        </p:nvSpPr>
        <p:spPr>
          <a:xfrm>
            <a:off x="2011680" y="2377440"/>
            <a:ext cx="2606040" cy="822960"/>
          </a:xfrm>
          <a:prstGeom prst="rect">
            <a:avLst/>
          </a:prstGeom>
          <a:noFill/>
          <a:ln/>
        </p:spPr>
        <p:txBody>
          <a:bodyPr wrap="square" lIns="0" tIns="0" rIns="0" bIns="0" rtlCol="0" anchor="ctr"/>
          <a:lstStyle/>
          <a:p>
            <a:pPr indent="0" marL="0">
              <a:buNone/>
            </a:pPr>
            <a:r>
              <a:rPr lang="en-US" sz="2600" b="1" dirty="0">
                <a:solidFill>
                  <a:schemeClr val="tx2"/>
                </a:solidFill>
              </a:rPr>
              <a:t>≤ 60 s</a:t>
            </a:r>
            <a:endParaRPr lang="en-US" sz="2600" dirty="0"/>
          </a:p>
        </p:txBody>
      </p:sp>
      <p:sp>
        <p:nvSpPr>
          <p:cNvPr id="9" name="Text 5"/>
          <p:cNvSpPr txBox="1"/>
          <p:nvPr/>
        </p:nvSpPr>
        <p:spPr>
          <a:xfrm>
            <a:off x="1097280" y="3383280"/>
            <a:ext cx="3429000" cy="1737360"/>
          </a:xfrm>
          <a:prstGeom prst="rect">
            <a:avLst/>
          </a:prstGeom>
          <a:noFill/>
          <a:ln/>
        </p:spPr>
        <p:txBody>
          <a:bodyPr wrap="square" lIns="0" tIns="0" rIns="0" bIns="0" rtlCol="0" anchor="t"/>
          <a:lstStyle/>
          <a:p>
            <a:pPr indent="0" marL="0">
              <a:buNone/>
            </a:pPr>
            <a:r>
              <a:rPr lang="en-US" sz="1800" dirty="0">
                <a:solidFill>
                  <a:schemeClr val="tx1"/>
                </a:solidFill>
              </a:rPr>
              <a:t>station status freshness</a:t>
            </a:r>
            <a:endParaRPr lang="en-US" sz="1800" dirty="0"/>
          </a:p>
        </p:txBody>
      </p:sp>
      <p:sp>
        <p:nvSpPr>
          <p:cNvPr id="10" name="Shape 6"/>
          <p:cNvSpPr/>
          <p:nvPr/>
        </p:nvSpPr>
        <p:spPr>
          <a:xfrm>
            <a:off x="5029200" y="2103120"/>
            <a:ext cx="3931920" cy="3154680"/>
          </a:xfrm>
          <a:prstGeom prst="rect">
            <a:avLst/>
          </a:prstGeom>
          <a:solidFill>
            <a:schemeClr val="bg2"/>
          </a:solidFill>
          <a:ln w="12700">
            <a:solidFill>
              <a:schemeClr val="bg2"/>
            </a:solidFill>
            <a:prstDash val="solid"/>
          </a:ln>
        </p:spPr>
      </p:sp>
      <p:sp>
        <p:nvSpPr>
          <p:cNvPr id="11" name="Shape 7"/>
          <p:cNvSpPr/>
          <p:nvPr/>
        </p:nvSpPr>
        <p:spPr>
          <a:xfrm>
            <a:off x="5303520" y="2423160"/>
            <a:ext cx="731520" cy="731520"/>
          </a:xfrm>
          <a:prstGeom prst="ellipse">
            <a:avLst/>
          </a:prstGeom>
          <a:solidFill>
            <a:schemeClr val="accent1"/>
          </a:solidFill>
          <a:ln w="12700">
            <a:solidFill>
              <a:schemeClr val="accent1"/>
            </a:solidFill>
            <a:prstDash val="solid"/>
          </a:ln>
        </p:spPr>
      </p:sp>
      <p:pic>
        <p:nvPicPr>
          <p:cNvPr id="12" name="Image 1" descr="preencoded.png">    </p:cNvPr>
          <p:cNvPicPr>
            <a:picLocks noChangeAspect="1"/>
          </p:cNvPicPr>
          <p:nvPr/>
        </p:nvPicPr>
        <p:blipFill>
          <a:blip r:embed="rId2"/>
          <a:stretch>
            <a:fillRect/>
          </a:stretch>
        </p:blipFill>
        <p:spPr>
          <a:xfrm>
            <a:off x="5486400" y="2606040"/>
            <a:ext cx="365760" cy="365760"/>
          </a:xfrm>
          <a:prstGeom prst="rect">
            <a:avLst/>
          </a:prstGeom>
        </p:spPr>
      </p:pic>
      <p:sp>
        <p:nvSpPr>
          <p:cNvPr id="13" name="Text 8"/>
          <p:cNvSpPr txBox="1"/>
          <p:nvPr/>
        </p:nvSpPr>
        <p:spPr>
          <a:xfrm>
            <a:off x="6217920" y="2377440"/>
            <a:ext cx="2606040" cy="822960"/>
          </a:xfrm>
          <a:prstGeom prst="rect">
            <a:avLst/>
          </a:prstGeom>
          <a:noFill/>
          <a:ln/>
        </p:spPr>
        <p:txBody>
          <a:bodyPr wrap="square" lIns="0" tIns="0" rIns="0" bIns="0" rtlCol="0" anchor="ctr"/>
          <a:lstStyle/>
          <a:p>
            <a:pPr indent="0" marL="0">
              <a:buNone/>
            </a:pPr>
            <a:r>
              <a:rPr lang="en-US" sz="2600" b="1" dirty="0">
                <a:solidFill>
                  <a:schemeClr val="tx2"/>
                </a:solidFill>
              </a:rPr>
              <a:t>&lt; 300 ms</a:t>
            </a:r>
            <a:endParaRPr lang="en-US" sz="2600" dirty="0"/>
          </a:p>
        </p:txBody>
      </p:sp>
      <p:sp>
        <p:nvSpPr>
          <p:cNvPr id="14" name="Text 9"/>
          <p:cNvSpPr txBox="1"/>
          <p:nvPr/>
        </p:nvSpPr>
        <p:spPr>
          <a:xfrm>
            <a:off x="5303520" y="3383280"/>
            <a:ext cx="3429000" cy="1737360"/>
          </a:xfrm>
          <a:prstGeom prst="rect">
            <a:avLst/>
          </a:prstGeom>
          <a:noFill/>
          <a:ln/>
        </p:spPr>
        <p:txBody>
          <a:bodyPr wrap="square" lIns="0" tIns="0" rIns="0" bIns="0" rtlCol="0" anchor="t"/>
          <a:lstStyle/>
          <a:p>
            <a:pPr indent="0" marL="0">
              <a:buNone/>
            </a:pPr>
            <a:r>
              <a:rPr lang="en-US" sz="1800" dirty="0">
                <a:solidFill>
                  <a:schemeClr val="tx1"/>
                </a:solidFill>
              </a:rPr>
              <a:t>booking API latency, p95</a:t>
            </a:r>
            <a:endParaRPr lang="en-US" sz="1800" dirty="0"/>
          </a:p>
        </p:txBody>
      </p:sp>
      <p:sp>
        <p:nvSpPr>
          <p:cNvPr id="15" name="Shape 10"/>
          <p:cNvSpPr/>
          <p:nvPr/>
        </p:nvSpPr>
        <p:spPr>
          <a:xfrm>
            <a:off x="9235440" y="2103120"/>
            <a:ext cx="3931920" cy="3154680"/>
          </a:xfrm>
          <a:prstGeom prst="rect">
            <a:avLst/>
          </a:prstGeom>
          <a:solidFill>
            <a:schemeClr val="bg2"/>
          </a:solidFill>
          <a:ln w="12700">
            <a:solidFill>
              <a:schemeClr val="bg2"/>
            </a:solidFill>
            <a:prstDash val="solid"/>
          </a:ln>
        </p:spPr>
      </p:sp>
      <p:sp>
        <p:nvSpPr>
          <p:cNvPr id="16" name="Shape 11"/>
          <p:cNvSpPr/>
          <p:nvPr/>
        </p:nvSpPr>
        <p:spPr>
          <a:xfrm>
            <a:off x="9509760" y="2423160"/>
            <a:ext cx="731520" cy="731520"/>
          </a:xfrm>
          <a:prstGeom prst="ellipse">
            <a:avLst/>
          </a:prstGeom>
          <a:solidFill>
            <a:schemeClr val="accent1"/>
          </a:solidFill>
          <a:ln w="12700">
            <a:solidFill>
              <a:schemeClr val="accent1"/>
            </a:solidFill>
            <a:prstDash val="solid"/>
          </a:ln>
        </p:spPr>
      </p:sp>
      <p:pic>
        <p:nvPicPr>
          <p:cNvPr id="17" name="Image 2" descr="preencoded.png">    </p:cNvPr>
          <p:cNvPicPr>
            <a:picLocks noChangeAspect="1"/>
          </p:cNvPicPr>
          <p:nvPr/>
        </p:nvPicPr>
        <p:blipFill>
          <a:blip r:embed="rId3"/>
          <a:stretch>
            <a:fillRect/>
          </a:stretch>
        </p:blipFill>
        <p:spPr>
          <a:xfrm>
            <a:off x="9692640" y="2606040"/>
            <a:ext cx="365760" cy="365760"/>
          </a:xfrm>
          <a:prstGeom prst="rect">
            <a:avLst/>
          </a:prstGeom>
        </p:spPr>
      </p:pic>
      <p:sp>
        <p:nvSpPr>
          <p:cNvPr id="18" name="Text 12"/>
          <p:cNvSpPr txBox="1"/>
          <p:nvPr/>
        </p:nvSpPr>
        <p:spPr>
          <a:xfrm>
            <a:off x="10424160" y="2377440"/>
            <a:ext cx="2606040" cy="822960"/>
          </a:xfrm>
          <a:prstGeom prst="rect">
            <a:avLst/>
          </a:prstGeom>
          <a:noFill/>
          <a:ln/>
        </p:spPr>
        <p:txBody>
          <a:bodyPr wrap="square" lIns="0" tIns="0" rIns="0" bIns="0" rtlCol="0" anchor="ctr"/>
          <a:lstStyle/>
          <a:p>
            <a:pPr indent="0" marL="0">
              <a:buNone/>
            </a:pPr>
            <a:r>
              <a:rPr lang="en-US" sz="2600" b="1" dirty="0">
                <a:solidFill>
                  <a:schemeClr val="tx2"/>
                </a:solidFill>
              </a:rPr>
              <a:t>99.9%</a:t>
            </a:r>
            <a:endParaRPr lang="en-US" sz="2600" dirty="0"/>
          </a:p>
        </p:txBody>
      </p:sp>
      <p:sp>
        <p:nvSpPr>
          <p:cNvPr id="19" name="Text 13"/>
          <p:cNvSpPr txBox="1"/>
          <p:nvPr/>
        </p:nvSpPr>
        <p:spPr>
          <a:xfrm>
            <a:off x="9509760" y="3383280"/>
            <a:ext cx="3429000" cy="1737360"/>
          </a:xfrm>
          <a:prstGeom prst="rect">
            <a:avLst/>
          </a:prstGeom>
          <a:noFill/>
          <a:ln/>
        </p:spPr>
        <p:txBody>
          <a:bodyPr wrap="square" lIns="0" tIns="0" rIns="0" bIns="0" rtlCol="0" anchor="t"/>
          <a:lstStyle/>
          <a:p>
            <a:pPr indent="0" marL="0">
              <a:buNone/>
            </a:pPr>
            <a:r>
              <a:rPr lang="en-US" sz="1800" dirty="0">
                <a:solidFill>
                  <a:schemeClr val="tx1"/>
                </a:solidFill>
              </a:rPr>
              <a:t>availability, 5 AM–1 AM ET</a:t>
            </a:r>
            <a:endParaRPr lang="en-US" sz="1800" dirty="0"/>
          </a:p>
        </p:txBody>
      </p:sp>
      <p:sp>
        <p:nvSpPr>
          <p:cNvPr id="20" name="Shape 14"/>
          <p:cNvSpPr/>
          <p:nvPr/>
        </p:nvSpPr>
        <p:spPr>
          <a:xfrm>
            <a:off x="13441680" y="2103120"/>
            <a:ext cx="3931920" cy="3154680"/>
          </a:xfrm>
          <a:prstGeom prst="rect">
            <a:avLst/>
          </a:prstGeom>
          <a:solidFill>
            <a:schemeClr val="bg2"/>
          </a:solidFill>
          <a:ln w="12700">
            <a:solidFill>
              <a:schemeClr val="bg2"/>
            </a:solidFill>
            <a:prstDash val="solid"/>
          </a:ln>
        </p:spPr>
      </p:sp>
      <p:sp>
        <p:nvSpPr>
          <p:cNvPr id="21" name="Shape 15"/>
          <p:cNvSpPr/>
          <p:nvPr/>
        </p:nvSpPr>
        <p:spPr>
          <a:xfrm>
            <a:off x="13716000" y="2423160"/>
            <a:ext cx="731520" cy="731520"/>
          </a:xfrm>
          <a:prstGeom prst="ellipse">
            <a:avLst/>
          </a:prstGeom>
          <a:solidFill>
            <a:schemeClr val="accent1"/>
          </a:solidFill>
          <a:ln w="12700">
            <a:solidFill>
              <a:schemeClr val="accent1"/>
            </a:solidFill>
            <a:prstDash val="solid"/>
          </a:ln>
        </p:spPr>
      </p:sp>
      <p:pic>
        <p:nvPicPr>
          <p:cNvPr id="22" name="Image 3" descr="preencoded.png">    </p:cNvPr>
          <p:cNvPicPr>
            <a:picLocks noChangeAspect="1"/>
          </p:cNvPicPr>
          <p:nvPr/>
        </p:nvPicPr>
        <p:blipFill>
          <a:blip r:embed="rId4"/>
          <a:stretch>
            <a:fillRect/>
          </a:stretch>
        </p:blipFill>
        <p:spPr>
          <a:xfrm>
            <a:off x="13898880" y="2606040"/>
            <a:ext cx="365760" cy="365760"/>
          </a:xfrm>
          <a:prstGeom prst="rect">
            <a:avLst/>
          </a:prstGeom>
        </p:spPr>
      </p:pic>
      <p:sp>
        <p:nvSpPr>
          <p:cNvPr id="23" name="Text 16"/>
          <p:cNvSpPr txBox="1"/>
          <p:nvPr/>
        </p:nvSpPr>
        <p:spPr>
          <a:xfrm>
            <a:off x="14630400" y="2377440"/>
            <a:ext cx="2606040" cy="822960"/>
          </a:xfrm>
          <a:prstGeom prst="rect">
            <a:avLst/>
          </a:prstGeom>
          <a:noFill/>
          <a:ln/>
        </p:spPr>
        <p:txBody>
          <a:bodyPr wrap="square" lIns="0" tIns="0" rIns="0" bIns="0" rtlCol="0" anchor="ctr"/>
          <a:lstStyle/>
          <a:p>
            <a:pPr indent="0" marL="0">
              <a:buNone/>
            </a:pPr>
            <a:r>
              <a:rPr lang="en-US" sz="2600" b="1" dirty="0">
                <a:solidFill>
                  <a:schemeClr val="tx2"/>
                </a:solidFill>
              </a:rPr>
              <a:t>400 / 10 min</a:t>
            </a:r>
            <a:endParaRPr lang="en-US" sz="2600" dirty="0"/>
          </a:p>
        </p:txBody>
      </p:sp>
      <p:sp>
        <p:nvSpPr>
          <p:cNvPr id="24" name="Text 17"/>
          <p:cNvSpPr txBox="1"/>
          <p:nvPr/>
        </p:nvSpPr>
        <p:spPr>
          <a:xfrm>
            <a:off x="13716000" y="3383280"/>
            <a:ext cx="3429000" cy="1737360"/>
          </a:xfrm>
          <a:prstGeom prst="rect">
            <a:avLst/>
          </a:prstGeom>
          <a:noFill/>
          <a:ln/>
        </p:spPr>
        <p:txBody>
          <a:bodyPr wrap="square" lIns="0" tIns="0" rIns="0" bIns="0" rtlCol="0" anchor="t"/>
          <a:lstStyle/>
          <a:p>
            <a:pPr indent="0" marL="0">
              <a:buNone/>
            </a:pPr>
            <a:r>
              <a:rPr lang="en-US" sz="1800" dirty="0">
                <a:solidFill>
                  <a:schemeClr val="tx1"/>
                </a:solidFill>
              </a:rPr>
              <a:t>shift-change burst, tested ×5</a:t>
            </a:r>
            <a:endParaRPr lang="en-US" sz="1800" dirty="0"/>
          </a:p>
        </p:txBody>
      </p:sp>
      <p:sp>
        <p:nvSpPr>
          <p:cNvPr id="25" name="Shape 18"/>
          <p:cNvSpPr/>
          <p:nvPr/>
        </p:nvSpPr>
        <p:spPr>
          <a:xfrm>
            <a:off x="822960" y="5532120"/>
            <a:ext cx="3931920" cy="3154680"/>
          </a:xfrm>
          <a:prstGeom prst="rect">
            <a:avLst/>
          </a:prstGeom>
          <a:solidFill>
            <a:srgbClr val="CFFFEA"/>
          </a:solidFill>
          <a:ln w="12700">
            <a:solidFill>
              <a:srgbClr val="CFFFEA"/>
            </a:solidFill>
            <a:prstDash val="solid"/>
          </a:ln>
        </p:spPr>
      </p:sp>
      <p:sp>
        <p:nvSpPr>
          <p:cNvPr id="26" name="Shape 19"/>
          <p:cNvSpPr/>
          <p:nvPr/>
        </p:nvSpPr>
        <p:spPr>
          <a:xfrm>
            <a:off x="1097280" y="5852160"/>
            <a:ext cx="731520" cy="731520"/>
          </a:xfrm>
          <a:prstGeom prst="ellipse">
            <a:avLst/>
          </a:prstGeom>
          <a:solidFill>
            <a:schemeClr val="tx2"/>
          </a:solidFill>
          <a:ln w="12700">
            <a:solidFill>
              <a:schemeClr val="tx2"/>
            </a:solidFill>
            <a:prstDash val="solid"/>
          </a:ln>
        </p:spPr>
      </p:sp>
      <p:pic>
        <p:nvPicPr>
          <p:cNvPr id="27" name="Image 4" descr="preencoded.png">    </p:cNvPr>
          <p:cNvPicPr>
            <a:picLocks noChangeAspect="1"/>
          </p:cNvPicPr>
          <p:nvPr/>
        </p:nvPicPr>
        <p:blipFill>
          <a:blip r:embed="rId5"/>
          <a:stretch>
            <a:fillRect/>
          </a:stretch>
        </p:blipFill>
        <p:spPr>
          <a:xfrm>
            <a:off x="1280160" y="6035040"/>
            <a:ext cx="365760" cy="365760"/>
          </a:xfrm>
          <a:prstGeom prst="rect">
            <a:avLst/>
          </a:prstGeom>
        </p:spPr>
      </p:pic>
      <p:sp>
        <p:nvSpPr>
          <p:cNvPr id="28" name="Text 20"/>
          <p:cNvSpPr txBox="1"/>
          <p:nvPr/>
        </p:nvSpPr>
        <p:spPr>
          <a:xfrm>
            <a:off x="2011680" y="5806440"/>
            <a:ext cx="2606040" cy="822960"/>
          </a:xfrm>
          <a:prstGeom prst="rect">
            <a:avLst/>
          </a:prstGeom>
          <a:noFill/>
          <a:ln/>
        </p:spPr>
        <p:txBody>
          <a:bodyPr wrap="square" lIns="0" tIns="0" rIns="0" bIns="0" rtlCol="0" anchor="ctr"/>
          <a:lstStyle/>
          <a:p>
            <a:pPr indent="0" marL="0">
              <a:buNone/>
            </a:pPr>
            <a:r>
              <a:rPr lang="en-US" sz="2600" b="1" dirty="0">
                <a:solidFill>
                  <a:schemeClr val="tx2"/>
                </a:solidFill>
              </a:rPr>
              <a:t>NY SHIELD Act</a:t>
            </a:r>
            <a:endParaRPr lang="en-US" sz="2600" dirty="0"/>
          </a:p>
        </p:txBody>
      </p:sp>
      <p:sp>
        <p:nvSpPr>
          <p:cNvPr id="29" name="Text 21"/>
          <p:cNvSpPr txBox="1"/>
          <p:nvPr/>
        </p:nvSpPr>
        <p:spPr>
          <a:xfrm>
            <a:off x="1097280" y="6812280"/>
            <a:ext cx="3429000" cy="1737360"/>
          </a:xfrm>
          <a:prstGeom prst="rect">
            <a:avLst/>
          </a:prstGeom>
          <a:noFill/>
          <a:ln/>
        </p:spPr>
        <p:txBody>
          <a:bodyPr wrap="square" lIns="0" tIns="0" rIns="0" bIns="0" rtlCol="0" anchor="t"/>
          <a:lstStyle/>
          <a:p>
            <a:pPr indent="0" marL="0">
              <a:buNone/>
            </a:pPr>
            <a:r>
              <a:rPr lang="en-US" sz="1800" dirty="0">
                <a:solidFill>
                  <a:schemeClr val="tx1"/>
                </a:solidFill>
              </a:rPr>
              <a:t>Safeguards + breach notice for credentials, licence and account data. Location: consent, minimisation, retention by design.</a:t>
            </a:r>
            <a:endParaRPr lang="en-US" sz="1800" dirty="0"/>
          </a:p>
        </p:txBody>
      </p:sp>
      <p:sp>
        <p:nvSpPr>
          <p:cNvPr id="30" name="Shape 22"/>
          <p:cNvSpPr/>
          <p:nvPr/>
        </p:nvSpPr>
        <p:spPr>
          <a:xfrm>
            <a:off x="5029200" y="5532120"/>
            <a:ext cx="3931920" cy="3154680"/>
          </a:xfrm>
          <a:prstGeom prst="rect">
            <a:avLst/>
          </a:prstGeom>
          <a:solidFill>
            <a:srgbClr val="CFFFEA"/>
          </a:solidFill>
          <a:ln w="12700">
            <a:solidFill>
              <a:srgbClr val="CFFFEA"/>
            </a:solidFill>
            <a:prstDash val="solid"/>
          </a:ln>
        </p:spPr>
      </p:sp>
      <p:sp>
        <p:nvSpPr>
          <p:cNvPr id="31" name="Shape 23"/>
          <p:cNvSpPr/>
          <p:nvPr/>
        </p:nvSpPr>
        <p:spPr>
          <a:xfrm>
            <a:off x="5303520" y="5852160"/>
            <a:ext cx="731520" cy="731520"/>
          </a:xfrm>
          <a:prstGeom prst="ellipse">
            <a:avLst/>
          </a:prstGeom>
          <a:solidFill>
            <a:schemeClr val="tx2"/>
          </a:solidFill>
          <a:ln w="12700">
            <a:solidFill>
              <a:schemeClr val="tx2"/>
            </a:solidFill>
            <a:prstDash val="solid"/>
          </a:ln>
        </p:spPr>
      </p:sp>
      <p:pic>
        <p:nvPicPr>
          <p:cNvPr id="32" name="Image 5" descr="preencoded.png">    </p:cNvPr>
          <p:cNvPicPr>
            <a:picLocks noChangeAspect="1"/>
          </p:cNvPicPr>
          <p:nvPr/>
        </p:nvPicPr>
        <p:blipFill>
          <a:blip r:embed="rId6"/>
          <a:stretch>
            <a:fillRect/>
          </a:stretch>
        </p:blipFill>
        <p:spPr>
          <a:xfrm>
            <a:off x="5486400" y="6035040"/>
            <a:ext cx="365760" cy="365760"/>
          </a:xfrm>
          <a:prstGeom prst="rect">
            <a:avLst/>
          </a:prstGeom>
        </p:spPr>
      </p:pic>
      <p:sp>
        <p:nvSpPr>
          <p:cNvPr id="33" name="Text 24"/>
          <p:cNvSpPr txBox="1"/>
          <p:nvPr/>
        </p:nvSpPr>
        <p:spPr>
          <a:xfrm>
            <a:off x="6217920" y="5806440"/>
            <a:ext cx="2606040" cy="822960"/>
          </a:xfrm>
          <a:prstGeom prst="rect">
            <a:avLst/>
          </a:prstGeom>
          <a:noFill/>
          <a:ln/>
        </p:spPr>
        <p:txBody>
          <a:bodyPr wrap="square" lIns="0" tIns="0" rIns="0" bIns="0" rtlCol="0" anchor="ctr"/>
          <a:lstStyle/>
          <a:p>
            <a:pPr indent="0" marL="0">
              <a:buNone/>
            </a:pPr>
            <a:r>
              <a:rPr lang="en-US" sz="2600" b="1" dirty="0">
                <a:solidFill>
                  <a:schemeClr val="tx2"/>
                </a:solidFill>
              </a:rPr>
              <a:t>SOC 2 Type I</a:t>
            </a:r>
            <a:endParaRPr lang="en-US" sz="2600" dirty="0"/>
          </a:p>
        </p:txBody>
      </p:sp>
      <p:sp>
        <p:nvSpPr>
          <p:cNvPr id="34" name="Text 25"/>
          <p:cNvSpPr txBox="1"/>
          <p:nvPr/>
        </p:nvSpPr>
        <p:spPr>
          <a:xfrm>
            <a:off x="5303520" y="6812280"/>
            <a:ext cx="3429000" cy="1737360"/>
          </a:xfrm>
          <a:prstGeom prst="rect">
            <a:avLst/>
          </a:prstGeom>
          <a:noFill/>
          <a:ln/>
        </p:spPr>
        <p:txBody>
          <a:bodyPr wrap="square" lIns="0" tIns="0" rIns="0" bIns="0" rtlCol="0" anchor="t"/>
          <a:lstStyle/>
          <a:p>
            <a:pPr indent="0" marL="0">
              <a:buNone/>
            </a:pPr>
            <a:r>
              <a:rPr lang="en-US" sz="1800" dirty="0">
                <a:solidFill>
                  <a:schemeClr val="tx1"/>
                </a:solidFill>
              </a:rPr>
              <a:t>+ pen test; readiness path from day one</a:t>
            </a:r>
            <a:endParaRPr lang="en-US" sz="1800" dirty="0"/>
          </a:p>
        </p:txBody>
      </p:sp>
      <p:sp>
        <p:nvSpPr>
          <p:cNvPr id="35" name="Shape 26"/>
          <p:cNvSpPr/>
          <p:nvPr/>
        </p:nvSpPr>
        <p:spPr>
          <a:xfrm>
            <a:off x="9235440" y="5532120"/>
            <a:ext cx="3931920" cy="3154680"/>
          </a:xfrm>
          <a:prstGeom prst="rect">
            <a:avLst/>
          </a:prstGeom>
          <a:solidFill>
            <a:srgbClr val="CFFFEA"/>
          </a:solidFill>
          <a:ln w="12700">
            <a:solidFill>
              <a:srgbClr val="CFFFEA"/>
            </a:solidFill>
            <a:prstDash val="solid"/>
          </a:ln>
        </p:spPr>
      </p:sp>
      <p:sp>
        <p:nvSpPr>
          <p:cNvPr id="36" name="Shape 27"/>
          <p:cNvSpPr/>
          <p:nvPr/>
        </p:nvSpPr>
        <p:spPr>
          <a:xfrm>
            <a:off x="9509760" y="5852160"/>
            <a:ext cx="731520" cy="731520"/>
          </a:xfrm>
          <a:prstGeom prst="ellipse">
            <a:avLst/>
          </a:prstGeom>
          <a:solidFill>
            <a:schemeClr val="tx2"/>
          </a:solidFill>
          <a:ln w="12700">
            <a:solidFill>
              <a:schemeClr val="tx2"/>
            </a:solidFill>
            <a:prstDash val="solid"/>
          </a:ln>
        </p:spPr>
      </p:sp>
      <p:pic>
        <p:nvPicPr>
          <p:cNvPr id="37" name="Image 6" descr="preencoded.png">    </p:cNvPr>
          <p:cNvPicPr>
            <a:picLocks noChangeAspect="1"/>
          </p:cNvPicPr>
          <p:nvPr/>
        </p:nvPicPr>
        <p:blipFill>
          <a:blip r:embed="rId7"/>
          <a:stretch>
            <a:fillRect/>
          </a:stretch>
        </p:blipFill>
        <p:spPr>
          <a:xfrm>
            <a:off x="9692640" y="6035040"/>
            <a:ext cx="365760" cy="365760"/>
          </a:xfrm>
          <a:prstGeom prst="rect">
            <a:avLst/>
          </a:prstGeom>
        </p:spPr>
      </p:pic>
      <p:sp>
        <p:nvSpPr>
          <p:cNvPr id="38" name="Text 28"/>
          <p:cNvSpPr txBox="1"/>
          <p:nvPr/>
        </p:nvSpPr>
        <p:spPr>
          <a:xfrm>
            <a:off x="10424160" y="5806440"/>
            <a:ext cx="2606040" cy="822960"/>
          </a:xfrm>
          <a:prstGeom prst="rect">
            <a:avLst/>
          </a:prstGeom>
          <a:noFill/>
          <a:ln/>
        </p:spPr>
        <p:txBody>
          <a:bodyPr wrap="square" lIns="0" tIns="0" rIns="0" bIns="0" rtlCol="0" anchor="ctr"/>
          <a:lstStyle/>
          <a:p>
            <a:pPr indent="0" marL="0">
              <a:buNone/>
            </a:pPr>
            <a:r>
              <a:rPr lang="en-US" sz="2600" b="1" dirty="0">
                <a:solidFill>
                  <a:schemeClr val="tx2"/>
                </a:solidFill>
              </a:rPr>
              <a:t>Audit trail</a:t>
            </a:r>
            <a:endParaRPr lang="en-US" sz="2600" dirty="0"/>
          </a:p>
        </p:txBody>
      </p:sp>
      <p:sp>
        <p:nvSpPr>
          <p:cNvPr id="39" name="Text 29"/>
          <p:cNvSpPr txBox="1"/>
          <p:nvPr/>
        </p:nvSpPr>
        <p:spPr>
          <a:xfrm>
            <a:off x="9509760" y="6812280"/>
            <a:ext cx="3429000" cy="1737360"/>
          </a:xfrm>
          <a:prstGeom prst="rect">
            <a:avLst/>
          </a:prstGeom>
          <a:noFill/>
          <a:ln/>
        </p:spPr>
        <p:txBody>
          <a:bodyPr wrap="square" lIns="0" tIns="0" rIns="0" bIns="0" rtlCol="0" anchor="t"/>
          <a:lstStyle/>
          <a:p>
            <a:pPr indent="0" marL="0">
              <a:buNone/>
            </a:pPr>
            <a:r>
              <a:rPr lang="en-US" sz="1800" dirty="0">
                <a:solidFill>
                  <a:schemeClr val="tx1"/>
                </a:solidFill>
              </a:rPr>
              <a:t>every hold, override and payout</a:t>
            </a:r>
            <a:endParaRPr lang="en-US" sz="1800" dirty="0"/>
          </a:p>
        </p:txBody>
      </p:sp>
      <p:sp>
        <p:nvSpPr>
          <p:cNvPr id="40" name="Shape 30"/>
          <p:cNvSpPr/>
          <p:nvPr/>
        </p:nvSpPr>
        <p:spPr>
          <a:xfrm>
            <a:off x="13441680" y="5532120"/>
            <a:ext cx="3931920" cy="3154680"/>
          </a:xfrm>
          <a:prstGeom prst="rect">
            <a:avLst/>
          </a:prstGeom>
          <a:solidFill>
            <a:srgbClr val="CFFFEA"/>
          </a:solidFill>
          <a:ln w="12700">
            <a:solidFill>
              <a:srgbClr val="CFFFEA"/>
            </a:solidFill>
            <a:prstDash val="solid"/>
          </a:ln>
        </p:spPr>
      </p:sp>
      <p:sp>
        <p:nvSpPr>
          <p:cNvPr id="41" name="Shape 31"/>
          <p:cNvSpPr/>
          <p:nvPr/>
        </p:nvSpPr>
        <p:spPr>
          <a:xfrm>
            <a:off x="13716000" y="5852160"/>
            <a:ext cx="731520" cy="731520"/>
          </a:xfrm>
          <a:prstGeom prst="ellipse">
            <a:avLst/>
          </a:prstGeom>
          <a:solidFill>
            <a:schemeClr val="tx2"/>
          </a:solidFill>
          <a:ln w="12700">
            <a:solidFill>
              <a:schemeClr val="tx2"/>
            </a:solidFill>
            <a:prstDash val="solid"/>
          </a:ln>
        </p:spPr>
      </p:sp>
      <p:pic>
        <p:nvPicPr>
          <p:cNvPr id="42" name="Image 7" descr="preencoded.png">    </p:cNvPr>
          <p:cNvPicPr>
            <a:picLocks noChangeAspect="1"/>
          </p:cNvPicPr>
          <p:nvPr/>
        </p:nvPicPr>
        <p:blipFill>
          <a:blip r:embed="rId8"/>
          <a:stretch>
            <a:fillRect/>
          </a:stretch>
        </p:blipFill>
        <p:spPr>
          <a:xfrm>
            <a:off x="13898880" y="6035040"/>
            <a:ext cx="365760" cy="365760"/>
          </a:xfrm>
          <a:prstGeom prst="rect">
            <a:avLst/>
          </a:prstGeom>
        </p:spPr>
      </p:pic>
      <p:sp>
        <p:nvSpPr>
          <p:cNvPr id="43" name="Text 32"/>
          <p:cNvSpPr txBox="1"/>
          <p:nvPr/>
        </p:nvSpPr>
        <p:spPr>
          <a:xfrm>
            <a:off x="14630400" y="5806440"/>
            <a:ext cx="2606040" cy="822960"/>
          </a:xfrm>
          <a:prstGeom prst="rect">
            <a:avLst/>
          </a:prstGeom>
          <a:noFill/>
          <a:ln/>
        </p:spPr>
        <p:txBody>
          <a:bodyPr wrap="square" lIns="0" tIns="0" rIns="0" bIns="0" rtlCol="0" anchor="ctr"/>
          <a:lstStyle/>
          <a:p>
            <a:pPr indent="0" marL="0">
              <a:buNone/>
            </a:pPr>
            <a:r>
              <a:rPr lang="en-US" sz="2600" b="1" dirty="0">
                <a:solidFill>
                  <a:schemeClr val="tx2"/>
                </a:solidFill>
              </a:rPr>
              <a:t>EN · ES · BN</a:t>
            </a:r>
            <a:endParaRPr lang="en-US" sz="2600" dirty="0"/>
          </a:p>
        </p:txBody>
      </p:sp>
      <p:sp>
        <p:nvSpPr>
          <p:cNvPr id="44" name="Text 33"/>
          <p:cNvSpPr txBox="1"/>
          <p:nvPr/>
        </p:nvSpPr>
        <p:spPr>
          <a:xfrm>
            <a:off x="13716000" y="6812280"/>
            <a:ext cx="3429000" cy="1737360"/>
          </a:xfrm>
          <a:prstGeom prst="rect">
            <a:avLst/>
          </a:prstGeom>
          <a:noFill/>
          <a:ln/>
        </p:spPr>
        <p:txBody>
          <a:bodyPr wrap="square" lIns="0" tIns="0" rIns="0" bIns="0" rtlCol="0" anchor="t"/>
          <a:lstStyle/>
          <a:p>
            <a:pPr indent="0" marL="0">
              <a:buNone/>
            </a:pPr>
            <a:r>
              <a:rPr lang="en-US" sz="1800" dirty="0">
                <a:solidFill>
                  <a:schemeClr val="tx1"/>
                </a:solidFill>
              </a:rPr>
              <a:t>notifications and driver PWA</a:t>
            </a:r>
            <a:endParaRPr lang="en-US" sz="1800" dirty="0"/>
          </a:p>
        </p:txBody>
      </p:sp>
      <p:sp>
        <p:nvSpPr>
          <p:cNvPr id="25" name="Slide Number Placeholder 0"/>
          <p:cNvSpPr>
            <a:spLocks noGrp="1"/>
          </p:cNvSpPr>
          <p:nvPr>
            <p:ph type="sldNum" sz="quarter" idx="4294967295"/>
          </p:nvPr>
        </p:nvSpPr>
        <p:spPr>
          <a:xfrm>
            <a:off x="16642080" y="9646920"/>
            <a:ext cx="822960" cy="347472"/>
          </a:xfrm>
          <a:prstGeom prst="rect">
            <a:avLst/>
          </a:prstGeom>
          <a:extLst>
            <a:ext uri="{C572A759-6A51-4108-AA02-DFA0A04FC94B}">
              <ma14:wrappingTextBoxFlag xmlns:ma14="http://schemas.microsoft.com/office/mac/drawingml/2011/main" val="0"/>
            </a:ext>
          </a:extLst>
        </p:spPr>
        <p:txBody>
          <a:bodyPr/>
          <a:lstStyle>
            <a:lvl1pPr>
              <a:defRPr sz="1500">
                <a:solidFill>
                  <a:schemeClr val="tx1"/>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header"/>
          <p:cNvSpPr txBox="1"/>
          <p:nvPr/>
        </p:nvSpPr>
        <p:spPr>
          <a:xfrm>
            <a:off x="822960" y="219456"/>
            <a:ext cx="10972800" cy="347472"/>
          </a:xfrm>
          <a:prstGeom prst="rect">
            <a:avLst/>
          </a:prstGeom>
          <a:noFill/>
          <a:ln/>
        </p:spPr>
        <p:txBody>
          <a:bodyPr wrap="square" lIns="0" tIns="0" rIns="0" bIns="0" rtlCol="0" anchor="ctr"/>
          <a:lstStyle/>
          <a:p>
            <a:pPr indent="0" marL="0">
              <a:buNone/>
            </a:pPr>
            <a:r>
              <a:rPr lang="en-US" sz="1500" dirty="0">
                <a:solidFill>
                  <a:schemeClr val="tx1"/>
                </a:solidFill>
              </a:rPr>
              <a:t>amperlane/03-delivery</a:t>
            </a:r>
            <a:endParaRPr lang="en-US" sz="1500" dirty="0"/>
          </a:p>
        </p:txBody>
      </p:sp>
      <p:sp>
        <p:nvSpPr>
          <p:cNvPr id="3" name="Text 0"/>
          <p:cNvSpPr/>
          <p:nvPr>
            <p:ph idx="100" type="title" hasCustomPrompt="1"/>
          </p:nvPr>
        </p:nvSpPr>
        <p:spPr>
          <a:xfrm>
            <a:off x="822960" y="841248"/>
            <a:ext cx="16642080" cy="1005840"/>
          </a:xfrm>
          <a:prstGeom prst="rect">
            <a:avLst/>
          </a:prstGeom>
          <a:noFill/>
          <a:ln/>
        </p:spPr>
        <p:txBody>
          <a:bodyPr wrap="square" lIns="0" tIns="0" rIns="0" bIns="0" rtlCol="0" anchor="t"/>
          <a:lstStyle/>
          <a:p>
            <a:pPr algn="l" indent="0" marL="0">
              <a:buNone/>
            </a:pPr>
            <a:r>
              <a:rPr lang="en-US" sz="4500" dirty="0">
                <a:solidFill>
                  <a:schemeClr val="tx1"/>
                </a:solidFill>
              </a:rPr>
              <a:t>MVP scope for the March 1, 2027 NYC launch</a:t>
            </a:r>
            <a:endParaRPr lang="en-US" sz="4500" dirty="0"/>
          </a:p>
        </p:txBody>
      </p:sp>
      <p:sp>
        <p:nvSpPr>
          <p:cNvPr id="5" name="Shape 2"/>
          <p:cNvSpPr/>
          <p:nvPr/>
        </p:nvSpPr>
        <p:spPr>
          <a:xfrm>
            <a:off x="822960" y="2103120"/>
            <a:ext cx="9326880" cy="6858000"/>
          </a:xfrm>
          <a:prstGeom prst="rect">
            <a:avLst/>
          </a:prstGeom>
          <a:solidFill>
            <a:srgbClr val="CFFFEA"/>
          </a:solidFill>
          <a:ln w="12700">
            <a:solidFill>
              <a:srgbClr val="CFFFEA"/>
            </a:solidFill>
            <a:prstDash val="solid"/>
          </a:ln>
        </p:spPr>
      </p:sp>
      <p:sp>
        <p:nvSpPr>
          <p:cNvPr id="6" name="Shape 3"/>
          <p:cNvSpPr/>
          <p:nvPr/>
        </p:nvSpPr>
        <p:spPr>
          <a:xfrm>
            <a:off x="1188720" y="2377440"/>
            <a:ext cx="777240" cy="777240"/>
          </a:xfrm>
          <a:prstGeom prst="ellipse">
            <a:avLst/>
          </a:prstGeom>
          <a:solidFill>
            <a:schemeClr val="tx2"/>
          </a:solidFill>
          <a:ln w="12700">
            <a:solidFill>
              <a:schemeClr val="tx2"/>
            </a:solidFill>
            <a:prstDash val="solid"/>
          </a:ln>
        </p:spPr>
      </p:sp>
      <p:pic>
        <p:nvPicPr>
          <p:cNvPr id="7" name="Image 0" descr="preencoded.png">    </p:cNvPr>
          <p:cNvPicPr>
            <a:picLocks noChangeAspect="1"/>
          </p:cNvPicPr>
          <p:nvPr/>
        </p:nvPicPr>
        <p:blipFill>
          <a:blip r:embed="rId1"/>
          <a:stretch>
            <a:fillRect/>
          </a:stretch>
        </p:blipFill>
        <p:spPr>
          <a:xfrm>
            <a:off x="1383030" y="2571750"/>
            <a:ext cx="388620" cy="388620"/>
          </a:xfrm>
          <a:prstGeom prst="rect">
            <a:avLst/>
          </a:prstGeom>
        </p:spPr>
      </p:pic>
      <p:sp>
        <p:nvSpPr>
          <p:cNvPr id="8" name="Text 4"/>
          <p:cNvSpPr txBox="1"/>
          <p:nvPr/>
        </p:nvSpPr>
        <p:spPr>
          <a:xfrm>
            <a:off x="2194560" y="2377440"/>
            <a:ext cx="7315200" cy="777240"/>
          </a:xfrm>
          <a:prstGeom prst="rect">
            <a:avLst/>
          </a:prstGeom>
          <a:noFill/>
          <a:ln/>
        </p:spPr>
        <p:txBody>
          <a:bodyPr wrap="square" lIns="0" tIns="0" rIns="0" bIns="0" rtlCol="0" anchor="ctr"/>
          <a:lstStyle/>
          <a:p>
            <a:pPr indent="0" marL="0">
              <a:buNone/>
            </a:pPr>
            <a:r>
              <a:rPr lang="en-US" sz="2800" b="1" dirty="0">
                <a:solidFill>
                  <a:schemeClr val="tx2"/>
                </a:solidFill>
              </a:rPr>
              <a:t>In: March 1, 2027</a:t>
            </a:r>
            <a:endParaRPr lang="en-US" sz="2800" dirty="0"/>
          </a:p>
        </p:txBody>
      </p:sp>
      <p:sp>
        <p:nvSpPr>
          <p:cNvPr id="9" name="Shape 5"/>
          <p:cNvSpPr/>
          <p:nvPr/>
        </p:nvSpPr>
        <p:spPr>
          <a:xfrm>
            <a:off x="1234440" y="3602736"/>
            <a:ext cx="146304" cy="146304"/>
          </a:xfrm>
          <a:prstGeom prst="rect">
            <a:avLst/>
          </a:prstGeom>
          <a:solidFill>
            <a:schemeClr val="tx2"/>
          </a:solidFill>
          <a:ln w="12700">
            <a:solidFill>
              <a:schemeClr val="tx2"/>
            </a:solidFill>
            <a:prstDash val="solid"/>
          </a:ln>
        </p:spPr>
      </p:sp>
      <p:sp>
        <p:nvSpPr>
          <p:cNvPr id="10" name="Text 6"/>
          <p:cNvSpPr txBox="1"/>
          <p:nvPr/>
        </p:nvSpPr>
        <p:spPr>
          <a:xfrm>
            <a:off x="1645920" y="3429000"/>
            <a:ext cx="8229600" cy="493776"/>
          </a:xfrm>
          <a:prstGeom prst="rect">
            <a:avLst/>
          </a:prstGeom>
          <a:noFill/>
          <a:ln/>
        </p:spPr>
        <p:txBody>
          <a:bodyPr wrap="square" lIns="0" tIns="0" rIns="0" bIns="0" rtlCol="0" anchor="ctr"/>
          <a:lstStyle/>
          <a:p>
            <a:pPr indent="0" marL="0">
              <a:buNone/>
            </a:pPr>
            <a:r>
              <a:rPr lang="en-US" sz="2000" dirty="0">
                <a:solidFill>
                  <a:schemeClr val="tx1"/>
                </a:solidFill>
              </a:rPr>
              <a:t>Booking for supply patterns A, B and C</a:t>
            </a:r>
            <a:endParaRPr lang="en-US" sz="2000" dirty="0"/>
          </a:p>
        </p:txBody>
      </p:sp>
      <p:sp>
        <p:nvSpPr>
          <p:cNvPr id="11" name="Shape 7"/>
          <p:cNvSpPr/>
          <p:nvPr/>
        </p:nvSpPr>
        <p:spPr>
          <a:xfrm>
            <a:off x="1234440" y="4133088"/>
            <a:ext cx="146304" cy="146304"/>
          </a:xfrm>
          <a:prstGeom prst="rect">
            <a:avLst/>
          </a:prstGeom>
          <a:solidFill>
            <a:schemeClr val="tx2"/>
          </a:solidFill>
          <a:ln w="12700">
            <a:solidFill>
              <a:schemeClr val="tx2"/>
            </a:solidFill>
            <a:prstDash val="solid"/>
          </a:ln>
        </p:spPr>
      </p:sp>
      <p:sp>
        <p:nvSpPr>
          <p:cNvPr id="12" name="Text 8"/>
          <p:cNvSpPr txBox="1"/>
          <p:nvPr/>
        </p:nvSpPr>
        <p:spPr>
          <a:xfrm>
            <a:off x="1645920" y="3959352"/>
            <a:ext cx="8229600" cy="493776"/>
          </a:xfrm>
          <a:prstGeom prst="rect">
            <a:avLst/>
          </a:prstGeom>
          <a:noFill/>
          <a:ln/>
        </p:spPr>
        <p:txBody>
          <a:bodyPr wrap="square" lIns="0" tIns="0" rIns="0" bIns="0" rtlCol="0" anchor="ctr"/>
          <a:lstStyle/>
          <a:p>
            <a:pPr indent="0" marL="0">
              <a:buNone/>
            </a:pPr>
            <a:r>
              <a:rPr lang="en-US" sz="2000" dirty="0">
                <a:solidFill>
                  <a:schemeClr val="tx1"/>
                </a:solidFill>
              </a:rPr>
              <a:t>Driver PWA + SMS / WhatsApp (EN, ES, BN)</a:t>
            </a:r>
            <a:endParaRPr lang="en-US" sz="2000" dirty="0"/>
          </a:p>
        </p:txBody>
      </p:sp>
      <p:sp>
        <p:nvSpPr>
          <p:cNvPr id="13" name="Shape 9"/>
          <p:cNvSpPr/>
          <p:nvPr/>
        </p:nvSpPr>
        <p:spPr>
          <a:xfrm>
            <a:off x="1234440" y="4663440"/>
            <a:ext cx="146304" cy="146304"/>
          </a:xfrm>
          <a:prstGeom prst="rect">
            <a:avLst/>
          </a:prstGeom>
          <a:solidFill>
            <a:schemeClr val="tx2"/>
          </a:solidFill>
          <a:ln w="12700">
            <a:solidFill>
              <a:schemeClr val="tx2"/>
            </a:solidFill>
            <a:prstDash val="solid"/>
          </a:ln>
        </p:spPr>
      </p:sp>
      <p:sp>
        <p:nvSpPr>
          <p:cNvPr id="14" name="Text 10"/>
          <p:cNvSpPr txBox="1"/>
          <p:nvPr/>
        </p:nvSpPr>
        <p:spPr>
          <a:xfrm>
            <a:off x="1645920" y="4489704"/>
            <a:ext cx="8229600" cy="493776"/>
          </a:xfrm>
          <a:prstGeom prst="rect">
            <a:avLst/>
          </a:prstGeom>
          <a:noFill/>
          <a:ln/>
        </p:spPr>
        <p:txBody>
          <a:bodyPr wrap="square" lIns="0" tIns="0" rIns="0" bIns="0" rtlCol="0" anchor="ctr"/>
          <a:lstStyle/>
          <a:p>
            <a:pPr indent="0" marL="0">
              <a:buNone/>
            </a:pPr>
            <a:r>
              <a:rPr lang="en-US" sz="2000" dirty="0">
                <a:solidFill>
                  <a:schemeClr val="tx1"/>
                </a:solidFill>
              </a:rPr>
              <a:t>Fleet portal (basic)</a:t>
            </a:r>
            <a:endParaRPr lang="en-US" sz="2000" dirty="0"/>
          </a:p>
        </p:txBody>
      </p:sp>
      <p:sp>
        <p:nvSpPr>
          <p:cNvPr id="15" name="Shape 11"/>
          <p:cNvSpPr/>
          <p:nvPr/>
        </p:nvSpPr>
        <p:spPr>
          <a:xfrm>
            <a:off x="1234440" y="5193792"/>
            <a:ext cx="146304" cy="146304"/>
          </a:xfrm>
          <a:prstGeom prst="rect">
            <a:avLst/>
          </a:prstGeom>
          <a:solidFill>
            <a:schemeClr val="tx2"/>
          </a:solidFill>
          <a:ln w="12700">
            <a:solidFill>
              <a:schemeClr val="tx2"/>
            </a:solidFill>
            <a:prstDash val="solid"/>
          </a:ln>
        </p:spPr>
      </p:sp>
      <p:sp>
        <p:nvSpPr>
          <p:cNvPr id="16" name="Text 12"/>
          <p:cNvSpPr txBox="1"/>
          <p:nvPr/>
        </p:nvSpPr>
        <p:spPr>
          <a:xfrm>
            <a:off x="1645920" y="5020056"/>
            <a:ext cx="8229600" cy="493776"/>
          </a:xfrm>
          <a:prstGeom prst="rect">
            <a:avLst/>
          </a:prstGeom>
          <a:noFill/>
          <a:ln/>
        </p:spPr>
        <p:txBody>
          <a:bodyPr wrap="square" lIns="0" tIns="0" rIns="0" bIns="0" rtlCol="0" anchor="ctr"/>
          <a:lstStyle/>
          <a:p>
            <a:pPr indent="0" marL="0">
              <a:buNone/>
            </a:pPr>
            <a:r>
              <a:rPr lang="en-US" sz="2000" dirty="0">
                <a:solidFill>
                  <a:schemeClr val="tx1"/>
                </a:solidFill>
              </a:rPr>
              <a:t>Station portal: capacity rules, payouts view</a:t>
            </a:r>
            <a:endParaRPr lang="en-US" sz="2000" dirty="0"/>
          </a:p>
        </p:txBody>
      </p:sp>
      <p:sp>
        <p:nvSpPr>
          <p:cNvPr id="17" name="Shape 13"/>
          <p:cNvSpPr/>
          <p:nvPr/>
        </p:nvSpPr>
        <p:spPr>
          <a:xfrm>
            <a:off x="1234440" y="5724144"/>
            <a:ext cx="146304" cy="146304"/>
          </a:xfrm>
          <a:prstGeom prst="rect">
            <a:avLst/>
          </a:prstGeom>
          <a:solidFill>
            <a:schemeClr val="tx2"/>
          </a:solidFill>
          <a:ln w="12700">
            <a:solidFill>
              <a:schemeClr val="tx2"/>
            </a:solidFill>
            <a:prstDash val="solid"/>
          </a:ln>
        </p:spPr>
      </p:sp>
      <p:sp>
        <p:nvSpPr>
          <p:cNvPr id="18" name="Text 14"/>
          <p:cNvSpPr txBox="1"/>
          <p:nvPr/>
        </p:nvSpPr>
        <p:spPr>
          <a:xfrm>
            <a:off x="1645920" y="5550408"/>
            <a:ext cx="8229600" cy="493776"/>
          </a:xfrm>
          <a:prstGeom prst="rect">
            <a:avLst/>
          </a:prstGeom>
          <a:noFill/>
          <a:ln/>
        </p:spPr>
        <p:txBody>
          <a:bodyPr wrap="square" lIns="0" tIns="0" rIns="0" bIns="0" rtlCol="0" anchor="ctr"/>
          <a:lstStyle/>
          <a:p>
            <a:pPr indent="0" marL="0">
              <a:buNone/>
            </a:pPr>
            <a:r>
              <a:rPr lang="en-US" sz="2000" dirty="0">
                <a:solidFill>
                  <a:schemeClr val="tx1"/>
                </a:solidFill>
              </a:rPr>
              <a:t>Ops console: holds, overrides, rebook, disputes</a:t>
            </a:r>
            <a:endParaRPr lang="en-US" sz="2000" dirty="0"/>
          </a:p>
        </p:txBody>
      </p:sp>
      <p:sp>
        <p:nvSpPr>
          <p:cNvPr id="19" name="Shape 15"/>
          <p:cNvSpPr/>
          <p:nvPr/>
        </p:nvSpPr>
        <p:spPr>
          <a:xfrm>
            <a:off x="1234440" y="6254496"/>
            <a:ext cx="146304" cy="146304"/>
          </a:xfrm>
          <a:prstGeom prst="rect">
            <a:avLst/>
          </a:prstGeom>
          <a:solidFill>
            <a:schemeClr val="tx2"/>
          </a:solidFill>
          <a:ln w="12700">
            <a:solidFill>
              <a:schemeClr val="tx2"/>
            </a:solidFill>
            <a:prstDash val="solid"/>
          </a:ln>
        </p:spPr>
      </p:sp>
      <p:sp>
        <p:nvSpPr>
          <p:cNvPr id="20" name="Text 16"/>
          <p:cNvSpPr txBox="1"/>
          <p:nvPr/>
        </p:nvSpPr>
        <p:spPr>
          <a:xfrm>
            <a:off x="1645920" y="6080760"/>
            <a:ext cx="8229600" cy="493776"/>
          </a:xfrm>
          <a:prstGeom prst="rect">
            <a:avLst/>
          </a:prstGeom>
          <a:noFill/>
          <a:ln/>
        </p:spPr>
        <p:txBody>
          <a:bodyPr wrap="square" lIns="0" tIns="0" rIns="0" bIns="0" rtlCol="0" anchor="ctr"/>
          <a:lstStyle/>
          <a:p>
            <a:pPr indent="0" marL="0">
              <a:buNone/>
            </a:pPr>
            <a:r>
              <a:rPr lang="en-US" sz="2000" dirty="0">
                <a:solidFill>
                  <a:schemeClr val="tx1"/>
                </a:solidFill>
              </a:rPr>
              <a:t>Attendant view (PWA)</a:t>
            </a:r>
            <a:endParaRPr lang="en-US" sz="2000" dirty="0"/>
          </a:p>
        </p:txBody>
      </p:sp>
      <p:sp>
        <p:nvSpPr>
          <p:cNvPr id="21" name="Shape 17"/>
          <p:cNvSpPr/>
          <p:nvPr/>
        </p:nvSpPr>
        <p:spPr>
          <a:xfrm>
            <a:off x="1234440" y="6784848"/>
            <a:ext cx="146304" cy="146304"/>
          </a:xfrm>
          <a:prstGeom prst="rect">
            <a:avLst/>
          </a:prstGeom>
          <a:solidFill>
            <a:schemeClr val="tx2"/>
          </a:solidFill>
          <a:ln w="12700">
            <a:solidFill>
              <a:schemeClr val="tx2"/>
            </a:solidFill>
            <a:prstDash val="solid"/>
          </a:ln>
        </p:spPr>
      </p:sp>
      <p:sp>
        <p:nvSpPr>
          <p:cNvPr id="22" name="Text 18"/>
          <p:cNvSpPr txBox="1"/>
          <p:nvPr/>
        </p:nvSpPr>
        <p:spPr>
          <a:xfrm>
            <a:off x="1645920" y="6611112"/>
            <a:ext cx="8229600" cy="493776"/>
          </a:xfrm>
          <a:prstGeom prst="rect">
            <a:avLst/>
          </a:prstGeom>
          <a:noFill/>
          <a:ln/>
        </p:spPr>
        <p:txBody>
          <a:bodyPr wrap="square" lIns="0" tIns="0" rIns="0" bIns="0" rtlCol="0" anchor="ctr"/>
          <a:lstStyle/>
          <a:p>
            <a:pPr indent="0" marL="0">
              <a:buNone/>
            </a:pPr>
            <a:r>
              <a:rPr lang="en-US" sz="2000" dirty="0">
                <a:solidFill>
                  <a:schemeClr val="tx1"/>
                </a:solidFill>
              </a:rPr>
              <a:t>OCPI 2.2.1 eMSP gateway (tested vs simulator CPO)</a:t>
            </a:r>
            <a:endParaRPr lang="en-US" sz="2000" dirty="0"/>
          </a:p>
        </p:txBody>
      </p:sp>
      <p:sp>
        <p:nvSpPr>
          <p:cNvPr id="23" name="Shape 19"/>
          <p:cNvSpPr/>
          <p:nvPr/>
        </p:nvSpPr>
        <p:spPr>
          <a:xfrm>
            <a:off x="1234440" y="7315200"/>
            <a:ext cx="146304" cy="146304"/>
          </a:xfrm>
          <a:prstGeom prst="rect">
            <a:avLst/>
          </a:prstGeom>
          <a:solidFill>
            <a:schemeClr val="tx2"/>
          </a:solidFill>
          <a:ln w="12700">
            <a:solidFill>
              <a:schemeClr val="tx2"/>
            </a:solidFill>
            <a:prstDash val="solid"/>
          </a:ln>
        </p:spPr>
      </p:sp>
      <p:sp>
        <p:nvSpPr>
          <p:cNvPr id="24" name="Text 20"/>
          <p:cNvSpPr txBox="1"/>
          <p:nvPr/>
        </p:nvSpPr>
        <p:spPr>
          <a:xfrm>
            <a:off x="1645920" y="7141464"/>
            <a:ext cx="8229600" cy="493776"/>
          </a:xfrm>
          <a:prstGeom prst="rect">
            <a:avLst/>
          </a:prstGeom>
          <a:noFill/>
          <a:ln/>
        </p:spPr>
        <p:txBody>
          <a:bodyPr wrap="square" lIns="0" tIns="0" rIns="0" bIns="0" rtlCol="0" anchor="ctr"/>
          <a:lstStyle/>
          <a:p>
            <a:pPr indent="0" marL="0">
              <a:buNone/>
            </a:pPr>
            <a:r>
              <a:rPr lang="en-US" sz="2000" dirty="0">
                <a:solidFill>
                  <a:schemeClr val="tx1"/>
                </a:solidFill>
              </a:rPr>
              <a:t>Stripe Connect payouts + fleet invoicing</a:t>
            </a:r>
            <a:endParaRPr lang="en-US" sz="2000" dirty="0"/>
          </a:p>
        </p:txBody>
      </p:sp>
      <p:sp>
        <p:nvSpPr>
          <p:cNvPr id="25" name="Shape 21"/>
          <p:cNvSpPr/>
          <p:nvPr/>
        </p:nvSpPr>
        <p:spPr>
          <a:xfrm>
            <a:off x="1234440" y="7845552"/>
            <a:ext cx="146304" cy="146304"/>
          </a:xfrm>
          <a:prstGeom prst="rect">
            <a:avLst/>
          </a:prstGeom>
          <a:solidFill>
            <a:schemeClr val="tx2"/>
          </a:solidFill>
          <a:ln w="12700">
            <a:solidFill>
              <a:schemeClr val="tx2"/>
            </a:solidFill>
            <a:prstDash val="solid"/>
          </a:ln>
        </p:spPr>
      </p:sp>
      <p:sp>
        <p:nvSpPr>
          <p:cNvPr id="26" name="Text 22"/>
          <p:cNvSpPr txBox="1"/>
          <p:nvPr/>
        </p:nvSpPr>
        <p:spPr>
          <a:xfrm>
            <a:off x="1645920" y="7671816"/>
            <a:ext cx="8229600" cy="493776"/>
          </a:xfrm>
          <a:prstGeom prst="rect">
            <a:avLst/>
          </a:prstGeom>
          <a:noFill/>
          <a:ln/>
        </p:spPr>
        <p:txBody>
          <a:bodyPr wrap="square" lIns="0" tIns="0" rIns="0" bIns="0" rtlCol="0" anchor="ctr"/>
          <a:lstStyle/>
          <a:p>
            <a:pPr indent="0" marL="0">
              <a:buNone/>
            </a:pPr>
            <a:r>
              <a:rPr lang="en-US" sz="2000" dirty="0">
                <a:solidFill>
                  <a:schemeClr val="tx1"/>
                </a:solidFill>
              </a:rPr>
              <a:t>Geotab + manual SoC entry</a:t>
            </a:r>
            <a:endParaRPr lang="en-US" sz="2000" dirty="0"/>
          </a:p>
        </p:txBody>
      </p:sp>
      <p:sp>
        <p:nvSpPr>
          <p:cNvPr id="27" name="Shape 23"/>
          <p:cNvSpPr/>
          <p:nvPr/>
        </p:nvSpPr>
        <p:spPr>
          <a:xfrm>
            <a:off x="1234440" y="8375904"/>
            <a:ext cx="146304" cy="146304"/>
          </a:xfrm>
          <a:prstGeom prst="rect">
            <a:avLst/>
          </a:prstGeom>
          <a:solidFill>
            <a:schemeClr val="tx2"/>
          </a:solidFill>
          <a:ln w="12700">
            <a:solidFill>
              <a:schemeClr val="tx2"/>
            </a:solidFill>
            <a:prstDash val="solid"/>
          </a:ln>
        </p:spPr>
      </p:sp>
      <p:sp>
        <p:nvSpPr>
          <p:cNvPr id="28" name="Text 24"/>
          <p:cNvSpPr txBox="1"/>
          <p:nvPr/>
        </p:nvSpPr>
        <p:spPr>
          <a:xfrm>
            <a:off x="1645920" y="8202168"/>
            <a:ext cx="8229600" cy="493776"/>
          </a:xfrm>
          <a:prstGeom prst="rect">
            <a:avLst/>
          </a:prstGeom>
          <a:noFill/>
          <a:ln/>
        </p:spPr>
        <p:txBody>
          <a:bodyPr wrap="square" lIns="0" tIns="0" rIns="0" bIns="0" rtlCol="0" anchor="ctr"/>
          <a:lstStyle/>
          <a:p>
            <a:pPr indent="0" marL="0">
              <a:buNone/>
            </a:pPr>
            <a:r>
              <a:rPr lang="en-US" sz="2000" dirty="0">
                <a:solidFill>
                  <a:schemeClr val="tx1"/>
                </a:solidFill>
              </a:rPr>
              <a:t>Migration of pilot history</a:t>
            </a:r>
            <a:endParaRPr lang="en-US" sz="2000" dirty="0"/>
          </a:p>
        </p:txBody>
      </p:sp>
      <p:sp>
        <p:nvSpPr>
          <p:cNvPr id="29" name="Shape 25"/>
          <p:cNvSpPr/>
          <p:nvPr/>
        </p:nvSpPr>
        <p:spPr>
          <a:xfrm>
            <a:off x="10515600" y="2103120"/>
            <a:ext cx="6949440" cy="6858000"/>
          </a:xfrm>
          <a:prstGeom prst="rect">
            <a:avLst/>
          </a:prstGeom>
          <a:solidFill>
            <a:schemeClr val="bg2"/>
          </a:solidFill>
          <a:ln w="12700">
            <a:solidFill>
              <a:schemeClr val="bg2"/>
            </a:solidFill>
            <a:prstDash val="solid"/>
          </a:ln>
        </p:spPr>
      </p:sp>
      <p:sp>
        <p:nvSpPr>
          <p:cNvPr id="30" name="Shape 26"/>
          <p:cNvSpPr/>
          <p:nvPr/>
        </p:nvSpPr>
        <p:spPr>
          <a:xfrm>
            <a:off x="10881360" y="2377440"/>
            <a:ext cx="777240" cy="777240"/>
          </a:xfrm>
          <a:prstGeom prst="ellipse">
            <a:avLst/>
          </a:prstGeom>
          <a:solidFill>
            <a:srgbClr val="6F6F6F"/>
          </a:solidFill>
          <a:ln w="12700">
            <a:solidFill>
              <a:srgbClr val="6F6F6F"/>
            </a:solidFill>
            <a:prstDash val="solid"/>
          </a:ln>
        </p:spPr>
      </p:sp>
      <p:pic>
        <p:nvPicPr>
          <p:cNvPr id="31" name="Image 1" descr="preencoded.png">    </p:cNvPr>
          <p:cNvPicPr>
            <a:picLocks noChangeAspect="1"/>
          </p:cNvPicPr>
          <p:nvPr/>
        </p:nvPicPr>
        <p:blipFill>
          <a:blip r:embed="rId2"/>
          <a:stretch>
            <a:fillRect/>
          </a:stretch>
        </p:blipFill>
        <p:spPr>
          <a:xfrm>
            <a:off x="11075670" y="2571750"/>
            <a:ext cx="388620" cy="388620"/>
          </a:xfrm>
          <a:prstGeom prst="rect">
            <a:avLst/>
          </a:prstGeom>
        </p:spPr>
      </p:pic>
      <p:sp>
        <p:nvSpPr>
          <p:cNvPr id="32" name="Text 27"/>
          <p:cNvSpPr txBox="1"/>
          <p:nvPr/>
        </p:nvSpPr>
        <p:spPr>
          <a:xfrm>
            <a:off x="11887200" y="2377440"/>
            <a:ext cx="5486400" cy="777240"/>
          </a:xfrm>
          <a:prstGeom prst="rect">
            <a:avLst/>
          </a:prstGeom>
          <a:noFill/>
          <a:ln/>
        </p:spPr>
        <p:txBody>
          <a:bodyPr wrap="square" lIns="0" tIns="0" rIns="0" bIns="0" rtlCol="0" anchor="ctr"/>
          <a:lstStyle/>
          <a:p>
            <a:pPr indent="0" marL="0">
              <a:buNone/>
            </a:pPr>
            <a:r>
              <a:rPr lang="en-US" sz="2800" b="1" dirty="0">
                <a:solidFill>
                  <a:schemeClr val="tx2"/>
                </a:solidFill>
              </a:rPr>
              <a:t>Out: Phase 2 and later</a:t>
            </a:r>
            <a:endParaRPr lang="en-US" sz="2800" dirty="0"/>
          </a:p>
        </p:txBody>
      </p:sp>
      <p:sp>
        <p:nvSpPr>
          <p:cNvPr id="33" name="Shape 28"/>
          <p:cNvSpPr/>
          <p:nvPr/>
        </p:nvSpPr>
        <p:spPr>
          <a:xfrm>
            <a:off x="10927080" y="3602736"/>
            <a:ext cx="146304" cy="146304"/>
          </a:xfrm>
          <a:prstGeom prst="rect">
            <a:avLst/>
          </a:prstGeom>
          <a:solidFill>
            <a:srgbClr val="6F6F6F"/>
          </a:solidFill>
          <a:ln w="12700">
            <a:solidFill>
              <a:srgbClr val="6F6F6F"/>
            </a:solidFill>
            <a:prstDash val="solid"/>
          </a:ln>
        </p:spPr>
      </p:sp>
      <p:sp>
        <p:nvSpPr>
          <p:cNvPr id="34" name="Text 29"/>
          <p:cNvSpPr txBox="1"/>
          <p:nvPr/>
        </p:nvSpPr>
        <p:spPr>
          <a:xfrm>
            <a:off x="11338560" y="3429000"/>
            <a:ext cx="5943600" cy="493776"/>
          </a:xfrm>
          <a:prstGeom prst="rect">
            <a:avLst/>
          </a:prstGeom>
          <a:noFill/>
          <a:ln/>
        </p:spPr>
        <p:txBody>
          <a:bodyPr wrap="square" lIns="0" tIns="0" rIns="0" bIns="0" rtlCol="0" anchor="ctr"/>
          <a:lstStyle/>
          <a:p>
            <a:pPr indent="0" marL="0">
              <a:buNone/>
            </a:pPr>
            <a:r>
              <a:rPr lang="en-US" sz="2000" dirty="0">
                <a:solidFill>
                  <a:srgbClr val="3A3A3A"/>
                </a:solidFill>
              </a:rPr>
              <a:t>Native iOS / Android apps</a:t>
            </a:r>
            <a:endParaRPr lang="en-US" sz="2000" dirty="0"/>
          </a:p>
        </p:txBody>
      </p:sp>
      <p:sp>
        <p:nvSpPr>
          <p:cNvPr id="35" name="Shape 30"/>
          <p:cNvSpPr/>
          <p:nvPr/>
        </p:nvSpPr>
        <p:spPr>
          <a:xfrm>
            <a:off x="10927080" y="4133088"/>
            <a:ext cx="146304" cy="146304"/>
          </a:xfrm>
          <a:prstGeom prst="rect">
            <a:avLst/>
          </a:prstGeom>
          <a:solidFill>
            <a:srgbClr val="6F6F6F"/>
          </a:solidFill>
          <a:ln w="12700">
            <a:solidFill>
              <a:srgbClr val="6F6F6F"/>
            </a:solidFill>
            <a:prstDash val="solid"/>
          </a:ln>
        </p:spPr>
      </p:sp>
      <p:sp>
        <p:nvSpPr>
          <p:cNvPr id="36" name="Text 31"/>
          <p:cNvSpPr txBox="1"/>
          <p:nvPr/>
        </p:nvSpPr>
        <p:spPr>
          <a:xfrm>
            <a:off x="11338560" y="3959352"/>
            <a:ext cx="5943600" cy="493776"/>
          </a:xfrm>
          <a:prstGeom prst="rect">
            <a:avLst/>
          </a:prstGeom>
          <a:noFill/>
          <a:ln/>
        </p:spPr>
        <p:txBody>
          <a:bodyPr wrap="square" lIns="0" tIns="0" rIns="0" bIns="0" rtlCol="0" anchor="ctr"/>
          <a:lstStyle/>
          <a:p>
            <a:pPr indent="0" marL="0">
              <a:buNone/>
            </a:pPr>
            <a:r>
              <a:rPr lang="en-US" sz="2000" dirty="0">
                <a:solidFill>
                  <a:srgbClr val="3A3A3A"/>
                </a:solidFill>
              </a:rPr>
              <a:t>Dynamic pricing (TOU via OpenEI URDB)</a:t>
            </a:r>
            <a:endParaRPr lang="en-US" sz="2000" dirty="0"/>
          </a:p>
        </p:txBody>
      </p:sp>
      <p:sp>
        <p:nvSpPr>
          <p:cNvPr id="37" name="Shape 32"/>
          <p:cNvSpPr/>
          <p:nvPr/>
        </p:nvSpPr>
        <p:spPr>
          <a:xfrm>
            <a:off x="10927080" y="4663440"/>
            <a:ext cx="146304" cy="146304"/>
          </a:xfrm>
          <a:prstGeom prst="rect">
            <a:avLst/>
          </a:prstGeom>
          <a:solidFill>
            <a:srgbClr val="6F6F6F"/>
          </a:solidFill>
          <a:ln w="12700">
            <a:solidFill>
              <a:srgbClr val="6F6F6F"/>
            </a:solidFill>
            <a:prstDash val="solid"/>
          </a:ln>
        </p:spPr>
      </p:sp>
      <p:sp>
        <p:nvSpPr>
          <p:cNvPr id="38" name="Text 33"/>
          <p:cNvSpPr txBox="1"/>
          <p:nvPr/>
        </p:nvSpPr>
        <p:spPr>
          <a:xfrm>
            <a:off x="11338560" y="4489704"/>
            <a:ext cx="5943600" cy="493776"/>
          </a:xfrm>
          <a:prstGeom prst="rect">
            <a:avLst/>
          </a:prstGeom>
          <a:noFill/>
          <a:ln/>
        </p:spPr>
        <p:txBody>
          <a:bodyPr wrap="square" lIns="0" tIns="0" rIns="0" bIns="0" rtlCol="0" anchor="ctr"/>
          <a:lstStyle/>
          <a:p>
            <a:pPr indent="0" marL="0">
              <a:buNone/>
            </a:pPr>
            <a:r>
              <a:rPr lang="en-US" sz="2000" dirty="0">
                <a:solidFill>
                  <a:srgbClr val="3A3A3A"/>
                </a:solidFill>
              </a:rPr>
              <a:t>OCPI 2.3 Booking module</a:t>
            </a:r>
            <a:endParaRPr lang="en-US" sz="2000" dirty="0"/>
          </a:p>
        </p:txBody>
      </p:sp>
      <p:sp>
        <p:nvSpPr>
          <p:cNvPr id="39" name="Shape 34"/>
          <p:cNvSpPr/>
          <p:nvPr/>
        </p:nvSpPr>
        <p:spPr>
          <a:xfrm>
            <a:off x="10927080" y="5193792"/>
            <a:ext cx="146304" cy="146304"/>
          </a:xfrm>
          <a:prstGeom prst="rect">
            <a:avLst/>
          </a:prstGeom>
          <a:solidFill>
            <a:srgbClr val="6F6F6F"/>
          </a:solidFill>
          <a:ln w="12700">
            <a:solidFill>
              <a:srgbClr val="6F6F6F"/>
            </a:solidFill>
            <a:prstDash val="solid"/>
          </a:ln>
        </p:spPr>
      </p:sp>
      <p:sp>
        <p:nvSpPr>
          <p:cNvPr id="40" name="Text 35"/>
          <p:cNvSpPr txBox="1"/>
          <p:nvPr/>
        </p:nvSpPr>
        <p:spPr>
          <a:xfrm>
            <a:off x="11338560" y="5020056"/>
            <a:ext cx="5943600" cy="493776"/>
          </a:xfrm>
          <a:prstGeom prst="rect">
            <a:avLst/>
          </a:prstGeom>
          <a:noFill/>
          <a:ln/>
        </p:spPr>
        <p:txBody>
          <a:bodyPr wrap="square" lIns="0" tIns="0" rIns="0" bIns="0" rtlCol="0" anchor="ctr"/>
          <a:lstStyle/>
          <a:p>
            <a:pPr indent="0" marL="0">
              <a:buNone/>
            </a:pPr>
            <a:r>
              <a:rPr lang="en-US" sz="2000" dirty="0">
                <a:solidFill>
                  <a:srgbClr val="3A3A3A"/>
                </a:solidFill>
              </a:rPr>
              <a:t>OpenADR 3.0 demand response</a:t>
            </a:r>
            <a:endParaRPr lang="en-US" sz="2000" dirty="0"/>
          </a:p>
        </p:txBody>
      </p:sp>
      <p:sp>
        <p:nvSpPr>
          <p:cNvPr id="41" name="Shape 36"/>
          <p:cNvSpPr/>
          <p:nvPr/>
        </p:nvSpPr>
        <p:spPr>
          <a:xfrm>
            <a:off x="10927080" y="5724144"/>
            <a:ext cx="146304" cy="146304"/>
          </a:xfrm>
          <a:prstGeom prst="rect">
            <a:avLst/>
          </a:prstGeom>
          <a:solidFill>
            <a:srgbClr val="6F6F6F"/>
          </a:solidFill>
          <a:ln w="12700">
            <a:solidFill>
              <a:srgbClr val="6F6F6F"/>
            </a:solidFill>
            <a:prstDash val="solid"/>
          </a:ln>
        </p:spPr>
      </p:sp>
      <p:sp>
        <p:nvSpPr>
          <p:cNvPr id="42" name="Text 37"/>
          <p:cNvSpPr txBox="1"/>
          <p:nvPr/>
        </p:nvSpPr>
        <p:spPr>
          <a:xfrm>
            <a:off x="11338560" y="5550408"/>
            <a:ext cx="5943600" cy="493776"/>
          </a:xfrm>
          <a:prstGeom prst="rect">
            <a:avLst/>
          </a:prstGeom>
          <a:noFill/>
          <a:ln/>
        </p:spPr>
        <p:txBody>
          <a:bodyPr wrap="square" lIns="0" tIns="0" rIns="0" bIns="0" rtlCol="0" anchor="ctr"/>
          <a:lstStyle/>
          <a:p>
            <a:pPr indent="0" marL="0">
              <a:buNone/>
            </a:pPr>
            <a:r>
              <a:rPr lang="en-US" sz="2000" dirty="0">
                <a:solidFill>
                  <a:srgbClr val="3A3A3A"/>
                </a:solidFill>
              </a:rPr>
              <a:t>Uber / Lyft beyond deep links</a:t>
            </a:r>
            <a:endParaRPr lang="en-US" sz="2000" dirty="0"/>
          </a:p>
        </p:txBody>
      </p:sp>
      <p:sp>
        <p:nvSpPr>
          <p:cNvPr id="43" name="Shape 38"/>
          <p:cNvSpPr/>
          <p:nvPr/>
        </p:nvSpPr>
        <p:spPr>
          <a:xfrm>
            <a:off x="10927080" y="6254496"/>
            <a:ext cx="146304" cy="146304"/>
          </a:xfrm>
          <a:prstGeom prst="rect">
            <a:avLst/>
          </a:prstGeom>
          <a:solidFill>
            <a:srgbClr val="6F6F6F"/>
          </a:solidFill>
          <a:ln w="12700">
            <a:solidFill>
              <a:srgbClr val="6F6F6F"/>
            </a:solidFill>
            <a:prstDash val="solid"/>
          </a:ln>
        </p:spPr>
      </p:sp>
      <p:sp>
        <p:nvSpPr>
          <p:cNvPr id="44" name="Text 39"/>
          <p:cNvSpPr txBox="1"/>
          <p:nvPr/>
        </p:nvSpPr>
        <p:spPr>
          <a:xfrm>
            <a:off x="11338560" y="6080760"/>
            <a:ext cx="5943600" cy="493776"/>
          </a:xfrm>
          <a:prstGeom prst="rect">
            <a:avLst/>
          </a:prstGeom>
          <a:noFill/>
          <a:ln/>
        </p:spPr>
        <p:txBody>
          <a:bodyPr wrap="square" lIns="0" tIns="0" rIns="0" bIns="0" rtlCol="0" anchor="ctr"/>
          <a:lstStyle/>
          <a:p>
            <a:pPr indent="0" marL="0">
              <a:buNone/>
            </a:pPr>
            <a:r>
              <a:rPr lang="en-US" sz="2000" dirty="0">
                <a:solidFill>
                  <a:srgbClr val="3A3A3A"/>
                </a:solidFill>
              </a:rPr>
              <a:t>LA launch</a:t>
            </a:r>
            <a:endParaRPr lang="en-US" sz="2000" dirty="0"/>
          </a:p>
        </p:txBody>
      </p:sp>
      <p:sp>
        <p:nvSpPr>
          <p:cNvPr id="45" name="Shape 40"/>
          <p:cNvSpPr/>
          <p:nvPr/>
        </p:nvSpPr>
        <p:spPr>
          <a:xfrm>
            <a:off x="10927080" y="6784848"/>
            <a:ext cx="146304" cy="146304"/>
          </a:xfrm>
          <a:prstGeom prst="rect">
            <a:avLst/>
          </a:prstGeom>
          <a:solidFill>
            <a:srgbClr val="6F6F6F"/>
          </a:solidFill>
          <a:ln w="12700">
            <a:solidFill>
              <a:srgbClr val="6F6F6F"/>
            </a:solidFill>
            <a:prstDash val="solid"/>
          </a:ln>
        </p:spPr>
      </p:sp>
      <p:sp>
        <p:nvSpPr>
          <p:cNvPr id="46" name="Text 41"/>
          <p:cNvSpPr txBox="1"/>
          <p:nvPr/>
        </p:nvSpPr>
        <p:spPr>
          <a:xfrm>
            <a:off x="11338560" y="6611112"/>
            <a:ext cx="5943600" cy="493776"/>
          </a:xfrm>
          <a:prstGeom prst="rect">
            <a:avLst/>
          </a:prstGeom>
          <a:noFill/>
          <a:ln/>
        </p:spPr>
        <p:txBody>
          <a:bodyPr wrap="square" lIns="0" tIns="0" rIns="0" bIns="0" rtlCol="0" anchor="ctr"/>
          <a:lstStyle/>
          <a:p>
            <a:pPr indent="0" marL="0">
              <a:buNone/>
            </a:pPr>
            <a:r>
              <a:rPr lang="en-US" sz="2000" dirty="0">
                <a:solidFill>
                  <a:srgbClr val="3A3A3A"/>
                </a:solidFill>
              </a:rPr>
              <a:t>Autonomous (AV) fleets</a:t>
            </a:r>
            <a:endParaRPr lang="en-US" sz="2000" dirty="0"/>
          </a:p>
        </p:txBody>
      </p:sp>
      <p:sp>
        <p:nvSpPr>
          <p:cNvPr id="25" name="Slide Number Placeholder 0"/>
          <p:cNvSpPr>
            <a:spLocks noGrp="1"/>
          </p:cNvSpPr>
          <p:nvPr>
            <p:ph type="sldNum" sz="quarter" idx="4294967295"/>
          </p:nvPr>
        </p:nvSpPr>
        <p:spPr>
          <a:xfrm>
            <a:off x="16642080" y="9646920"/>
            <a:ext cx="822960" cy="347472"/>
          </a:xfrm>
          <a:prstGeom prst="rect">
            <a:avLst/>
          </a:prstGeom>
          <a:extLst>
            <a:ext uri="{C572A759-6A51-4108-AA02-DFA0A04FC94B}">
              <ma14:wrappingTextBoxFlag xmlns:ma14="http://schemas.microsoft.com/office/mac/drawingml/2011/main" val="0"/>
            </a:ext>
          </a:extLst>
        </p:spPr>
        <p:txBody>
          <a:bodyPr/>
          <a:lstStyle>
            <a:lvl1pPr>
              <a:defRPr sz="1500">
                <a:solidFill>
                  <a:schemeClr val="tx1"/>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header"/>
          <p:cNvSpPr txBox="1"/>
          <p:nvPr/>
        </p:nvSpPr>
        <p:spPr>
          <a:xfrm>
            <a:off x="822960" y="219456"/>
            <a:ext cx="10972800" cy="347472"/>
          </a:xfrm>
          <a:prstGeom prst="rect">
            <a:avLst/>
          </a:prstGeom>
          <a:noFill/>
          <a:ln/>
        </p:spPr>
        <p:txBody>
          <a:bodyPr wrap="square" lIns="0" tIns="0" rIns="0" bIns="0" rtlCol="0" anchor="ctr"/>
          <a:lstStyle/>
          <a:p>
            <a:pPr indent="0" marL="0">
              <a:buNone/>
            </a:pPr>
            <a:r>
              <a:rPr lang="en-US" sz="1500" dirty="0">
                <a:solidFill>
                  <a:schemeClr val="tx1"/>
                </a:solidFill>
              </a:rPr>
              <a:t>amperlane/03-delivery</a:t>
            </a:r>
            <a:endParaRPr lang="en-US" sz="1500" dirty="0"/>
          </a:p>
        </p:txBody>
      </p:sp>
      <p:sp>
        <p:nvSpPr>
          <p:cNvPr id="3" name="Text 0"/>
          <p:cNvSpPr/>
          <p:nvPr>
            <p:ph idx="100" type="title" hasCustomPrompt="1"/>
          </p:nvPr>
        </p:nvSpPr>
        <p:spPr>
          <a:xfrm>
            <a:off x="822960" y="841248"/>
            <a:ext cx="16642080" cy="1005840"/>
          </a:xfrm>
          <a:prstGeom prst="rect">
            <a:avLst/>
          </a:prstGeom>
          <a:noFill/>
          <a:ln/>
        </p:spPr>
        <p:txBody>
          <a:bodyPr wrap="square" lIns="0" tIns="0" rIns="0" bIns="0" rtlCol="0" anchor="t"/>
          <a:lstStyle/>
          <a:p>
            <a:pPr algn="l" indent="0" marL="0">
              <a:buNone/>
            </a:pPr>
            <a:r>
              <a:rPr lang="en-US" sz="4500" dirty="0">
                <a:solidFill>
                  <a:schemeClr val="tx1"/>
                </a:solidFill>
              </a:rPr>
              <a:t>Phasing (indicative)</a:t>
            </a:r>
            <a:endParaRPr lang="en-US" sz="4500" dirty="0"/>
          </a:p>
        </p:txBody>
      </p:sp>
      <p:sp>
        <p:nvSpPr>
          <p:cNvPr id="5" name="Text 2"/>
          <p:cNvSpPr txBox="1"/>
          <p:nvPr/>
        </p:nvSpPr>
        <p:spPr>
          <a:xfrm>
            <a:off x="4937760" y="2011680"/>
            <a:ext cx="1670304" cy="365760"/>
          </a:xfrm>
          <a:prstGeom prst="rect">
            <a:avLst/>
          </a:prstGeom>
          <a:noFill/>
          <a:ln/>
        </p:spPr>
        <p:txBody>
          <a:bodyPr wrap="square" lIns="0" tIns="0" rIns="0" bIns="0" rtlCol="0" anchor="t"/>
          <a:lstStyle/>
          <a:p>
            <a:pPr algn="ctr" indent="0" marL="0">
              <a:buNone/>
            </a:pPr>
            <a:r>
              <a:rPr lang="en-US" sz="1600" b="1" dirty="0">
                <a:solidFill>
                  <a:schemeClr val="tx2"/>
                </a:solidFill>
              </a:rPr>
              <a:t>2026</a:t>
            </a:r>
            <a:endParaRPr lang="en-US" sz="1600" dirty="0"/>
          </a:p>
        </p:txBody>
      </p:sp>
      <p:sp>
        <p:nvSpPr>
          <p:cNvPr id="6" name="Text 3"/>
          <p:cNvSpPr txBox="1"/>
          <p:nvPr/>
        </p:nvSpPr>
        <p:spPr>
          <a:xfrm>
            <a:off x="6608064" y="2011680"/>
            <a:ext cx="10021824" cy="365760"/>
          </a:xfrm>
          <a:prstGeom prst="rect">
            <a:avLst/>
          </a:prstGeom>
          <a:noFill/>
          <a:ln/>
        </p:spPr>
        <p:txBody>
          <a:bodyPr wrap="square" lIns="0" tIns="0" rIns="0" bIns="0" rtlCol="0" anchor="t"/>
          <a:lstStyle/>
          <a:p>
            <a:pPr algn="ctr" indent="0" marL="0">
              <a:buNone/>
            </a:pPr>
            <a:r>
              <a:rPr lang="en-US" sz="1600" b="1" dirty="0">
                <a:solidFill>
                  <a:schemeClr val="tx2"/>
                </a:solidFill>
              </a:rPr>
              <a:t>2027</a:t>
            </a:r>
            <a:endParaRPr lang="en-US" sz="1600" dirty="0"/>
          </a:p>
        </p:txBody>
      </p:sp>
      <p:sp>
        <p:nvSpPr>
          <p:cNvPr id="7" name="Text 4"/>
          <p:cNvSpPr txBox="1"/>
          <p:nvPr/>
        </p:nvSpPr>
        <p:spPr>
          <a:xfrm>
            <a:off x="16629888" y="2011680"/>
            <a:ext cx="835152" cy="365760"/>
          </a:xfrm>
          <a:prstGeom prst="rect">
            <a:avLst/>
          </a:prstGeom>
          <a:noFill/>
          <a:ln/>
        </p:spPr>
        <p:txBody>
          <a:bodyPr wrap="square" lIns="0" tIns="0" rIns="0" bIns="0" rtlCol="0" anchor="t"/>
          <a:lstStyle/>
          <a:p>
            <a:pPr algn="ctr" indent="0" marL="0">
              <a:buNone/>
            </a:pPr>
            <a:r>
              <a:rPr lang="en-US" sz="1600" b="1" dirty="0">
                <a:solidFill>
                  <a:schemeClr val="tx2"/>
                </a:solidFill>
              </a:rPr>
              <a:t>2028</a:t>
            </a:r>
            <a:endParaRPr lang="en-US" sz="1600" dirty="0"/>
          </a:p>
        </p:txBody>
      </p:sp>
      <p:sp>
        <p:nvSpPr>
          <p:cNvPr id="8" name="Shape 5"/>
          <p:cNvSpPr/>
          <p:nvPr/>
        </p:nvSpPr>
        <p:spPr>
          <a:xfrm>
            <a:off x="4956048" y="2423160"/>
            <a:ext cx="798576" cy="384048"/>
          </a:xfrm>
          <a:prstGeom prst="rect">
            <a:avLst/>
          </a:prstGeom>
          <a:solidFill>
            <a:schemeClr val="bg2"/>
          </a:solidFill>
          <a:ln w="12700">
            <a:solidFill>
              <a:schemeClr val="bg2"/>
            </a:solidFill>
            <a:prstDash val="solid"/>
          </a:ln>
        </p:spPr>
      </p:sp>
      <p:sp>
        <p:nvSpPr>
          <p:cNvPr id="9" name="Text 6"/>
          <p:cNvSpPr txBox="1"/>
          <p:nvPr/>
        </p:nvSpPr>
        <p:spPr>
          <a:xfrm>
            <a:off x="4937760" y="2423160"/>
            <a:ext cx="835152" cy="384048"/>
          </a:xfrm>
          <a:prstGeom prst="rect">
            <a:avLst/>
          </a:prstGeom>
          <a:noFill/>
          <a:ln/>
        </p:spPr>
        <p:txBody>
          <a:bodyPr wrap="square" lIns="0" tIns="0" rIns="0" bIns="0" rtlCol="0" anchor="ctr"/>
          <a:lstStyle/>
          <a:p>
            <a:pPr algn="ctr" indent="0" marL="0">
              <a:buNone/>
            </a:pPr>
            <a:r>
              <a:rPr lang="en-US" sz="1500" dirty="0">
                <a:solidFill>
                  <a:srgbClr val="6F6F6F"/>
                </a:solidFill>
              </a:rPr>
              <a:t>Nov</a:t>
            </a:r>
            <a:endParaRPr lang="en-US" sz="1500" dirty="0"/>
          </a:p>
        </p:txBody>
      </p:sp>
      <p:sp>
        <p:nvSpPr>
          <p:cNvPr id="10" name="Shape 7"/>
          <p:cNvSpPr/>
          <p:nvPr/>
        </p:nvSpPr>
        <p:spPr>
          <a:xfrm>
            <a:off x="5791200" y="2423160"/>
            <a:ext cx="798576" cy="384048"/>
          </a:xfrm>
          <a:prstGeom prst="rect">
            <a:avLst/>
          </a:prstGeom>
          <a:solidFill>
            <a:schemeClr val="bg1"/>
          </a:solidFill>
          <a:ln w="12700">
            <a:solidFill>
              <a:schemeClr val="bg1"/>
            </a:solidFill>
            <a:prstDash val="solid"/>
          </a:ln>
        </p:spPr>
      </p:sp>
      <p:sp>
        <p:nvSpPr>
          <p:cNvPr id="11" name="Text 8"/>
          <p:cNvSpPr txBox="1"/>
          <p:nvPr/>
        </p:nvSpPr>
        <p:spPr>
          <a:xfrm>
            <a:off x="5772912" y="2423160"/>
            <a:ext cx="835152" cy="384048"/>
          </a:xfrm>
          <a:prstGeom prst="rect">
            <a:avLst/>
          </a:prstGeom>
          <a:noFill/>
          <a:ln/>
        </p:spPr>
        <p:txBody>
          <a:bodyPr wrap="square" lIns="0" tIns="0" rIns="0" bIns="0" rtlCol="0" anchor="ctr"/>
          <a:lstStyle/>
          <a:p>
            <a:pPr algn="ctr" indent="0" marL="0">
              <a:buNone/>
            </a:pPr>
            <a:r>
              <a:rPr lang="en-US" sz="1500" dirty="0">
                <a:solidFill>
                  <a:srgbClr val="6F6F6F"/>
                </a:solidFill>
              </a:rPr>
              <a:t>Dec</a:t>
            </a:r>
            <a:endParaRPr lang="en-US" sz="1500" dirty="0"/>
          </a:p>
        </p:txBody>
      </p:sp>
      <p:sp>
        <p:nvSpPr>
          <p:cNvPr id="12" name="Shape 9"/>
          <p:cNvSpPr/>
          <p:nvPr/>
        </p:nvSpPr>
        <p:spPr>
          <a:xfrm>
            <a:off x="6626352" y="2423160"/>
            <a:ext cx="798576" cy="384048"/>
          </a:xfrm>
          <a:prstGeom prst="rect">
            <a:avLst/>
          </a:prstGeom>
          <a:solidFill>
            <a:schemeClr val="bg2"/>
          </a:solidFill>
          <a:ln w="12700">
            <a:solidFill>
              <a:schemeClr val="bg2"/>
            </a:solidFill>
            <a:prstDash val="solid"/>
          </a:ln>
        </p:spPr>
      </p:sp>
      <p:sp>
        <p:nvSpPr>
          <p:cNvPr id="13" name="Text 10"/>
          <p:cNvSpPr txBox="1"/>
          <p:nvPr/>
        </p:nvSpPr>
        <p:spPr>
          <a:xfrm>
            <a:off x="6608064" y="2423160"/>
            <a:ext cx="835152" cy="384048"/>
          </a:xfrm>
          <a:prstGeom prst="rect">
            <a:avLst/>
          </a:prstGeom>
          <a:noFill/>
          <a:ln/>
        </p:spPr>
        <p:txBody>
          <a:bodyPr wrap="square" lIns="0" tIns="0" rIns="0" bIns="0" rtlCol="0" anchor="ctr"/>
          <a:lstStyle/>
          <a:p>
            <a:pPr algn="ctr" indent="0" marL="0">
              <a:buNone/>
            </a:pPr>
            <a:r>
              <a:rPr lang="en-US" sz="1500" dirty="0">
                <a:solidFill>
                  <a:srgbClr val="6F6F6F"/>
                </a:solidFill>
              </a:rPr>
              <a:t>Jan</a:t>
            </a:r>
            <a:endParaRPr lang="en-US" sz="1500" dirty="0"/>
          </a:p>
        </p:txBody>
      </p:sp>
      <p:sp>
        <p:nvSpPr>
          <p:cNvPr id="14" name="Shape 11"/>
          <p:cNvSpPr/>
          <p:nvPr/>
        </p:nvSpPr>
        <p:spPr>
          <a:xfrm>
            <a:off x="7461504" y="2423160"/>
            <a:ext cx="798576" cy="384048"/>
          </a:xfrm>
          <a:prstGeom prst="rect">
            <a:avLst/>
          </a:prstGeom>
          <a:solidFill>
            <a:schemeClr val="bg1"/>
          </a:solidFill>
          <a:ln w="12700">
            <a:solidFill>
              <a:schemeClr val="bg1"/>
            </a:solidFill>
            <a:prstDash val="solid"/>
          </a:ln>
        </p:spPr>
      </p:sp>
      <p:sp>
        <p:nvSpPr>
          <p:cNvPr id="15" name="Text 12"/>
          <p:cNvSpPr txBox="1"/>
          <p:nvPr/>
        </p:nvSpPr>
        <p:spPr>
          <a:xfrm>
            <a:off x="7443216" y="2423160"/>
            <a:ext cx="835152" cy="384048"/>
          </a:xfrm>
          <a:prstGeom prst="rect">
            <a:avLst/>
          </a:prstGeom>
          <a:noFill/>
          <a:ln/>
        </p:spPr>
        <p:txBody>
          <a:bodyPr wrap="square" lIns="0" tIns="0" rIns="0" bIns="0" rtlCol="0" anchor="ctr"/>
          <a:lstStyle/>
          <a:p>
            <a:pPr algn="ctr" indent="0" marL="0">
              <a:buNone/>
            </a:pPr>
            <a:r>
              <a:rPr lang="en-US" sz="1500" dirty="0">
                <a:solidFill>
                  <a:srgbClr val="6F6F6F"/>
                </a:solidFill>
              </a:rPr>
              <a:t>Feb</a:t>
            </a:r>
            <a:endParaRPr lang="en-US" sz="1500" dirty="0"/>
          </a:p>
        </p:txBody>
      </p:sp>
      <p:sp>
        <p:nvSpPr>
          <p:cNvPr id="16" name="Shape 13"/>
          <p:cNvSpPr/>
          <p:nvPr/>
        </p:nvSpPr>
        <p:spPr>
          <a:xfrm>
            <a:off x="8296656" y="2423160"/>
            <a:ext cx="798576" cy="384048"/>
          </a:xfrm>
          <a:prstGeom prst="rect">
            <a:avLst/>
          </a:prstGeom>
          <a:solidFill>
            <a:schemeClr val="bg2"/>
          </a:solidFill>
          <a:ln w="12700">
            <a:solidFill>
              <a:schemeClr val="bg2"/>
            </a:solidFill>
            <a:prstDash val="solid"/>
          </a:ln>
        </p:spPr>
      </p:sp>
      <p:sp>
        <p:nvSpPr>
          <p:cNvPr id="17" name="Text 14"/>
          <p:cNvSpPr txBox="1"/>
          <p:nvPr/>
        </p:nvSpPr>
        <p:spPr>
          <a:xfrm>
            <a:off x="8278368" y="2423160"/>
            <a:ext cx="835152" cy="384048"/>
          </a:xfrm>
          <a:prstGeom prst="rect">
            <a:avLst/>
          </a:prstGeom>
          <a:noFill/>
          <a:ln/>
        </p:spPr>
        <p:txBody>
          <a:bodyPr wrap="square" lIns="0" tIns="0" rIns="0" bIns="0" rtlCol="0" anchor="ctr"/>
          <a:lstStyle/>
          <a:p>
            <a:pPr algn="ctr" indent="0" marL="0">
              <a:buNone/>
            </a:pPr>
            <a:r>
              <a:rPr lang="en-US" sz="1500" dirty="0">
                <a:solidFill>
                  <a:srgbClr val="6F6F6F"/>
                </a:solidFill>
              </a:rPr>
              <a:t>Mar</a:t>
            </a:r>
            <a:endParaRPr lang="en-US" sz="1500" dirty="0"/>
          </a:p>
        </p:txBody>
      </p:sp>
      <p:sp>
        <p:nvSpPr>
          <p:cNvPr id="18" name="Shape 15"/>
          <p:cNvSpPr/>
          <p:nvPr/>
        </p:nvSpPr>
        <p:spPr>
          <a:xfrm>
            <a:off x="9131808" y="2423160"/>
            <a:ext cx="798576" cy="384048"/>
          </a:xfrm>
          <a:prstGeom prst="rect">
            <a:avLst/>
          </a:prstGeom>
          <a:solidFill>
            <a:schemeClr val="bg1"/>
          </a:solidFill>
          <a:ln w="12700">
            <a:solidFill>
              <a:schemeClr val="bg1"/>
            </a:solidFill>
            <a:prstDash val="solid"/>
          </a:ln>
        </p:spPr>
      </p:sp>
      <p:sp>
        <p:nvSpPr>
          <p:cNvPr id="19" name="Text 16"/>
          <p:cNvSpPr txBox="1"/>
          <p:nvPr/>
        </p:nvSpPr>
        <p:spPr>
          <a:xfrm>
            <a:off x="9113520" y="2423160"/>
            <a:ext cx="835152" cy="384048"/>
          </a:xfrm>
          <a:prstGeom prst="rect">
            <a:avLst/>
          </a:prstGeom>
          <a:noFill/>
          <a:ln/>
        </p:spPr>
        <p:txBody>
          <a:bodyPr wrap="square" lIns="0" tIns="0" rIns="0" bIns="0" rtlCol="0" anchor="ctr"/>
          <a:lstStyle/>
          <a:p>
            <a:pPr algn="ctr" indent="0" marL="0">
              <a:buNone/>
            </a:pPr>
            <a:r>
              <a:rPr lang="en-US" sz="1500" dirty="0">
                <a:solidFill>
                  <a:srgbClr val="6F6F6F"/>
                </a:solidFill>
              </a:rPr>
              <a:t>Apr</a:t>
            </a:r>
            <a:endParaRPr lang="en-US" sz="1500" dirty="0"/>
          </a:p>
        </p:txBody>
      </p:sp>
      <p:sp>
        <p:nvSpPr>
          <p:cNvPr id="20" name="Shape 17"/>
          <p:cNvSpPr/>
          <p:nvPr/>
        </p:nvSpPr>
        <p:spPr>
          <a:xfrm>
            <a:off x="9966960" y="2423160"/>
            <a:ext cx="798576" cy="384048"/>
          </a:xfrm>
          <a:prstGeom prst="rect">
            <a:avLst/>
          </a:prstGeom>
          <a:solidFill>
            <a:schemeClr val="bg2"/>
          </a:solidFill>
          <a:ln w="12700">
            <a:solidFill>
              <a:schemeClr val="bg2"/>
            </a:solidFill>
            <a:prstDash val="solid"/>
          </a:ln>
        </p:spPr>
      </p:sp>
      <p:sp>
        <p:nvSpPr>
          <p:cNvPr id="21" name="Text 18"/>
          <p:cNvSpPr txBox="1"/>
          <p:nvPr/>
        </p:nvSpPr>
        <p:spPr>
          <a:xfrm>
            <a:off x="9948672" y="2423160"/>
            <a:ext cx="835152" cy="384048"/>
          </a:xfrm>
          <a:prstGeom prst="rect">
            <a:avLst/>
          </a:prstGeom>
          <a:noFill/>
          <a:ln/>
        </p:spPr>
        <p:txBody>
          <a:bodyPr wrap="square" lIns="0" tIns="0" rIns="0" bIns="0" rtlCol="0" anchor="ctr"/>
          <a:lstStyle/>
          <a:p>
            <a:pPr algn="ctr" indent="0" marL="0">
              <a:buNone/>
            </a:pPr>
            <a:r>
              <a:rPr lang="en-US" sz="1500" dirty="0">
                <a:solidFill>
                  <a:srgbClr val="6F6F6F"/>
                </a:solidFill>
              </a:rPr>
              <a:t>May</a:t>
            </a:r>
            <a:endParaRPr lang="en-US" sz="1500" dirty="0"/>
          </a:p>
        </p:txBody>
      </p:sp>
      <p:sp>
        <p:nvSpPr>
          <p:cNvPr id="22" name="Shape 19"/>
          <p:cNvSpPr/>
          <p:nvPr/>
        </p:nvSpPr>
        <p:spPr>
          <a:xfrm>
            <a:off x="10802112" y="2423160"/>
            <a:ext cx="798576" cy="384048"/>
          </a:xfrm>
          <a:prstGeom prst="rect">
            <a:avLst/>
          </a:prstGeom>
          <a:solidFill>
            <a:schemeClr val="bg1"/>
          </a:solidFill>
          <a:ln w="12700">
            <a:solidFill>
              <a:schemeClr val="bg1"/>
            </a:solidFill>
            <a:prstDash val="solid"/>
          </a:ln>
        </p:spPr>
      </p:sp>
      <p:sp>
        <p:nvSpPr>
          <p:cNvPr id="23" name="Text 20"/>
          <p:cNvSpPr txBox="1"/>
          <p:nvPr/>
        </p:nvSpPr>
        <p:spPr>
          <a:xfrm>
            <a:off x="10783824" y="2423160"/>
            <a:ext cx="835152" cy="384048"/>
          </a:xfrm>
          <a:prstGeom prst="rect">
            <a:avLst/>
          </a:prstGeom>
          <a:noFill/>
          <a:ln/>
        </p:spPr>
        <p:txBody>
          <a:bodyPr wrap="square" lIns="0" tIns="0" rIns="0" bIns="0" rtlCol="0" anchor="ctr"/>
          <a:lstStyle/>
          <a:p>
            <a:pPr algn="ctr" indent="0" marL="0">
              <a:buNone/>
            </a:pPr>
            <a:r>
              <a:rPr lang="en-US" sz="1500" dirty="0">
                <a:solidFill>
                  <a:srgbClr val="6F6F6F"/>
                </a:solidFill>
              </a:rPr>
              <a:t>Jun</a:t>
            </a:r>
            <a:endParaRPr lang="en-US" sz="1500" dirty="0"/>
          </a:p>
        </p:txBody>
      </p:sp>
      <p:sp>
        <p:nvSpPr>
          <p:cNvPr id="24" name="Shape 21"/>
          <p:cNvSpPr/>
          <p:nvPr/>
        </p:nvSpPr>
        <p:spPr>
          <a:xfrm>
            <a:off x="11637264" y="2423160"/>
            <a:ext cx="798576" cy="384048"/>
          </a:xfrm>
          <a:prstGeom prst="rect">
            <a:avLst/>
          </a:prstGeom>
          <a:solidFill>
            <a:schemeClr val="bg2"/>
          </a:solidFill>
          <a:ln w="12700">
            <a:solidFill>
              <a:schemeClr val="bg2"/>
            </a:solidFill>
            <a:prstDash val="solid"/>
          </a:ln>
        </p:spPr>
      </p:sp>
      <p:sp>
        <p:nvSpPr>
          <p:cNvPr id="25" name="Text 22"/>
          <p:cNvSpPr txBox="1"/>
          <p:nvPr/>
        </p:nvSpPr>
        <p:spPr>
          <a:xfrm>
            <a:off x="11618976" y="2423160"/>
            <a:ext cx="835152" cy="384048"/>
          </a:xfrm>
          <a:prstGeom prst="rect">
            <a:avLst/>
          </a:prstGeom>
          <a:noFill/>
          <a:ln/>
        </p:spPr>
        <p:txBody>
          <a:bodyPr wrap="square" lIns="0" tIns="0" rIns="0" bIns="0" rtlCol="0" anchor="ctr"/>
          <a:lstStyle/>
          <a:p>
            <a:pPr algn="ctr" indent="0" marL="0">
              <a:buNone/>
            </a:pPr>
            <a:r>
              <a:rPr lang="en-US" sz="1500" dirty="0">
                <a:solidFill>
                  <a:srgbClr val="6F6F6F"/>
                </a:solidFill>
              </a:rPr>
              <a:t>Jul</a:t>
            </a:r>
            <a:endParaRPr lang="en-US" sz="1500" dirty="0"/>
          </a:p>
        </p:txBody>
      </p:sp>
      <p:sp>
        <p:nvSpPr>
          <p:cNvPr id="26" name="Shape 23"/>
          <p:cNvSpPr/>
          <p:nvPr/>
        </p:nvSpPr>
        <p:spPr>
          <a:xfrm>
            <a:off x="12472416" y="2423160"/>
            <a:ext cx="798576" cy="384048"/>
          </a:xfrm>
          <a:prstGeom prst="rect">
            <a:avLst/>
          </a:prstGeom>
          <a:solidFill>
            <a:schemeClr val="bg1"/>
          </a:solidFill>
          <a:ln w="12700">
            <a:solidFill>
              <a:schemeClr val="bg1"/>
            </a:solidFill>
            <a:prstDash val="solid"/>
          </a:ln>
        </p:spPr>
      </p:sp>
      <p:sp>
        <p:nvSpPr>
          <p:cNvPr id="27" name="Text 24"/>
          <p:cNvSpPr txBox="1"/>
          <p:nvPr/>
        </p:nvSpPr>
        <p:spPr>
          <a:xfrm>
            <a:off x="12454128" y="2423160"/>
            <a:ext cx="835152" cy="384048"/>
          </a:xfrm>
          <a:prstGeom prst="rect">
            <a:avLst/>
          </a:prstGeom>
          <a:noFill/>
          <a:ln/>
        </p:spPr>
        <p:txBody>
          <a:bodyPr wrap="square" lIns="0" tIns="0" rIns="0" bIns="0" rtlCol="0" anchor="ctr"/>
          <a:lstStyle/>
          <a:p>
            <a:pPr algn="ctr" indent="0" marL="0">
              <a:buNone/>
            </a:pPr>
            <a:r>
              <a:rPr lang="en-US" sz="1500" dirty="0">
                <a:solidFill>
                  <a:srgbClr val="6F6F6F"/>
                </a:solidFill>
              </a:rPr>
              <a:t>Aug</a:t>
            </a:r>
            <a:endParaRPr lang="en-US" sz="1500" dirty="0"/>
          </a:p>
        </p:txBody>
      </p:sp>
      <p:sp>
        <p:nvSpPr>
          <p:cNvPr id="28" name="Shape 25"/>
          <p:cNvSpPr/>
          <p:nvPr/>
        </p:nvSpPr>
        <p:spPr>
          <a:xfrm>
            <a:off x="13307568" y="2423160"/>
            <a:ext cx="798576" cy="384048"/>
          </a:xfrm>
          <a:prstGeom prst="rect">
            <a:avLst/>
          </a:prstGeom>
          <a:solidFill>
            <a:schemeClr val="bg2"/>
          </a:solidFill>
          <a:ln w="12700">
            <a:solidFill>
              <a:schemeClr val="bg2"/>
            </a:solidFill>
            <a:prstDash val="solid"/>
          </a:ln>
        </p:spPr>
      </p:sp>
      <p:sp>
        <p:nvSpPr>
          <p:cNvPr id="29" name="Text 26"/>
          <p:cNvSpPr txBox="1"/>
          <p:nvPr/>
        </p:nvSpPr>
        <p:spPr>
          <a:xfrm>
            <a:off x="13289280" y="2423160"/>
            <a:ext cx="835152" cy="384048"/>
          </a:xfrm>
          <a:prstGeom prst="rect">
            <a:avLst/>
          </a:prstGeom>
          <a:noFill/>
          <a:ln/>
        </p:spPr>
        <p:txBody>
          <a:bodyPr wrap="square" lIns="0" tIns="0" rIns="0" bIns="0" rtlCol="0" anchor="ctr"/>
          <a:lstStyle/>
          <a:p>
            <a:pPr algn="ctr" indent="0" marL="0">
              <a:buNone/>
            </a:pPr>
            <a:r>
              <a:rPr lang="en-US" sz="1500" dirty="0">
                <a:solidFill>
                  <a:srgbClr val="6F6F6F"/>
                </a:solidFill>
              </a:rPr>
              <a:t>Sep</a:t>
            </a:r>
            <a:endParaRPr lang="en-US" sz="1500" dirty="0"/>
          </a:p>
        </p:txBody>
      </p:sp>
      <p:sp>
        <p:nvSpPr>
          <p:cNvPr id="30" name="Shape 27"/>
          <p:cNvSpPr/>
          <p:nvPr/>
        </p:nvSpPr>
        <p:spPr>
          <a:xfrm>
            <a:off x="14142720" y="2423160"/>
            <a:ext cx="798576" cy="384048"/>
          </a:xfrm>
          <a:prstGeom prst="rect">
            <a:avLst/>
          </a:prstGeom>
          <a:solidFill>
            <a:schemeClr val="bg1"/>
          </a:solidFill>
          <a:ln w="12700">
            <a:solidFill>
              <a:schemeClr val="bg1"/>
            </a:solidFill>
            <a:prstDash val="solid"/>
          </a:ln>
        </p:spPr>
      </p:sp>
      <p:sp>
        <p:nvSpPr>
          <p:cNvPr id="31" name="Text 28"/>
          <p:cNvSpPr txBox="1"/>
          <p:nvPr/>
        </p:nvSpPr>
        <p:spPr>
          <a:xfrm>
            <a:off x="14124432" y="2423160"/>
            <a:ext cx="835152" cy="384048"/>
          </a:xfrm>
          <a:prstGeom prst="rect">
            <a:avLst/>
          </a:prstGeom>
          <a:noFill/>
          <a:ln/>
        </p:spPr>
        <p:txBody>
          <a:bodyPr wrap="square" lIns="0" tIns="0" rIns="0" bIns="0" rtlCol="0" anchor="ctr"/>
          <a:lstStyle/>
          <a:p>
            <a:pPr algn="ctr" indent="0" marL="0">
              <a:buNone/>
            </a:pPr>
            <a:r>
              <a:rPr lang="en-US" sz="1500" dirty="0">
                <a:solidFill>
                  <a:srgbClr val="6F6F6F"/>
                </a:solidFill>
              </a:rPr>
              <a:t>Oct</a:t>
            </a:r>
            <a:endParaRPr lang="en-US" sz="1500" dirty="0"/>
          </a:p>
        </p:txBody>
      </p:sp>
      <p:sp>
        <p:nvSpPr>
          <p:cNvPr id="32" name="Shape 29"/>
          <p:cNvSpPr/>
          <p:nvPr/>
        </p:nvSpPr>
        <p:spPr>
          <a:xfrm>
            <a:off x="14977872" y="2423160"/>
            <a:ext cx="798576" cy="384048"/>
          </a:xfrm>
          <a:prstGeom prst="rect">
            <a:avLst/>
          </a:prstGeom>
          <a:solidFill>
            <a:schemeClr val="bg2"/>
          </a:solidFill>
          <a:ln w="12700">
            <a:solidFill>
              <a:schemeClr val="bg2"/>
            </a:solidFill>
            <a:prstDash val="solid"/>
          </a:ln>
        </p:spPr>
      </p:sp>
      <p:sp>
        <p:nvSpPr>
          <p:cNvPr id="33" name="Text 30"/>
          <p:cNvSpPr txBox="1"/>
          <p:nvPr/>
        </p:nvSpPr>
        <p:spPr>
          <a:xfrm>
            <a:off x="14959584" y="2423160"/>
            <a:ext cx="835152" cy="384048"/>
          </a:xfrm>
          <a:prstGeom prst="rect">
            <a:avLst/>
          </a:prstGeom>
          <a:noFill/>
          <a:ln/>
        </p:spPr>
        <p:txBody>
          <a:bodyPr wrap="square" lIns="0" tIns="0" rIns="0" bIns="0" rtlCol="0" anchor="ctr"/>
          <a:lstStyle/>
          <a:p>
            <a:pPr algn="ctr" indent="0" marL="0">
              <a:buNone/>
            </a:pPr>
            <a:r>
              <a:rPr lang="en-US" sz="1500" dirty="0">
                <a:solidFill>
                  <a:srgbClr val="6F6F6F"/>
                </a:solidFill>
              </a:rPr>
              <a:t>Nov</a:t>
            </a:r>
            <a:endParaRPr lang="en-US" sz="1500" dirty="0"/>
          </a:p>
        </p:txBody>
      </p:sp>
      <p:sp>
        <p:nvSpPr>
          <p:cNvPr id="34" name="Shape 31"/>
          <p:cNvSpPr/>
          <p:nvPr/>
        </p:nvSpPr>
        <p:spPr>
          <a:xfrm>
            <a:off x="15813024" y="2423160"/>
            <a:ext cx="798576" cy="384048"/>
          </a:xfrm>
          <a:prstGeom prst="rect">
            <a:avLst/>
          </a:prstGeom>
          <a:solidFill>
            <a:schemeClr val="bg1"/>
          </a:solidFill>
          <a:ln w="12700">
            <a:solidFill>
              <a:schemeClr val="bg1"/>
            </a:solidFill>
            <a:prstDash val="solid"/>
          </a:ln>
        </p:spPr>
      </p:sp>
      <p:sp>
        <p:nvSpPr>
          <p:cNvPr id="35" name="Text 32"/>
          <p:cNvSpPr txBox="1"/>
          <p:nvPr/>
        </p:nvSpPr>
        <p:spPr>
          <a:xfrm>
            <a:off x="15794736" y="2423160"/>
            <a:ext cx="835152" cy="384048"/>
          </a:xfrm>
          <a:prstGeom prst="rect">
            <a:avLst/>
          </a:prstGeom>
          <a:noFill/>
          <a:ln/>
        </p:spPr>
        <p:txBody>
          <a:bodyPr wrap="square" lIns="0" tIns="0" rIns="0" bIns="0" rtlCol="0" anchor="ctr"/>
          <a:lstStyle/>
          <a:p>
            <a:pPr algn="ctr" indent="0" marL="0">
              <a:buNone/>
            </a:pPr>
            <a:r>
              <a:rPr lang="en-US" sz="1500" dirty="0">
                <a:solidFill>
                  <a:srgbClr val="6F6F6F"/>
                </a:solidFill>
              </a:rPr>
              <a:t>Dec</a:t>
            </a:r>
            <a:endParaRPr lang="en-US" sz="1500" dirty="0"/>
          </a:p>
        </p:txBody>
      </p:sp>
      <p:sp>
        <p:nvSpPr>
          <p:cNvPr id="36" name="Shape 33"/>
          <p:cNvSpPr/>
          <p:nvPr/>
        </p:nvSpPr>
        <p:spPr>
          <a:xfrm>
            <a:off x="16648176" y="2423160"/>
            <a:ext cx="798576" cy="384048"/>
          </a:xfrm>
          <a:prstGeom prst="rect">
            <a:avLst/>
          </a:prstGeom>
          <a:solidFill>
            <a:schemeClr val="bg2"/>
          </a:solidFill>
          <a:ln w="12700">
            <a:solidFill>
              <a:schemeClr val="bg2"/>
            </a:solidFill>
            <a:prstDash val="solid"/>
          </a:ln>
        </p:spPr>
      </p:sp>
      <p:sp>
        <p:nvSpPr>
          <p:cNvPr id="37" name="Text 34"/>
          <p:cNvSpPr txBox="1"/>
          <p:nvPr/>
        </p:nvSpPr>
        <p:spPr>
          <a:xfrm>
            <a:off x="16629888" y="2423160"/>
            <a:ext cx="835152" cy="384048"/>
          </a:xfrm>
          <a:prstGeom prst="rect">
            <a:avLst/>
          </a:prstGeom>
          <a:noFill/>
          <a:ln/>
        </p:spPr>
        <p:txBody>
          <a:bodyPr wrap="square" lIns="0" tIns="0" rIns="0" bIns="0" rtlCol="0" anchor="ctr"/>
          <a:lstStyle/>
          <a:p>
            <a:pPr algn="ctr" indent="0" marL="0">
              <a:buNone/>
            </a:pPr>
            <a:endParaRPr lang="en-US" sz="1500" dirty="0"/>
          </a:p>
        </p:txBody>
      </p:sp>
      <p:sp>
        <p:nvSpPr>
          <p:cNvPr id="38" name="Text 35"/>
          <p:cNvSpPr txBox="1"/>
          <p:nvPr/>
        </p:nvSpPr>
        <p:spPr>
          <a:xfrm>
            <a:off x="822960" y="3108960"/>
            <a:ext cx="3931920" cy="1005840"/>
          </a:xfrm>
          <a:prstGeom prst="rect">
            <a:avLst/>
          </a:prstGeom>
          <a:noFill/>
          <a:ln/>
        </p:spPr>
        <p:txBody>
          <a:bodyPr wrap="square" lIns="0" tIns="0" rIns="0" bIns="0" rtlCol="0" anchor="ctr"/>
          <a:lstStyle/>
          <a:p>
            <a:pPr indent="0" marL="0">
              <a:buNone/>
            </a:pPr>
            <a:r>
              <a:rPr lang="en-US" sz="2000" b="1" dirty="0">
                <a:solidFill>
                  <a:schemeClr val="tx2"/>
                </a:solidFill>
              </a:rPr>
              <a:t>Phase 0 · Inception</a:t>
            </a:r>
            <a:endParaRPr lang="en-US" sz="2400" dirty="0"/>
          </a:p>
          <a:p>
            <a:pPr indent="0" marL="0">
              <a:buNone/>
            </a:pPr>
            <a:r>
              <a:rPr lang="en-US" sz="1700" dirty="0">
                <a:solidFill>
                  <a:srgbClr val="3A3A3A"/>
                </a:solidFill>
              </a:rPr>
              <a:t>3 weeks · Nov 9–27</a:t>
            </a:r>
            <a:endParaRPr lang="en-US" sz="2400" dirty="0"/>
          </a:p>
        </p:txBody>
      </p:sp>
      <p:sp>
        <p:nvSpPr>
          <p:cNvPr id="39" name="Text 36"/>
          <p:cNvSpPr txBox="1"/>
          <p:nvPr/>
        </p:nvSpPr>
        <p:spPr>
          <a:xfrm>
            <a:off x="822960" y="4297680"/>
            <a:ext cx="3931920" cy="1005840"/>
          </a:xfrm>
          <a:prstGeom prst="rect">
            <a:avLst/>
          </a:prstGeom>
          <a:noFill/>
          <a:ln/>
        </p:spPr>
        <p:txBody>
          <a:bodyPr wrap="square" lIns="0" tIns="0" rIns="0" bIns="0" rtlCol="0" anchor="ctr"/>
          <a:lstStyle/>
          <a:p>
            <a:pPr indent="0" marL="0">
              <a:buNone/>
            </a:pPr>
            <a:r>
              <a:rPr lang="en-US" sz="2000" b="1" dirty="0">
                <a:solidFill>
                  <a:schemeClr val="tx2"/>
                </a:solidFill>
              </a:rPr>
              <a:t>Phase 1 · MVP build</a:t>
            </a:r>
            <a:endParaRPr lang="en-US" sz="2400" dirty="0"/>
          </a:p>
          <a:p>
            <a:pPr indent="0" marL="0">
              <a:buNone/>
            </a:pPr>
            <a:r>
              <a:rPr lang="en-US" sz="1700" dirty="0">
                <a:solidFill>
                  <a:srgbClr val="3A3A3A"/>
                </a:solidFill>
              </a:rPr>
              <a:t>~13 wks · Nov 30 – Feb 26</a:t>
            </a:r>
            <a:endParaRPr lang="en-US" sz="2400" dirty="0"/>
          </a:p>
        </p:txBody>
      </p:sp>
      <p:sp>
        <p:nvSpPr>
          <p:cNvPr id="40" name="Text 37"/>
          <p:cNvSpPr txBox="1"/>
          <p:nvPr/>
        </p:nvSpPr>
        <p:spPr>
          <a:xfrm>
            <a:off x="822960" y="5486400"/>
            <a:ext cx="3931920" cy="1005840"/>
          </a:xfrm>
          <a:prstGeom prst="rect">
            <a:avLst/>
          </a:prstGeom>
          <a:noFill/>
          <a:ln/>
        </p:spPr>
        <p:txBody>
          <a:bodyPr wrap="square" lIns="0" tIns="0" rIns="0" bIns="0" rtlCol="0" anchor="ctr"/>
          <a:lstStyle/>
          <a:p>
            <a:pPr indent="0" marL="0">
              <a:buNone/>
            </a:pPr>
            <a:r>
              <a:rPr lang="en-US" sz="2000" b="1" dirty="0">
                <a:solidFill>
                  <a:schemeClr val="tx2"/>
                </a:solidFill>
              </a:rPr>
              <a:t>Phase 2 · LA and scale</a:t>
            </a:r>
            <a:endParaRPr lang="en-US" sz="2400" dirty="0"/>
          </a:p>
          <a:p>
            <a:pPr indent="0" marL="0">
              <a:buNone/>
            </a:pPr>
            <a:r>
              <a:rPr lang="en-US" sz="1700" dirty="0">
                <a:solidFill>
                  <a:srgbClr val="3A3A3A"/>
                </a:solidFill>
              </a:rPr>
              <a:t>Q2–Q3 2027</a:t>
            </a:r>
            <a:endParaRPr lang="en-US" sz="2400" dirty="0"/>
          </a:p>
        </p:txBody>
      </p:sp>
      <p:sp>
        <p:nvSpPr>
          <p:cNvPr id="41" name="Text 38"/>
          <p:cNvSpPr txBox="1"/>
          <p:nvPr/>
        </p:nvSpPr>
        <p:spPr>
          <a:xfrm>
            <a:off x="822960" y="6675120"/>
            <a:ext cx="3931920" cy="1005840"/>
          </a:xfrm>
          <a:prstGeom prst="rect">
            <a:avLst/>
          </a:prstGeom>
          <a:noFill/>
          <a:ln/>
        </p:spPr>
        <p:txBody>
          <a:bodyPr wrap="square" lIns="0" tIns="0" rIns="0" bIns="0" rtlCol="0" anchor="ctr"/>
          <a:lstStyle/>
          <a:p>
            <a:pPr indent="0" marL="0">
              <a:buNone/>
            </a:pPr>
            <a:r>
              <a:rPr lang="en-US" sz="2000" b="1" dirty="0">
                <a:solidFill>
                  <a:schemeClr val="tx2"/>
                </a:solidFill>
              </a:rPr>
              <a:t>Phase 3 · Next wave</a:t>
            </a:r>
            <a:endParaRPr lang="en-US" sz="2400" dirty="0"/>
          </a:p>
          <a:p>
            <a:pPr indent="0" marL="0">
              <a:buNone/>
            </a:pPr>
            <a:r>
              <a:rPr lang="en-US" sz="1700" dirty="0">
                <a:solidFill>
                  <a:srgbClr val="3A3A3A"/>
                </a:solidFill>
              </a:rPr>
              <a:t>OCPI 2.3, dynamic pricing, AV depots</a:t>
            </a:r>
            <a:endParaRPr lang="en-US" sz="2400" dirty="0"/>
          </a:p>
        </p:txBody>
      </p:sp>
      <p:sp>
        <p:nvSpPr>
          <p:cNvPr id="42" name="Shape 39"/>
          <p:cNvSpPr/>
          <p:nvPr/>
        </p:nvSpPr>
        <p:spPr>
          <a:xfrm>
            <a:off x="5160467" y="3291840"/>
            <a:ext cx="528930" cy="640080"/>
          </a:xfrm>
          <a:prstGeom prst="rect">
            <a:avLst/>
          </a:prstGeom>
          <a:solidFill>
            <a:schemeClr val="accent1"/>
          </a:solidFill>
          <a:ln w="12700">
            <a:solidFill>
              <a:schemeClr val="accent1"/>
            </a:solidFill>
            <a:prstDash val="solid"/>
          </a:ln>
        </p:spPr>
      </p:sp>
      <p:sp>
        <p:nvSpPr>
          <p:cNvPr id="43" name="Shape 40"/>
          <p:cNvSpPr/>
          <p:nvPr/>
        </p:nvSpPr>
        <p:spPr>
          <a:xfrm>
            <a:off x="5745074" y="4480560"/>
            <a:ext cx="2473641" cy="640080"/>
          </a:xfrm>
          <a:prstGeom prst="rect">
            <a:avLst/>
          </a:prstGeom>
          <a:solidFill>
            <a:schemeClr val="tx2"/>
          </a:solidFill>
          <a:ln w="12700">
            <a:solidFill>
              <a:schemeClr val="tx2"/>
            </a:solidFill>
            <a:prstDash val="solid"/>
          </a:ln>
        </p:spPr>
      </p:sp>
      <p:sp>
        <p:nvSpPr>
          <p:cNvPr id="44" name="Text 41"/>
          <p:cNvSpPr txBox="1"/>
          <p:nvPr/>
        </p:nvSpPr>
        <p:spPr>
          <a:xfrm>
            <a:off x="5882234" y="4480560"/>
            <a:ext cx="2290761" cy="640080"/>
          </a:xfrm>
          <a:prstGeom prst="rect">
            <a:avLst/>
          </a:prstGeom>
          <a:noFill/>
          <a:ln/>
        </p:spPr>
        <p:txBody>
          <a:bodyPr wrap="square" lIns="0" tIns="0" rIns="0" bIns="0" rtlCol="0" anchor="ctr"/>
          <a:lstStyle/>
          <a:p>
            <a:pPr indent="0" marL="0">
              <a:buNone/>
            </a:pPr>
            <a:r>
              <a:rPr lang="en-US" sz="1700" b="1" dirty="0">
                <a:solidFill>
                  <a:schemeClr val="bg1"/>
                </a:solidFill>
              </a:rPr>
              <a:t>MVP build</a:t>
            </a:r>
            <a:endParaRPr lang="en-US" sz="1700" dirty="0"/>
          </a:p>
        </p:txBody>
      </p:sp>
      <p:sp>
        <p:nvSpPr>
          <p:cNvPr id="45" name="Shape 42"/>
          <p:cNvSpPr/>
          <p:nvPr/>
        </p:nvSpPr>
        <p:spPr>
          <a:xfrm>
            <a:off x="8278368" y="4480560"/>
            <a:ext cx="835152" cy="640080"/>
          </a:xfrm>
          <a:prstGeom prst="rect">
            <a:avLst/>
          </a:prstGeom>
          <a:solidFill>
            <a:srgbClr val="CFFFEA"/>
          </a:solidFill>
          <a:ln w="12700">
            <a:solidFill>
              <a:srgbClr val="CFFFEA"/>
            </a:solidFill>
            <a:prstDash val="solid"/>
          </a:ln>
        </p:spPr>
      </p:sp>
      <p:sp>
        <p:nvSpPr>
          <p:cNvPr id="46" name="Text 43"/>
          <p:cNvSpPr txBox="1"/>
          <p:nvPr/>
        </p:nvSpPr>
        <p:spPr>
          <a:xfrm>
            <a:off x="9197035" y="4480560"/>
            <a:ext cx="3200400" cy="640080"/>
          </a:xfrm>
          <a:prstGeom prst="rect">
            <a:avLst/>
          </a:prstGeom>
          <a:noFill/>
          <a:ln/>
        </p:spPr>
        <p:txBody>
          <a:bodyPr wrap="square" lIns="0" tIns="0" rIns="0" bIns="0" rtlCol="0" anchor="ctr"/>
          <a:lstStyle/>
          <a:p>
            <a:pPr indent="0" marL="0">
              <a:buNone/>
            </a:pPr>
            <a:r>
              <a:rPr lang="en-US" sz="1700" dirty="0">
                <a:solidFill>
                  <a:srgbClr val="3A3A3A"/>
                </a:solidFill>
              </a:rPr>
              <a:t>hypercare (March)</a:t>
            </a:r>
            <a:endParaRPr lang="en-US" sz="1700" dirty="0"/>
          </a:p>
        </p:txBody>
      </p:sp>
      <p:sp>
        <p:nvSpPr>
          <p:cNvPr id="47" name="Shape 44"/>
          <p:cNvSpPr/>
          <p:nvPr/>
        </p:nvSpPr>
        <p:spPr>
          <a:xfrm>
            <a:off x="9113520" y="5669280"/>
            <a:ext cx="5010912" cy="640080"/>
          </a:xfrm>
          <a:prstGeom prst="rect">
            <a:avLst/>
          </a:prstGeom>
          <a:solidFill>
            <a:schemeClr val="accent2"/>
          </a:solidFill>
          <a:ln w="12700">
            <a:solidFill>
              <a:schemeClr val="accent2"/>
            </a:solidFill>
            <a:prstDash val="solid"/>
          </a:ln>
        </p:spPr>
      </p:sp>
      <p:sp>
        <p:nvSpPr>
          <p:cNvPr id="48" name="Text 45"/>
          <p:cNvSpPr txBox="1"/>
          <p:nvPr/>
        </p:nvSpPr>
        <p:spPr>
          <a:xfrm>
            <a:off x="9250680" y="5669280"/>
            <a:ext cx="4828032" cy="640080"/>
          </a:xfrm>
          <a:prstGeom prst="rect">
            <a:avLst/>
          </a:prstGeom>
          <a:noFill/>
          <a:ln/>
        </p:spPr>
        <p:txBody>
          <a:bodyPr wrap="square" lIns="0" tIns="0" rIns="0" bIns="0" rtlCol="0" anchor="ctr"/>
          <a:lstStyle/>
          <a:p>
            <a:pPr indent="0" marL="0">
              <a:buNone/>
            </a:pPr>
            <a:r>
              <a:rPr lang="en-US" sz="1700" b="1" dirty="0">
                <a:solidFill>
                  <a:schemeClr val="bg1"/>
                </a:solidFill>
              </a:rPr>
              <a:t>Scale</a:t>
            </a:r>
            <a:endParaRPr lang="en-US" sz="1700" dirty="0"/>
          </a:p>
        </p:txBody>
      </p:sp>
      <p:sp>
        <p:nvSpPr>
          <p:cNvPr id="49" name="Text 46"/>
          <p:cNvSpPr txBox="1"/>
          <p:nvPr/>
        </p:nvSpPr>
        <p:spPr>
          <a:xfrm>
            <a:off x="11786006" y="5669280"/>
            <a:ext cx="2254910" cy="640080"/>
          </a:xfrm>
          <a:prstGeom prst="rect">
            <a:avLst/>
          </a:prstGeom>
          <a:noFill/>
          <a:ln/>
        </p:spPr>
        <p:txBody>
          <a:bodyPr wrap="square" lIns="0" tIns="0" rIns="0" bIns="0" rtlCol="0" anchor="ctr"/>
          <a:lstStyle/>
          <a:p>
            <a:pPr indent="0" marL="0">
              <a:buNone/>
            </a:pPr>
            <a:r>
              <a:rPr lang="en-US" sz="1700" b="1" dirty="0">
                <a:solidFill>
                  <a:schemeClr val="bg1"/>
                </a:solidFill>
              </a:rPr>
              <a:t>LA launch target</a:t>
            </a:r>
            <a:endParaRPr lang="en-US" sz="1700" dirty="0"/>
          </a:p>
        </p:txBody>
      </p:sp>
      <p:sp>
        <p:nvSpPr>
          <p:cNvPr id="50" name="Shape 47"/>
          <p:cNvSpPr/>
          <p:nvPr/>
        </p:nvSpPr>
        <p:spPr>
          <a:xfrm>
            <a:off x="16629888" y="6858000"/>
            <a:ext cx="835152" cy="640080"/>
          </a:xfrm>
          <a:prstGeom prst="rect">
            <a:avLst/>
          </a:prstGeom>
          <a:solidFill>
            <a:schemeClr val="bg2"/>
          </a:solidFill>
          <a:ln w="12700">
            <a:solidFill>
              <a:schemeClr val="bg2"/>
            </a:solidFill>
            <a:prstDash val="solid"/>
          </a:ln>
        </p:spPr>
      </p:sp>
      <p:sp>
        <p:nvSpPr>
          <p:cNvPr id="51" name="Shape 48"/>
          <p:cNvSpPr/>
          <p:nvPr/>
        </p:nvSpPr>
        <p:spPr>
          <a:xfrm>
            <a:off x="16629888" y="6858000"/>
            <a:ext cx="835152" cy="640080"/>
          </a:xfrm>
          <a:prstGeom prst="rect">
            <a:avLst/>
          </a:prstGeom>
          <a:solidFill>
            <a:schemeClr val="bg2"/>
          </a:solidFill>
          <a:ln w="19050">
            <a:solidFill>
              <a:srgbClr val="6F6F6F"/>
            </a:solidFill>
            <a:prstDash val="dash"/>
          </a:ln>
        </p:spPr>
      </p:sp>
      <p:sp>
        <p:nvSpPr>
          <p:cNvPr id="52" name="Shape 49"/>
          <p:cNvSpPr/>
          <p:nvPr/>
        </p:nvSpPr>
        <p:spPr>
          <a:xfrm>
            <a:off x="8278368" y="2880360"/>
            <a:ext cx="0" cy="4754880"/>
          </a:xfrm>
          <a:prstGeom prst="line">
            <a:avLst/>
          </a:prstGeom>
          <a:noFill/>
          <a:ln w="31750">
            <a:solidFill>
              <a:schemeClr val="accent3"/>
            </a:solidFill>
            <a:prstDash val="dash"/>
          </a:ln>
        </p:spPr>
      </p:sp>
      <p:sp>
        <p:nvSpPr>
          <p:cNvPr id="53" name="Text 50"/>
          <p:cNvSpPr txBox="1"/>
          <p:nvPr/>
        </p:nvSpPr>
        <p:spPr>
          <a:xfrm>
            <a:off x="6723888" y="7726680"/>
            <a:ext cx="3108960" cy="777240"/>
          </a:xfrm>
          <a:prstGeom prst="rect">
            <a:avLst/>
          </a:prstGeom>
          <a:noFill/>
          <a:ln/>
        </p:spPr>
        <p:txBody>
          <a:bodyPr wrap="square" lIns="0" tIns="0" rIns="0" bIns="0" rtlCol="0" anchor="t"/>
          <a:lstStyle/>
          <a:p>
            <a:pPr algn="ctr" indent="0" marL="0">
              <a:buNone/>
            </a:pPr>
            <a:r>
              <a:rPr lang="en-US" sz="1800" b="1" dirty="0">
                <a:solidFill>
                  <a:schemeClr val="accent3"/>
                </a:solidFill>
              </a:rPr>
              <a:t>Mar 1, 2027</a:t>
            </a:r>
            <a:endParaRPr lang="en-US" sz="1800" dirty="0"/>
          </a:p>
          <a:p>
            <a:pPr algn="ctr" indent="0" marL="0">
              <a:buNone/>
            </a:pPr>
            <a:r>
              <a:rPr lang="en-US" sz="1800" dirty="0">
                <a:solidFill>
                  <a:schemeClr val="tx2"/>
                </a:solidFill>
              </a:rPr>
              <a:t>NYC production launch</a:t>
            </a:r>
            <a:endParaRPr lang="en-US" sz="1800" dirty="0"/>
          </a:p>
        </p:txBody>
      </p:sp>
      <p:sp>
        <p:nvSpPr>
          <p:cNvPr id="54" name="Shape 51"/>
          <p:cNvSpPr/>
          <p:nvPr/>
        </p:nvSpPr>
        <p:spPr>
          <a:xfrm>
            <a:off x="11618976" y="2880360"/>
            <a:ext cx="0" cy="4754880"/>
          </a:xfrm>
          <a:prstGeom prst="line">
            <a:avLst/>
          </a:prstGeom>
          <a:noFill/>
          <a:ln w="31750">
            <a:solidFill>
              <a:schemeClr val="accent3"/>
            </a:solidFill>
            <a:prstDash val="dash"/>
          </a:ln>
        </p:spPr>
      </p:sp>
      <p:sp>
        <p:nvSpPr>
          <p:cNvPr id="55" name="Text 52"/>
          <p:cNvSpPr txBox="1"/>
          <p:nvPr/>
        </p:nvSpPr>
        <p:spPr>
          <a:xfrm>
            <a:off x="9790176" y="7726680"/>
            <a:ext cx="3657600" cy="777240"/>
          </a:xfrm>
          <a:prstGeom prst="rect">
            <a:avLst/>
          </a:prstGeom>
          <a:noFill/>
          <a:ln/>
        </p:spPr>
        <p:txBody>
          <a:bodyPr wrap="square" lIns="0" tIns="0" rIns="0" bIns="0" rtlCol="0" anchor="t"/>
          <a:lstStyle/>
          <a:p>
            <a:pPr algn="ctr" indent="0" marL="0">
              <a:buNone/>
            </a:pPr>
            <a:r>
              <a:rPr lang="en-US" sz="1800" b="1" dirty="0">
                <a:solidFill>
                  <a:schemeClr val="accent3"/>
                </a:solidFill>
              </a:rPr>
              <a:t>June 2027</a:t>
            </a:r>
            <a:endParaRPr lang="en-US" sz="1800" dirty="0"/>
          </a:p>
          <a:p>
            <a:pPr algn="ctr" indent="0" marL="0">
              <a:buNone/>
            </a:pPr>
            <a:r>
              <a:rPr lang="en-US" sz="1800" dirty="0">
                <a:solidFill>
                  <a:schemeClr val="tx2"/>
                </a:solidFill>
              </a:rPr>
              <a:t>10k completed bookings/mo</a:t>
            </a:r>
            <a:endParaRPr lang="en-US" sz="1800" dirty="0"/>
          </a:p>
        </p:txBody>
      </p:sp>
      <p:sp>
        <p:nvSpPr>
          <p:cNvPr id="56" name="Text 53"/>
          <p:cNvSpPr txBox="1"/>
          <p:nvPr/>
        </p:nvSpPr>
        <p:spPr>
          <a:xfrm>
            <a:off x="822960" y="8778240"/>
            <a:ext cx="16642080" cy="457200"/>
          </a:xfrm>
          <a:prstGeom prst="rect">
            <a:avLst/>
          </a:prstGeom>
          <a:noFill/>
          <a:ln/>
        </p:spPr>
        <p:txBody>
          <a:bodyPr wrap="square" lIns="0" tIns="0" rIns="0" bIns="0" rtlCol="0" anchor="t"/>
          <a:lstStyle/>
          <a:p>
            <a:pPr indent="0" marL="0">
              <a:buNone/>
            </a:pPr>
            <a:r>
              <a:rPr lang="en-US" sz="1800" i="1" dirty="0">
                <a:solidFill>
                  <a:srgbClr val="6F6F6F"/>
                </a:solidFill>
              </a:rPr>
              <a:t>Indicative only. The plan and estimate come with the costed proposal on November 6.</a:t>
            </a:r>
            <a:endParaRPr lang="en-US" sz="1800" dirty="0"/>
          </a:p>
        </p:txBody>
      </p:sp>
      <p:sp>
        <p:nvSpPr>
          <p:cNvPr id="25" name="Slide Number Placeholder 0"/>
          <p:cNvSpPr>
            <a:spLocks noGrp="1"/>
          </p:cNvSpPr>
          <p:nvPr>
            <p:ph type="sldNum" sz="quarter" idx="4294967295"/>
          </p:nvPr>
        </p:nvSpPr>
        <p:spPr>
          <a:xfrm>
            <a:off x="16642080" y="9646920"/>
            <a:ext cx="822960" cy="347472"/>
          </a:xfrm>
          <a:prstGeom prst="rect">
            <a:avLst/>
          </a:prstGeom>
          <a:extLst>
            <a:ext uri="{C572A759-6A51-4108-AA02-DFA0A04FC94B}">
              <ma14:wrappingTextBoxFlag xmlns:ma14="http://schemas.microsoft.com/office/mac/drawingml/2011/main" val="0"/>
            </a:ext>
          </a:extLst>
        </p:spPr>
        <p:txBody>
          <a:bodyPr/>
          <a:lstStyle>
            <a:lvl1pPr>
              <a:defRPr sz="1500">
                <a:solidFill>
                  <a:schemeClr val="tx1"/>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header"/>
          <p:cNvSpPr txBox="1"/>
          <p:nvPr/>
        </p:nvSpPr>
        <p:spPr>
          <a:xfrm>
            <a:off x="822960" y="219456"/>
            <a:ext cx="10972800" cy="347472"/>
          </a:xfrm>
          <a:prstGeom prst="rect">
            <a:avLst/>
          </a:prstGeom>
          <a:noFill/>
          <a:ln/>
        </p:spPr>
        <p:txBody>
          <a:bodyPr wrap="square" lIns="0" tIns="0" rIns="0" bIns="0" rtlCol="0" anchor="ctr"/>
          <a:lstStyle/>
          <a:p>
            <a:pPr indent="0" marL="0">
              <a:buNone/>
            </a:pPr>
            <a:r>
              <a:rPr lang="en-US" sz="1500" dirty="0">
                <a:solidFill>
                  <a:schemeClr val="tx1"/>
                </a:solidFill>
              </a:rPr>
              <a:t>amperlane/03-delivery</a:t>
            </a:r>
            <a:endParaRPr lang="en-US" sz="1500" dirty="0"/>
          </a:p>
        </p:txBody>
      </p:sp>
      <p:sp>
        <p:nvSpPr>
          <p:cNvPr id="3" name="Text 0"/>
          <p:cNvSpPr/>
          <p:nvPr>
            <p:ph idx="100" type="title" hasCustomPrompt="1"/>
          </p:nvPr>
        </p:nvSpPr>
        <p:spPr>
          <a:xfrm>
            <a:off x="822960" y="841248"/>
            <a:ext cx="16642080" cy="1005840"/>
          </a:xfrm>
          <a:prstGeom prst="rect">
            <a:avLst/>
          </a:prstGeom>
          <a:noFill/>
          <a:ln/>
        </p:spPr>
        <p:txBody>
          <a:bodyPr wrap="square" lIns="0" tIns="0" rIns="0" bIns="0" rtlCol="0" anchor="t"/>
          <a:lstStyle/>
          <a:p>
            <a:pPr algn="l" indent="0" marL="0">
              <a:buNone/>
            </a:pPr>
            <a:r>
              <a:rPr lang="en-US" sz="4500" dirty="0">
                <a:solidFill>
                  <a:schemeClr val="tx1"/>
                </a:solidFill>
              </a:rPr>
              <a:t>Team shape (indicative, not an estimate)</a:t>
            </a:r>
            <a:endParaRPr lang="en-US" sz="4500" dirty="0"/>
          </a:p>
        </p:txBody>
      </p:sp>
      <p:sp>
        <p:nvSpPr>
          <p:cNvPr id="5" name="Shape 2"/>
          <p:cNvSpPr/>
          <p:nvPr/>
        </p:nvSpPr>
        <p:spPr>
          <a:xfrm>
            <a:off x="822960" y="2103120"/>
            <a:ext cx="3931920" cy="2788920"/>
          </a:xfrm>
          <a:prstGeom prst="rect">
            <a:avLst/>
          </a:prstGeom>
          <a:solidFill>
            <a:schemeClr val="bg2"/>
          </a:solidFill>
          <a:ln w="12700">
            <a:solidFill>
              <a:schemeClr val="bg2"/>
            </a:solidFill>
            <a:prstDash val="solid"/>
          </a:ln>
        </p:spPr>
      </p:sp>
      <p:sp>
        <p:nvSpPr>
          <p:cNvPr id="6" name="Shape 3"/>
          <p:cNvSpPr/>
          <p:nvPr/>
        </p:nvSpPr>
        <p:spPr>
          <a:xfrm>
            <a:off x="3703320" y="2423160"/>
            <a:ext cx="731520" cy="731520"/>
          </a:xfrm>
          <a:prstGeom prst="ellipse">
            <a:avLst/>
          </a:prstGeom>
          <a:solidFill>
            <a:schemeClr val="accent1"/>
          </a:solidFill>
          <a:ln w="12700">
            <a:solidFill>
              <a:schemeClr val="accent1"/>
            </a:solidFill>
            <a:prstDash val="solid"/>
          </a:ln>
        </p:spPr>
      </p:sp>
      <p:pic>
        <p:nvPicPr>
          <p:cNvPr id="7" name="Image 0" descr="preencoded.png">    </p:cNvPr>
          <p:cNvPicPr>
            <a:picLocks noChangeAspect="1"/>
          </p:cNvPicPr>
          <p:nvPr/>
        </p:nvPicPr>
        <p:blipFill>
          <a:blip r:embed="rId1"/>
          <a:stretch>
            <a:fillRect/>
          </a:stretch>
        </p:blipFill>
        <p:spPr>
          <a:xfrm>
            <a:off x="3886200" y="2606040"/>
            <a:ext cx="365760" cy="365760"/>
          </a:xfrm>
          <a:prstGeom prst="rect">
            <a:avLst/>
          </a:prstGeom>
        </p:spPr>
      </p:pic>
      <p:sp>
        <p:nvSpPr>
          <p:cNvPr id="8" name="Text 4"/>
          <p:cNvSpPr txBox="1"/>
          <p:nvPr/>
        </p:nvSpPr>
        <p:spPr>
          <a:xfrm>
            <a:off x="1143000" y="2377440"/>
            <a:ext cx="2560320" cy="1005840"/>
          </a:xfrm>
          <a:prstGeom prst="rect">
            <a:avLst/>
          </a:prstGeom>
          <a:noFill/>
          <a:ln/>
        </p:spPr>
        <p:txBody>
          <a:bodyPr wrap="square" lIns="0" tIns="0" rIns="0" bIns="0" rtlCol="0" anchor="ctr"/>
          <a:lstStyle/>
          <a:p>
            <a:pPr indent="0" marL="0">
              <a:buNone/>
            </a:pPr>
            <a:r>
              <a:rPr lang="en-US" sz="5400" b="1" dirty="0">
                <a:solidFill>
                  <a:schemeClr val="tx2"/>
                </a:solidFill>
              </a:rPr>
              <a:t>1</a:t>
            </a:r>
            <a:endParaRPr lang="en-US" sz="5400" dirty="0"/>
          </a:p>
        </p:txBody>
      </p:sp>
      <p:sp>
        <p:nvSpPr>
          <p:cNvPr id="9" name="Text 5"/>
          <p:cNvSpPr txBox="1"/>
          <p:nvPr/>
        </p:nvSpPr>
        <p:spPr>
          <a:xfrm>
            <a:off x="1143000" y="3566160"/>
            <a:ext cx="3291840" cy="1097280"/>
          </a:xfrm>
          <a:prstGeom prst="rect">
            <a:avLst/>
          </a:prstGeom>
          <a:noFill/>
          <a:ln/>
        </p:spPr>
        <p:txBody>
          <a:bodyPr wrap="square" lIns="0" tIns="0" rIns="0" bIns="0" rtlCol="0" anchor="t"/>
          <a:lstStyle/>
          <a:p>
            <a:pPr indent="0" marL="0">
              <a:buNone/>
            </a:pPr>
            <a:r>
              <a:rPr lang="en-US" sz="2100" b="1" dirty="0">
                <a:solidFill>
                  <a:schemeClr val="tx2"/>
                </a:solidFill>
              </a:rPr>
              <a:t>Engagement lead / PO proxy</a:t>
            </a:r>
            <a:endParaRPr lang="en-US" sz="2100" dirty="0"/>
          </a:p>
        </p:txBody>
      </p:sp>
      <p:sp>
        <p:nvSpPr>
          <p:cNvPr id="10" name="Shape 6"/>
          <p:cNvSpPr/>
          <p:nvPr/>
        </p:nvSpPr>
        <p:spPr>
          <a:xfrm>
            <a:off x="5029200" y="2103120"/>
            <a:ext cx="3931920" cy="2788920"/>
          </a:xfrm>
          <a:prstGeom prst="rect">
            <a:avLst/>
          </a:prstGeom>
          <a:solidFill>
            <a:schemeClr val="bg2"/>
          </a:solidFill>
          <a:ln w="12700">
            <a:solidFill>
              <a:schemeClr val="bg2"/>
            </a:solidFill>
            <a:prstDash val="solid"/>
          </a:ln>
        </p:spPr>
      </p:sp>
      <p:sp>
        <p:nvSpPr>
          <p:cNvPr id="11" name="Shape 7"/>
          <p:cNvSpPr/>
          <p:nvPr/>
        </p:nvSpPr>
        <p:spPr>
          <a:xfrm>
            <a:off x="7909560" y="2423160"/>
            <a:ext cx="731520" cy="731520"/>
          </a:xfrm>
          <a:prstGeom prst="ellipse">
            <a:avLst/>
          </a:prstGeom>
          <a:solidFill>
            <a:schemeClr val="accent1"/>
          </a:solidFill>
          <a:ln w="12700">
            <a:solidFill>
              <a:schemeClr val="accent1"/>
            </a:solidFill>
            <a:prstDash val="solid"/>
          </a:ln>
        </p:spPr>
      </p:sp>
      <p:pic>
        <p:nvPicPr>
          <p:cNvPr id="12" name="Image 1" descr="preencoded.png">    </p:cNvPr>
          <p:cNvPicPr>
            <a:picLocks noChangeAspect="1"/>
          </p:cNvPicPr>
          <p:nvPr/>
        </p:nvPicPr>
        <p:blipFill>
          <a:blip r:embed="rId2"/>
          <a:stretch>
            <a:fillRect/>
          </a:stretch>
        </p:blipFill>
        <p:spPr>
          <a:xfrm>
            <a:off x="8092440" y="2606040"/>
            <a:ext cx="365760" cy="365760"/>
          </a:xfrm>
          <a:prstGeom prst="rect">
            <a:avLst/>
          </a:prstGeom>
        </p:spPr>
      </p:pic>
      <p:sp>
        <p:nvSpPr>
          <p:cNvPr id="13" name="Text 8"/>
          <p:cNvSpPr txBox="1"/>
          <p:nvPr/>
        </p:nvSpPr>
        <p:spPr>
          <a:xfrm>
            <a:off x="5349240" y="2377440"/>
            <a:ext cx="2560320" cy="1005840"/>
          </a:xfrm>
          <a:prstGeom prst="rect">
            <a:avLst/>
          </a:prstGeom>
          <a:noFill/>
          <a:ln/>
        </p:spPr>
        <p:txBody>
          <a:bodyPr wrap="square" lIns="0" tIns="0" rIns="0" bIns="0" rtlCol="0" anchor="ctr"/>
          <a:lstStyle/>
          <a:p>
            <a:pPr indent="0" marL="0">
              <a:buNone/>
            </a:pPr>
            <a:r>
              <a:rPr lang="en-US" sz="5400" b="1" dirty="0">
                <a:solidFill>
                  <a:schemeClr val="tx2"/>
                </a:solidFill>
              </a:rPr>
              <a:t>1</a:t>
            </a:r>
            <a:endParaRPr lang="en-US" sz="5400" dirty="0"/>
          </a:p>
        </p:txBody>
      </p:sp>
      <p:sp>
        <p:nvSpPr>
          <p:cNvPr id="14" name="Text 9"/>
          <p:cNvSpPr txBox="1"/>
          <p:nvPr/>
        </p:nvSpPr>
        <p:spPr>
          <a:xfrm>
            <a:off x="5349240" y="3566160"/>
            <a:ext cx="3291840" cy="1097280"/>
          </a:xfrm>
          <a:prstGeom prst="rect">
            <a:avLst/>
          </a:prstGeom>
          <a:noFill/>
          <a:ln/>
        </p:spPr>
        <p:txBody>
          <a:bodyPr wrap="square" lIns="0" tIns="0" rIns="0" bIns="0" rtlCol="0" anchor="t"/>
          <a:lstStyle/>
          <a:p>
            <a:pPr indent="0" marL="0">
              <a:buNone/>
            </a:pPr>
            <a:r>
              <a:rPr lang="en-US" sz="2100" b="1" dirty="0">
                <a:solidFill>
                  <a:schemeClr val="tx2"/>
                </a:solidFill>
              </a:rPr>
              <a:t>Solution architect</a:t>
            </a:r>
            <a:endParaRPr lang="en-US" sz="2100" dirty="0"/>
          </a:p>
        </p:txBody>
      </p:sp>
      <p:sp>
        <p:nvSpPr>
          <p:cNvPr id="15" name="Shape 10"/>
          <p:cNvSpPr/>
          <p:nvPr/>
        </p:nvSpPr>
        <p:spPr>
          <a:xfrm>
            <a:off x="9235440" y="2103120"/>
            <a:ext cx="3931920" cy="2788920"/>
          </a:xfrm>
          <a:prstGeom prst="rect">
            <a:avLst/>
          </a:prstGeom>
          <a:solidFill>
            <a:schemeClr val="tx2"/>
          </a:solidFill>
          <a:ln w="12700">
            <a:solidFill>
              <a:schemeClr val="tx2"/>
            </a:solidFill>
            <a:prstDash val="solid"/>
          </a:ln>
        </p:spPr>
      </p:sp>
      <p:sp>
        <p:nvSpPr>
          <p:cNvPr id="16" name="Shape 11"/>
          <p:cNvSpPr/>
          <p:nvPr/>
        </p:nvSpPr>
        <p:spPr>
          <a:xfrm>
            <a:off x="12115800" y="2423160"/>
            <a:ext cx="731520" cy="731520"/>
          </a:xfrm>
          <a:prstGeom prst="ellipse">
            <a:avLst/>
          </a:prstGeom>
          <a:solidFill>
            <a:schemeClr val="accent1"/>
          </a:solidFill>
          <a:ln w="12700">
            <a:solidFill>
              <a:schemeClr val="accent1"/>
            </a:solidFill>
            <a:prstDash val="solid"/>
          </a:ln>
        </p:spPr>
      </p:sp>
      <p:pic>
        <p:nvPicPr>
          <p:cNvPr id="17" name="Image 2" descr="preencoded.png">    </p:cNvPr>
          <p:cNvPicPr>
            <a:picLocks noChangeAspect="1"/>
          </p:cNvPicPr>
          <p:nvPr/>
        </p:nvPicPr>
        <p:blipFill>
          <a:blip r:embed="rId3"/>
          <a:stretch>
            <a:fillRect/>
          </a:stretch>
        </p:blipFill>
        <p:spPr>
          <a:xfrm>
            <a:off x="12298680" y="2606040"/>
            <a:ext cx="365760" cy="365760"/>
          </a:xfrm>
          <a:prstGeom prst="rect">
            <a:avLst/>
          </a:prstGeom>
        </p:spPr>
      </p:pic>
      <p:sp>
        <p:nvSpPr>
          <p:cNvPr id="18" name="Text 12"/>
          <p:cNvSpPr txBox="1"/>
          <p:nvPr/>
        </p:nvSpPr>
        <p:spPr>
          <a:xfrm>
            <a:off x="9555480" y="2377440"/>
            <a:ext cx="2560320" cy="1005840"/>
          </a:xfrm>
          <a:prstGeom prst="rect">
            <a:avLst/>
          </a:prstGeom>
          <a:noFill/>
          <a:ln/>
        </p:spPr>
        <p:txBody>
          <a:bodyPr wrap="square" lIns="0" tIns="0" rIns="0" bIns="0" rtlCol="0" anchor="ctr"/>
          <a:lstStyle/>
          <a:p>
            <a:pPr indent="0" marL="0">
              <a:buNone/>
            </a:pPr>
            <a:r>
              <a:rPr lang="en-US" sz="5400" b="1" dirty="0">
                <a:solidFill>
                  <a:schemeClr val="accent1"/>
                </a:solidFill>
              </a:rPr>
              <a:t>3–4</a:t>
            </a:r>
            <a:endParaRPr lang="en-US" sz="5400" dirty="0"/>
          </a:p>
        </p:txBody>
      </p:sp>
      <p:sp>
        <p:nvSpPr>
          <p:cNvPr id="19" name="Text 13"/>
          <p:cNvSpPr txBox="1"/>
          <p:nvPr/>
        </p:nvSpPr>
        <p:spPr>
          <a:xfrm>
            <a:off x="9555480" y="3566160"/>
            <a:ext cx="3291840" cy="1097280"/>
          </a:xfrm>
          <a:prstGeom prst="rect">
            <a:avLst/>
          </a:prstGeom>
          <a:noFill/>
          <a:ln/>
        </p:spPr>
        <p:txBody>
          <a:bodyPr wrap="square" lIns="0" tIns="0" rIns="0" bIns="0" rtlCol="0" anchor="t"/>
          <a:lstStyle/>
          <a:p>
            <a:pPr indent="0" marL="0">
              <a:buNone/>
            </a:pPr>
            <a:r>
              <a:rPr lang="en-US" sz="2100" b="1" dirty="0">
                <a:solidFill>
                  <a:schemeClr val="bg1"/>
                </a:solidFill>
              </a:rPr>
              <a:t>Full-stack TypeScript engineers</a:t>
            </a:r>
            <a:endParaRPr lang="en-US" sz="2100" dirty="0"/>
          </a:p>
        </p:txBody>
      </p:sp>
      <p:sp>
        <p:nvSpPr>
          <p:cNvPr id="20" name="Shape 14"/>
          <p:cNvSpPr/>
          <p:nvPr/>
        </p:nvSpPr>
        <p:spPr>
          <a:xfrm>
            <a:off x="13441680" y="2103120"/>
            <a:ext cx="3931920" cy="2788920"/>
          </a:xfrm>
          <a:prstGeom prst="rect">
            <a:avLst/>
          </a:prstGeom>
          <a:solidFill>
            <a:schemeClr val="bg2"/>
          </a:solidFill>
          <a:ln w="12700">
            <a:solidFill>
              <a:schemeClr val="bg2"/>
            </a:solidFill>
            <a:prstDash val="solid"/>
          </a:ln>
        </p:spPr>
      </p:sp>
      <p:sp>
        <p:nvSpPr>
          <p:cNvPr id="21" name="Shape 15"/>
          <p:cNvSpPr/>
          <p:nvPr/>
        </p:nvSpPr>
        <p:spPr>
          <a:xfrm>
            <a:off x="16322040" y="2423160"/>
            <a:ext cx="731520" cy="731520"/>
          </a:xfrm>
          <a:prstGeom prst="ellipse">
            <a:avLst/>
          </a:prstGeom>
          <a:solidFill>
            <a:schemeClr val="accent1"/>
          </a:solidFill>
          <a:ln w="12700">
            <a:solidFill>
              <a:schemeClr val="accent1"/>
            </a:solidFill>
            <a:prstDash val="solid"/>
          </a:ln>
        </p:spPr>
      </p:sp>
      <p:pic>
        <p:nvPicPr>
          <p:cNvPr id="22" name="Image 3" descr="preencoded.png">    </p:cNvPr>
          <p:cNvPicPr>
            <a:picLocks noChangeAspect="1"/>
          </p:cNvPicPr>
          <p:nvPr/>
        </p:nvPicPr>
        <p:blipFill>
          <a:blip r:embed="rId4"/>
          <a:stretch>
            <a:fillRect/>
          </a:stretch>
        </p:blipFill>
        <p:spPr>
          <a:xfrm>
            <a:off x="16504920" y="2606040"/>
            <a:ext cx="365760" cy="365760"/>
          </a:xfrm>
          <a:prstGeom prst="rect">
            <a:avLst/>
          </a:prstGeom>
        </p:spPr>
      </p:pic>
      <p:sp>
        <p:nvSpPr>
          <p:cNvPr id="23" name="Text 16"/>
          <p:cNvSpPr txBox="1"/>
          <p:nvPr/>
        </p:nvSpPr>
        <p:spPr>
          <a:xfrm>
            <a:off x="13761720" y="2377440"/>
            <a:ext cx="2560320" cy="1005840"/>
          </a:xfrm>
          <a:prstGeom prst="rect">
            <a:avLst/>
          </a:prstGeom>
          <a:noFill/>
          <a:ln/>
        </p:spPr>
        <p:txBody>
          <a:bodyPr wrap="square" lIns="0" tIns="0" rIns="0" bIns="0" rtlCol="0" anchor="ctr"/>
          <a:lstStyle/>
          <a:p>
            <a:pPr indent="0" marL="0">
              <a:buNone/>
            </a:pPr>
            <a:r>
              <a:rPr lang="en-US" sz="5400" b="1" dirty="0">
                <a:solidFill>
                  <a:schemeClr val="tx2"/>
                </a:solidFill>
              </a:rPr>
              <a:t>1</a:t>
            </a:r>
            <a:endParaRPr lang="en-US" sz="5400" dirty="0"/>
          </a:p>
        </p:txBody>
      </p:sp>
      <p:sp>
        <p:nvSpPr>
          <p:cNvPr id="24" name="Text 17"/>
          <p:cNvSpPr txBox="1"/>
          <p:nvPr/>
        </p:nvSpPr>
        <p:spPr>
          <a:xfrm>
            <a:off x="13761720" y="3566160"/>
            <a:ext cx="3291840" cy="1097280"/>
          </a:xfrm>
          <a:prstGeom prst="rect">
            <a:avLst/>
          </a:prstGeom>
          <a:noFill/>
          <a:ln/>
        </p:spPr>
        <p:txBody>
          <a:bodyPr wrap="square" lIns="0" tIns="0" rIns="0" bIns="0" rtlCol="0" anchor="t"/>
          <a:lstStyle/>
          <a:p>
            <a:pPr indent="0" marL="0">
              <a:buNone/>
            </a:pPr>
            <a:r>
              <a:rPr lang="en-US" sz="2100" b="1" dirty="0">
                <a:solidFill>
                  <a:schemeClr val="tx2"/>
                </a:solidFill>
              </a:rPr>
              <a:t>Integration engineer (EV protocols)</a:t>
            </a:r>
            <a:endParaRPr lang="en-US" sz="2100" dirty="0"/>
          </a:p>
        </p:txBody>
      </p:sp>
      <p:sp>
        <p:nvSpPr>
          <p:cNvPr id="25" name="Shape 18"/>
          <p:cNvSpPr/>
          <p:nvPr/>
        </p:nvSpPr>
        <p:spPr>
          <a:xfrm>
            <a:off x="822960" y="5166360"/>
            <a:ext cx="3931920" cy="2788920"/>
          </a:xfrm>
          <a:prstGeom prst="rect">
            <a:avLst/>
          </a:prstGeom>
          <a:solidFill>
            <a:schemeClr val="bg2"/>
          </a:solidFill>
          <a:ln w="12700">
            <a:solidFill>
              <a:schemeClr val="bg2"/>
            </a:solidFill>
            <a:prstDash val="solid"/>
          </a:ln>
        </p:spPr>
      </p:sp>
      <p:sp>
        <p:nvSpPr>
          <p:cNvPr id="26" name="Shape 19"/>
          <p:cNvSpPr/>
          <p:nvPr/>
        </p:nvSpPr>
        <p:spPr>
          <a:xfrm>
            <a:off x="3703320" y="5486400"/>
            <a:ext cx="731520" cy="731520"/>
          </a:xfrm>
          <a:prstGeom prst="ellipse">
            <a:avLst/>
          </a:prstGeom>
          <a:solidFill>
            <a:schemeClr val="accent1"/>
          </a:solidFill>
          <a:ln w="12700">
            <a:solidFill>
              <a:schemeClr val="accent1"/>
            </a:solidFill>
            <a:prstDash val="solid"/>
          </a:ln>
        </p:spPr>
      </p:sp>
      <p:pic>
        <p:nvPicPr>
          <p:cNvPr id="27" name="Image 4" descr="preencoded.png">    </p:cNvPr>
          <p:cNvPicPr>
            <a:picLocks noChangeAspect="1"/>
          </p:cNvPicPr>
          <p:nvPr/>
        </p:nvPicPr>
        <p:blipFill>
          <a:blip r:embed="rId5"/>
          <a:stretch>
            <a:fillRect/>
          </a:stretch>
        </p:blipFill>
        <p:spPr>
          <a:xfrm>
            <a:off x="3886200" y="5669280"/>
            <a:ext cx="365760" cy="365760"/>
          </a:xfrm>
          <a:prstGeom prst="rect">
            <a:avLst/>
          </a:prstGeom>
        </p:spPr>
      </p:pic>
      <p:sp>
        <p:nvSpPr>
          <p:cNvPr id="28" name="Text 20"/>
          <p:cNvSpPr txBox="1"/>
          <p:nvPr/>
        </p:nvSpPr>
        <p:spPr>
          <a:xfrm>
            <a:off x="1143000" y="5440680"/>
            <a:ext cx="2560320" cy="1005840"/>
          </a:xfrm>
          <a:prstGeom prst="rect">
            <a:avLst/>
          </a:prstGeom>
          <a:noFill/>
          <a:ln/>
        </p:spPr>
        <p:txBody>
          <a:bodyPr wrap="square" lIns="0" tIns="0" rIns="0" bIns="0" rtlCol="0" anchor="ctr"/>
          <a:lstStyle/>
          <a:p>
            <a:pPr indent="0" marL="0">
              <a:buNone/>
            </a:pPr>
            <a:r>
              <a:rPr lang="en-US" sz="5400" b="1" dirty="0">
                <a:solidFill>
                  <a:schemeClr val="tx2"/>
                </a:solidFill>
              </a:rPr>
              <a:t>1</a:t>
            </a:r>
            <a:endParaRPr lang="en-US" sz="5400" dirty="0"/>
          </a:p>
        </p:txBody>
      </p:sp>
      <p:sp>
        <p:nvSpPr>
          <p:cNvPr id="29" name="Text 21"/>
          <p:cNvSpPr txBox="1"/>
          <p:nvPr/>
        </p:nvSpPr>
        <p:spPr>
          <a:xfrm>
            <a:off x="1143000" y="6629400"/>
            <a:ext cx="3291840" cy="1097280"/>
          </a:xfrm>
          <a:prstGeom prst="rect">
            <a:avLst/>
          </a:prstGeom>
          <a:noFill/>
          <a:ln/>
        </p:spPr>
        <p:txBody>
          <a:bodyPr wrap="square" lIns="0" tIns="0" rIns="0" bIns="0" rtlCol="0" anchor="t"/>
          <a:lstStyle/>
          <a:p>
            <a:pPr indent="0" marL="0">
              <a:buNone/>
            </a:pPr>
            <a:r>
              <a:rPr lang="en-US" sz="2100" b="1" dirty="0">
                <a:solidFill>
                  <a:schemeClr val="tx2"/>
                </a:solidFill>
              </a:rPr>
              <a:t>QA automation engineer</a:t>
            </a:r>
            <a:endParaRPr lang="en-US" sz="2100" dirty="0"/>
          </a:p>
        </p:txBody>
      </p:sp>
      <p:sp>
        <p:nvSpPr>
          <p:cNvPr id="30" name="Shape 22"/>
          <p:cNvSpPr/>
          <p:nvPr/>
        </p:nvSpPr>
        <p:spPr>
          <a:xfrm>
            <a:off x="5029200" y="5166360"/>
            <a:ext cx="3931920" cy="2788920"/>
          </a:xfrm>
          <a:prstGeom prst="rect">
            <a:avLst/>
          </a:prstGeom>
          <a:solidFill>
            <a:schemeClr val="bg2"/>
          </a:solidFill>
          <a:ln w="12700">
            <a:solidFill>
              <a:schemeClr val="bg2"/>
            </a:solidFill>
            <a:prstDash val="solid"/>
          </a:ln>
        </p:spPr>
      </p:sp>
      <p:sp>
        <p:nvSpPr>
          <p:cNvPr id="31" name="Shape 23"/>
          <p:cNvSpPr/>
          <p:nvPr/>
        </p:nvSpPr>
        <p:spPr>
          <a:xfrm>
            <a:off x="7909560" y="5486400"/>
            <a:ext cx="731520" cy="731520"/>
          </a:xfrm>
          <a:prstGeom prst="ellipse">
            <a:avLst/>
          </a:prstGeom>
          <a:solidFill>
            <a:schemeClr val="accent1"/>
          </a:solidFill>
          <a:ln w="12700">
            <a:solidFill>
              <a:schemeClr val="accent1"/>
            </a:solidFill>
            <a:prstDash val="solid"/>
          </a:ln>
        </p:spPr>
      </p:sp>
      <p:pic>
        <p:nvPicPr>
          <p:cNvPr id="32" name="Image 5" descr="preencoded.png">    </p:cNvPr>
          <p:cNvPicPr>
            <a:picLocks noChangeAspect="1"/>
          </p:cNvPicPr>
          <p:nvPr/>
        </p:nvPicPr>
        <p:blipFill>
          <a:blip r:embed="rId6"/>
          <a:stretch>
            <a:fillRect/>
          </a:stretch>
        </p:blipFill>
        <p:spPr>
          <a:xfrm>
            <a:off x="8092440" y="5669280"/>
            <a:ext cx="365760" cy="365760"/>
          </a:xfrm>
          <a:prstGeom prst="rect">
            <a:avLst/>
          </a:prstGeom>
        </p:spPr>
      </p:pic>
      <p:sp>
        <p:nvSpPr>
          <p:cNvPr id="33" name="Text 24"/>
          <p:cNvSpPr txBox="1"/>
          <p:nvPr/>
        </p:nvSpPr>
        <p:spPr>
          <a:xfrm>
            <a:off x="5349240" y="5440680"/>
            <a:ext cx="2560320" cy="1005840"/>
          </a:xfrm>
          <a:prstGeom prst="rect">
            <a:avLst/>
          </a:prstGeom>
          <a:noFill/>
          <a:ln/>
        </p:spPr>
        <p:txBody>
          <a:bodyPr wrap="square" lIns="0" tIns="0" rIns="0" bIns="0" rtlCol="0" anchor="ctr"/>
          <a:lstStyle/>
          <a:p>
            <a:pPr indent="0" marL="0">
              <a:buNone/>
            </a:pPr>
            <a:r>
              <a:rPr lang="en-US" sz="5400" b="1" dirty="0">
                <a:solidFill>
                  <a:schemeClr val="tx2"/>
                </a:solidFill>
              </a:rPr>
              <a:t>0.5</a:t>
            </a:r>
            <a:endParaRPr lang="en-US" sz="5400" dirty="0"/>
          </a:p>
        </p:txBody>
      </p:sp>
      <p:sp>
        <p:nvSpPr>
          <p:cNvPr id="34" name="Text 25"/>
          <p:cNvSpPr txBox="1"/>
          <p:nvPr/>
        </p:nvSpPr>
        <p:spPr>
          <a:xfrm>
            <a:off x="5349240" y="6629400"/>
            <a:ext cx="3291840" cy="1097280"/>
          </a:xfrm>
          <a:prstGeom prst="rect">
            <a:avLst/>
          </a:prstGeom>
          <a:noFill/>
          <a:ln/>
        </p:spPr>
        <p:txBody>
          <a:bodyPr wrap="square" lIns="0" tIns="0" rIns="0" bIns="0" rtlCol="0" anchor="t"/>
          <a:lstStyle/>
          <a:p>
            <a:pPr indent="0" marL="0">
              <a:buNone/>
            </a:pPr>
            <a:r>
              <a:rPr lang="en-US" sz="2100" b="1" dirty="0">
                <a:solidFill>
                  <a:schemeClr val="tx2"/>
                </a:solidFill>
              </a:rPr>
              <a:t>DevOps engineer</a:t>
            </a:r>
            <a:endParaRPr lang="en-US" sz="2100" dirty="0"/>
          </a:p>
        </p:txBody>
      </p:sp>
      <p:sp>
        <p:nvSpPr>
          <p:cNvPr id="35" name="Shape 26"/>
          <p:cNvSpPr/>
          <p:nvPr/>
        </p:nvSpPr>
        <p:spPr>
          <a:xfrm>
            <a:off x="9235440" y="5166360"/>
            <a:ext cx="3931920" cy="2788920"/>
          </a:xfrm>
          <a:prstGeom prst="rect">
            <a:avLst/>
          </a:prstGeom>
          <a:solidFill>
            <a:schemeClr val="bg2"/>
          </a:solidFill>
          <a:ln w="12700">
            <a:solidFill>
              <a:schemeClr val="bg2"/>
            </a:solidFill>
            <a:prstDash val="solid"/>
          </a:ln>
        </p:spPr>
      </p:sp>
      <p:sp>
        <p:nvSpPr>
          <p:cNvPr id="36" name="Shape 27"/>
          <p:cNvSpPr/>
          <p:nvPr/>
        </p:nvSpPr>
        <p:spPr>
          <a:xfrm>
            <a:off x="12115800" y="5486400"/>
            <a:ext cx="731520" cy="731520"/>
          </a:xfrm>
          <a:prstGeom prst="ellipse">
            <a:avLst/>
          </a:prstGeom>
          <a:solidFill>
            <a:schemeClr val="accent1"/>
          </a:solidFill>
          <a:ln w="12700">
            <a:solidFill>
              <a:schemeClr val="accent1"/>
            </a:solidFill>
            <a:prstDash val="solid"/>
          </a:ln>
        </p:spPr>
      </p:sp>
      <p:pic>
        <p:nvPicPr>
          <p:cNvPr id="37" name="Image 6" descr="preencoded.png">    </p:cNvPr>
          <p:cNvPicPr>
            <a:picLocks noChangeAspect="1"/>
          </p:cNvPicPr>
          <p:nvPr/>
        </p:nvPicPr>
        <p:blipFill>
          <a:blip r:embed="rId7"/>
          <a:stretch>
            <a:fillRect/>
          </a:stretch>
        </p:blipFill>
        <p:spPr>
          <a:xfrm>
            <a:off x="12298680" y="5669280"/>
            <a:ext cx="365760" cy="365760"/>
          </a:xfrm>
          <a:prstGeom prst="rect">
            <a:avLst/>
          </a:prstGeom>
        </p:spPr>
      </p:pic>
      <p:sp>
        <p:nvSpPr>
          <p:cNvPr id="38" name="Text 28"/>
          <p:cNvSpPr txBox="1"/>
          <p:nvPr/>
        </p:nvSpPr>
        <p:spPr>
          <a:xfrm>
            <a:off x="9555480" y="5440680"/>
            <a:ext cx="2560320" cy="1005840"/>
          </a:xfrm>
          <a:prstGeom prst="rect">
            <a:avLst/>
          </a:prstGeom>
          <a:noFill/>
          <a:ln/>
        </p:spPr>
        <p:txBody>
          <a:bodyPr wrap="square" lIns="0" tIns="0" rIns="0" bIns="0" rtlCol="0" anchor="ctr"/>
          <a:lstStyle/>
          <a:p>
            <a:pPr indent="0" marL="0">
              <a:buNone/>
            </a:pPr>
            <a:r>
              <a:rPr lang="en-US" sz="5400" b="1" dirty="0">
                <a:solidFill>
                  <a:schemeClr val="tx2"/>
                </a:solidFill>
              </a:rPr>
              <a:t>0.5</a:t>
            </a:r>
            <a:endParaRPr lang="en-US" sz="5400" dirty="0"/>
          </a:p>
        </p:txBody>
      </p:sp>
      <p:sp>
        <p:nvSpPr>
          <p:cNvPr id="39" name="Text 29"/>
          <p:cNvSpPr txBox="1"/>
          <p:nvPr/>
        </p:nvSpPr>
        <p:spPr>
          <a:xfrm>
            <a:off x="9555480" y="6629400"/>
            <a:ext cx="3291840" cy="1097280"/>
          </a:xfrm>
          <a:prstGeom prst="rect">
            <a:avLst/>
          </a:prstGeom>
          <a:noFill/>
          <a:ln/>
        </p:spPr>
        <p:txBody>
          <a:bodyPr wrap="square" lIns="0" tIns="0" rIns="0" bIns="0" rtlCol="0" anchor="t"/>
          <a:lstStyle/>
          <a:p>
            <a:pPr indent="0" marL="0">
              <a:buNone/>
            </a:pPr>
            <a:r>
              <a:rPr lang="en-US" sz="2100" b="1" dirty="0">
                <a:solidFill>
                  <a:schemeClr val="tx2"/>
                </a:solidFill>
              </a:rPr>
              <a:t>Product designer</a:t>
            </a:r>
            <a:endParaRPr lang="en-US" sz="2100" dirty="0"/>
          </a:p>
        </p:txBody>
      </p:sp>
      <p:sp>
        <p:nvSpPr>
          <p:cNvPr id="40" name="Shape 30"/>
          <p:cNvSpPr/>
          <p:nvPr/>
        </p:nvSpPr>
        <p:spPr>
          <a:xfrm>
            <a:off x="13441680" y="5166360"/>
            <a:ext cx="3931920" cy="2788920"/>
          </a:xfrm>
          <a:prstGeom prst="rect">
            <a:avLst/>
          </a:prstGeom>
          <a:solidFill>
            <a:schemeClr val="bg2"/>
          </a:solidFill>
          <a:ln w="12700">
            <a:solidFill>
              <a:schemeClr val="bg2"/>
            </a:solidFill>
            <a:prstDash val="solid"/>
          </a:ln>
        </p:spPr>
      </p:sp>
      <p:sp>
        <p:nvSpPr>
          <p:cNvPr id="41" name="Shape 31"/>
          <p:cNvSpPr/>
          <p:nvPr/>
        </p:nvSpPr>
        <p:spPr>
          <a:xfrm>
            <a:off x="16322040" y="5486400"/>
            <a:ext cx="731520" cy="731520"/>
          </a:xfrm>
          <a:prstGeom prst="ellipse">
            <a:avLst/>
          </a:prstGeom>
          <a:solidFill>
            <a:schemeClr val="accent1"/>
          </a:solidFill>
          <a:ln w="12700">
            <a:solidFill>
              <a:schemeClr val="accent1"/>
            </a:solidFill>
            <a:prstDash val="solid"/>
          </a:ln>
        </p:spPr>
      </p:sp>
      <p:pic>
        <p:nvPicPr>
          <p:cNvPr id="42" name="Image 7" descr="preencoded.png">    </p:cNvPr>
          <p:cNvPicPr>
            <a:picLocks noChangeAspect="1"/>
          </p:cNvPicPr>
          <p:nvPr/>
        </p:nvPicPr>
        <p:blipFill>
          <a:blip r:embed="rId8"/>
          <a:stretch>
            <a:fillRect/>
          </a:stretch>
        </p:blipFill>
        <p:spPr>
          <a:xfrm>
            <a:off x="16504920" y="5669280"/>
            <a:ext cx="365760" cy="365760"/>
          </a:xfrm>
          <a:prstGeom prst="rect">
            <a:avLst/>
          </a:prstGeom>
        </p:spPr>
      </p:pic>
      <p:sp>
        <p:nvSpPr>
          <p:cNvPr id="43" name="Text 32"/>
          <p:cNvSpPr txBox="1"/>
          <p:nvPr/>
        </p:nvSpPr>
        <p:spPr>
          <a:xfrm>
            <a:off x="13761720" y="5440680"/>
            <a:ext cx="2560320" cy="1005840"/>
          </a:xfrm>
          <a:prstGeom prst="rect">
            <a:avLst/>
          </a:prstGeom>
          <a:noFill/>
          <a:ln/>
        </p:spPr>
        <p:txBody>
          <a:bodyPr wrap="square" lIns="0" tIns="0" rIns="0" bIns="0" rtlCol="0" anchor="ctr"/>
          <a:lstStyle/>
          <a:p>
            <a:pPr indent="0" marL="0">
              <a:buNone/>
            </a:pPr>
            <a:r>
              <a:rPr lang="en-US" sz="3200" b="1" dirty="0">
                <a:solidFill>
                  <a:schemeClr val="tx2"/>
                </a:solidFill>
              </a:rPr>
              <a:t>part-time</a:t>
            </a:r>
            <a:endParaRPr lang="en-US" sz="3200" dirty="0"/>
          </a:p>
        </p:txBody>
      </p:sp>
      <p:sp>
        <p:nvSpPr>
          <p:cNvPr id="44" name="Text 33"/>
          <p:cNvSpPr txBox="1"/>
          <p:nvPr/>
        </p:nvSpPr>
        <p:spPr>
          <a:xfrm>
            <a:off x="13761720" y="6629400"/>
            <a:ext cx="3291840" cy="1097280"/>
          </a:xfrm>
          <a:prstGeom prst="rect">
            <a:avLst/>
          </a:prstGeom>
          <a:noFill/>
          <a:ln/>
        </p:spPr>
        <p:txBody>
          <a:bodyPr wrap="square" lIns="0" tIns="0" rIns="0" bIns="0" rtlCol="0" anchor="t"/>
          <a:lstStyle/>
          <a:p>
            <a:pPr indent="0" marL="0">
              <a:buNone/>
            </a:pPr>
            <a:r>
              <a:rPr lang="en-US" sz="2100" b="1" dirty="0">
                <a:solidFill>
                  <a:schemeClr val="tx2"/>
                </a:solidFill>
              </a:rPr>
              <a:t>Payments specialist</a:t>
            </a:r>
            <a:endParaRPr lang="en-US" sz="2100" dirty="0"/>
          </a:p>
        </p:txBody>
      </p:sp>
      <p:sp>
        <p:nvSpPr>
          <p:cNvPr id="45" name="Shape 34"/>
          <p:cNvSpPr/>
          <p:nvPr/>
        </p:nvSpPr>
        <p:spPr>
          <a:xfrm>
            <a:off x="822960" y="8229600"/>
            <a:ext cx="16642080" cy="777240"/>
          </a:xfrm>
          <a:prstGeom prst="rect">
            <a:avLst/>
          </a:prstGeom>
          <a:solidFill>
            <a:srgbClr val="CFFFEA"/>
          </a:solidFill>
          <a:ln w="12700">
            <a:solidFill>
              <a:srgbClr val="CFFFEA"/>
            </a:solidFill>
            <a:prstDash val="solid"/>
          </a:ln>
        </p:spPr>
      </p:sp>
      <p:sp>
        <p:nvSpPr>
          <p:cNvPr id="46" name="Text 35"/>
          <p:cNvSpPr txBox="1"/>
          <p:nvPr/>
        </p:nvSpPr>
        <p:spPr>
          <a:xfrm>
            <a:off x="1188720" y="8229600"/>
            <a:ext cx="15910560" cy="777240"/>
          </a:xfrm>
          <a:prstGeom prst="rect">
            <a:avLst/>
          </a:prstGeom>
          <a:noFill/>
          <a:ln/>
        </p:spPr>
        <p:txBody>
          <a:bodyPr wrap="square" lIns="0" tIns="0" rIns="0" bIns="0" rtlCol="0" anchor="ctr"/>
          <a:lstStyle/>
          <a:p>
            <a:pPr indent="0" marL="0">
              <a:buNone/>
            </a:pPr>
            <a:r>
              <a:rPr lang="en-US" sz="2000" b="1" dirty="0">
                <a:solidFill>
                  <a:schemeClr val="tx2"/>
                </a:solidFill>
              </a:rPr>
              <a:t>Plus your side: Priya and your product designer embedded in the squad, founders as product owners.</a:t>
            </a:r>
            <a:endParaRPr lang="en-US" sz="2000" dirty="0"/>
          </a:p>
        </p:txBody>
      </p:sp>
      <p:sp>
        <p:nvSpPr>
          <p:cNvPr id="25" name="Slide Number Placeholder 0"/>
          <p:cNvSpPr>
            <a:spLocks noGrp="1"/>
          </p:cNvSpPr>
          <p:nvPr>
            <p:ph type="sldNum" sz="quarter" idx="4294967295"/>
          </p:nvPr>
        </p:nvSpPr>
        <p:spPr>
          <a:xfrm>
            <a:off x="16642080" y="9646920"/>
            <a:ext cx="822960" cy="347472"/>
          </a:xfrm>
          <a:prstGeom prst="rect">
            <a:avLst/>
          </a:prstGeom>
          <a:extLst>
            <a:ext uri="{C572A759-6A51-4108-AA02-DFA0A04FC94B}">
              <ma14:wrappingTextBoxFlag xmlns:ma14="http://schemas.microsoft.com/office/mac/drawingml/2011/main" val="0"/>
            </a:ext>
          </a:extLst>
        </p:spPr>
        <p:txBody>
          <a:bodyPr/>
          <a:lstStyle>
            <a:lvl1pPr>
              <a:defRPr sz="1500">
                <a:solidFill>
                  <a:schemeClr val="tx1"/>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header"/>
          <p:cNvSpPr txBox="1"/>
          <p:nvPr/>
        </p:nvSpPr>
        <p:spPr>
          <a:xfrm>
            <a:off x="822960" y="219456"/>
            <a:ext cx="10972800" cy="347472"/>
          </a:xfrm>
          <a:prstGeom prst="rect">
            <a:avLst/>
          </a:prstGeom>
          <a:noFill/>
          <a:ln/>
        </p:spPr>
        <p:txBody>
          <a:bodyPr wrap="square" lIns="0" tIns="0" rIns="0" bIns="0" rtlCol="0" anchor="ctr"/>
          <a:lstStyle/>
          <a:p>
            <a:pPr indent="0" marL="0">
              <a:buNone/>
            </a:pPr>
            <a:r>
              <a:rPr lang="en-US" sz="1500" dirty="0">
                <a:solidFill>
                  <a:schemeClr val="tx1"/>
                </a:solidFill>
              </a:rPr>
              <a:t>amperlane/03-delivery</a:t>
            </a:r>
            <a:endParaRPr lang="en-US" sz="1500" dirty="0"/>
          </a:p>
        </p:txBody>
      </p:sp>
      <p:sp>
        <p:nvSpPr>
          <p:cNvPr id="3" name="Text 0"/>
          <p:cNvSpPr/>
          <p:nvPr>
            <p:ph idx="100" type="title" hasCustomPrompt="1"/>
          </p:nvPr>
        </p:nvSpPr>
        <p:spPr>
          <a:xfrm>
            <a:off x="822960" y="841248"/>
            <a:ext cx="16642080" cy="1005840"/>
          </a:xfrm>
          <a:prstGeom prst="rect">
            <a:avLst/>
          </a:prstGeom>
          <a:noFill/>
          <a:ln/>
        </p:spPr>
        <p:txBody>
          <a:bodyPr wrap="square" lIns="0" tIns="0" rIns="0" bIns="0" rtlCol="0" anchor="t"/>
          <a:lstStyle/>
          <a:p>
            <a:pPr algn="l" indent="0" marL="0">
              <a:buNone/>
            </a:pPr>
            <a:r>
              <a:rPr lang="en-US" sz="4500" dirty="0">
                <a:solidFill>
                  <a:schemeClr val="tx1"/>
                </a:solidFill>
              </a:rPr>
              <a:t>Risks and assumptions</a:t>
            </a:r>
            <a:endParaRPr lang="en-US" sz="4500" dirty="0"/>
          </a:p>
        </p:txBody>
      </p:sp>
      <p:sp>
        <p:nvSpPr>
          <p:cNvPr id="5" name="Shape 2"/>
          <p:cNvSpPr/>
          <p:nvPr/>
        </p:nvSpPr>
        <p:spPr>
          <a:xfrm>
            <a:off x="822960" y="2011680"/>
            <a:ext cx="8138160" cy="1664208"/>
          </a:xfrm>
          <a:prstGeom prst="rect">
            <a:avLst/>
          </a:prstGeom>
          <a:solidFill>
            <a:schemeClr val="bg2"/>
          </a:solidFill>
          <a:ln w="12700">
            <a:solidFill>
              <a:schemeClr val="bg2"/>
            </a:solidFill>
            <a:prstDash val="solid"/>
          </a:ln>
        </p:spPr>
      </p:sp>
      <p:sp>
        <p:nvSpPr>
          <p:cNvPr id="6" name="Shape 3"/>
          <p:cNvSpPr/>
          <p:nvPr/>
        </p:nvSpPr>
        <p:spPr>
          <a:xfrm>
            <a:off x="1097280" y="2240280"/>
            <a:ext cx="731520" cy="731520"/>
          </a:xfrm>
          <a:prstGeom prst="ellipse">
            <a:avLst/>
          </a:prstGeom>
          <a:solidFill>
            <a:schemeClr val="accent3"/>
          </a:solidFill>
          <a:ln w="12700">
            <a:solidFill>
              <a:schemeClr val="accent3"/>
            </a:solidFill>
            <a:prstDash val="solid"/>
          </a:ln>
        </p:spPr>
      </p:sp>
      <p:pic>
        <p:nvPicPr>
          <p:cNvPr id="7" name="Image 0" descr="preencoded.png">    </p:cNvPr>
          <p:cNvPicPr>
            <a:picLocks noChangeAspect="1"/>
          </p:cNvPicPr>
          <p:nvPr/>
        </p:nvPicPr>
        <p:blipFill>
          <a:blip r:embed="rId1"/>
          <a:stretch>
            <a:fillRect/>
          </a:stretch>
        </p:blipFill>
        <p:spPr>
          <a:xfrm>
            <a:off x="1280160" y="2423160"/>
            <a:ext cx="365760" cy="365760"/>
          </a:xfrm>
          <a:prstGeom prst="rect">
            <a:avLst/>
          </a:prstGeom>
        </p:spPr>
      </p:pic>
      <p:sp>
        <p:nvSpPr>
          <p:cNvPr id="8" name="Text 4"/>
          <p:cNvSpPr txBox="1"/>
          <p:nvPr/>
        </p:nvSpPr>
        <p:spPr>
          <a:xfrm>
            <a:off x="2057400" y="2148840"/>
            <a:ext cx="6675120" cy="457200"/>
          </a:xfrm>
          <a:prstGeom prst="rect">
            <a:avLst/>
          </a:prstGeom>
          <a:noFill/>
          <a:ln/>
        </p:spPr>
        <p:txBody>
          <a:bodyPr wrap="square" lIns="0" tIns="0" rIns="0" bIns="0" rtlCol="0" anchor="ctr"/>
          <a:lstStyle/>
          <a:p>
            <a:pPr indent="0" marL="0">
              <a:buNone/>
            </a:pPr>
            <a:r>
              <a:rPr lang="en-US" sz="2200" b="1" dirty="0">
                <a:solidFill>
                  <a:schemeClr val="tx2"/>
                </a:solidFill>
              </a:rPr>
              <a:t>Station API readiness</a:t>
            </a:r>
            <a:endParaRPr lang="en-US" sz="2200" dirty="0"/>
          </a:p>
        </p:txBody>
      </p:sp>
      <p:sp>
        <p:nvSpPr>
          <p:cNvPr id="9" name="Text 5"/>
          <p:cNvSpPr txBox="1"/>
          <p:nvPr/>
        </p:nvSpPr>
        <p:spPr>
          <a:xfrm>
            <a:off x="2057400" y="2624328"/>
            <a:ext cx="6675120" cy="960120"/>
          </a:xfrm>
          <a:prstGeom prst="rect">
            <a:avLst/>
          </a:prstGeom>
          <a:noFill/>
          <a:ln/>
        </p:spPr>
        <p:txBody>
          <a:bodyPr wrap="square" lIns="0" tIns="0" rIns="0" bIns="0" rtlCol="0" anchor="t"/>
          <a:lstStyle/>
          <a:p>
            <a:pPr indent="0" marL="0">
              <a:buNone/>
            </a:pPr>
            <a:r>
              <a:rPr lang="en-US" sz="1800" dirty="0">
                <a:solidFill>
                  <a:schemeClr val="tx1"/>
                </a:solidFill>
              </a:rPr>
              <a:t>AMPECO reservations work on 10 of 16 chargers; JFK and LIC have no reservations. Mitigation: patterns B and C from day one, sandbox access now.</a:t>
            </a:r>
            <a:endParaRPr lang="en-US" sz="1800" dirty="0"/>
          </a:p>
        </p:txBody>
      </p:sp>
      <p:sp>
        <p:nvSpPr>
          <p:cNvPr id="10" name="Shape 6"/>
          <p:cNvSpPr/>
          <p:nvPr/>
        </p:nvSpPr>
        <p:spPr>
          <a:xfrm>
            <a:off x="9326880" y="2011680"/>
            <a:ext cx="8138160" cy="1664208"/>
          </a:xfrm>
          <a:prstGeom prst="rect">
            <a:avLst/>
          </a:prstGeom>
          <a:solidFill>
            <a:schemeClr val="bg2"/>
          </a:solidFill>
          <a:ln w="12700">
            <a:solidFill>
              <a:schemeClr val="bg2"/>
            </a:solidFill>
            <a:prstDash val="solid"/>
          </a:ln>
        </p:spPr>
      </p:sp>
      <p:sp>
        <p:nvSpPr>
          <p:cNvPr id="11" name="Shape 7"/>
          <p:cNvSpPr/>
          <p:nvPr/>
        </p:nvSpPr>
        <p:spPr>
          <a:xfrm>
            <a:off x="9601200" y="2240280"/>
            <a:ext cx="731520" cy="731520"/>
          </a:xfrm>
          <a:prstGeom prst="ellipse">
            <a:avLst/>
          </a:prstGeom>
          <a:solidFill>
            <a:schemeClr val="accent3"/>
          </a:solidFill>
          <a:ln w="12700">
            <a:solidFill>
              <a:schemeClr val="accent3"/>
            </a:solidFill>
            <a:prstDash val="solid"/>
          </a:ln>
        </p:spPr>
      </p:sp>
      <p:pic>
        <p:nvPicPr>
          <p:cNvPr id="12" name="Image 1" descr="preencoded.png">    </p:cNvPr>
          <p:cNvPicPr>
            <a:picLocks noChangeAspect="1"/>
          </p:cNvPicPr>
          <p:nvPr/>
        </p:nvPicPr>
        <p:blipFill>
          <a:blip r:embed="rId2"/>
          <a:stretch>
            <a:fillRect/>
          </a:stretch>
        </p:blipFill>
        <p:spPr>
          <a:xfrm>
            <a:off x="9784080" y="2423160"/>
            <a:ext cx="365760" cy="365760"/>
          </a:xfrm>
          <a:prstGeom prst="rect">
            <a:avLst/>
          </a:prstGeom>
        </p:spPr>
      </p:pic>
      <p:sp>
        <p:nvSpPr>
          <p:cNvPr id="13" name="Text 8"/>
          <p:cNvSpPr txBox="1"/>
          <p:nvPr/>
        </p:nvSpPr>
        <p:spPr>
          <a:xfrm>
            <a:off x="10561320" y="2148840"/>
            <a:ext cx="6675120" cy="457200"/>
          </a:xfrm>
          <a:prstGeom prst="rect">
            <a:avLst/>
          </a:prstGeom>
          <a:noFill/>
          <a:ln/>
        </p:spPr>
        <p:txBody>
          <a:bodyPr wrap="square" lIns="0" tIns="0" rIns="0" bIns="0" rtlCol="0" anchor="ctr"/>
          <a:lstStyle/>
          <a:p>
            <a:pPr indent="0" marL="0">
              <a:buNone/>
            </a:pPr>
            <a:r>
              <a:rPr lang="en-US" sz="2200" b="1" dirty="0">
                <a:solidFill>
                  <a:schemeClr val="tx2"/>
                </a:solidFill>
              </a:rPr>
              <a:t>Business model undecided</a:t>
            </a:r>
            <a:endParaRPr lang="en-US" sz="2200" dirty="0"/>
          </a:p>
        </p:txBody>
      </p:sp>
      <p:sp>
        <p:nvSpPr>
          <p:cNvPr id="14" name="Text 9"/>
          <p:cNvSpPr txBox="1"/>
          <p:nvPr/>
        </p:nvSpPr>
        <p:spPr>
          <a:xfrm>
            <a:off x="10561320" y="2624328"/>
            <a:ext cx="6675120" cy="960120"/>
          </a:xfrm>
          <a:prstGeom prst="rect">
            <a:avLst/>
          </a:prstGeom>
          <a:noFill/>
          <a:ln/>
        </p:spPr>
        <p:txBody>
          <a:bodyPr wrap="square" lIns="0" tIns="0" rIns="0" bIns="0" rtlCol="0" anchor="t"/>
          <a:lstStyle/>
          <a:p>
            <a:pPr indent="0" marL="0">
              <a:buNone/>
            </a:pPr>
            <a:r>
              <a:rPr lang="en-US" sz="1800" dirty="0">
                <a:solidFill>
                  <a:schemeClr val="tx1"/>
                </a:solidFill>
              </a:rPr>
              <a:t>Merchant-of-record vs fee changes settlement, invoicing and the eMSP role. Mitigation: decide in the Oct 26 week.</a:t>
            </a:r>
            <a:endParaRPr lang="en-US" sz="1800" dirty="0"/>
          </a:p>
        </p:txBody>
      </p:sp>
      <p:sp>
        <p:nvSpPr>
          <p:cNvPr id="15" name="Shape 10"/>
          <p:cNvSpPr/>
          <p:nvPr/>
        </p:nvSpPr>
        <p:spPr>
          <a:xfrm>
            <a:off x="822960" y="3794760"/>
            <a:ext cx="8138160" cy="1664208"/>
          </a:xfrm>
          <a:prstGeom prst="rect">
            <a:avLst/>
          </a:prstGeom>
          <a:solidFill>
            <a:schemeClr val="bg2"/>
          </a:solidFill>
          <a:ln w="12700">
            <a:solidFill>
              <a:schemeClr val="bg2"/>
            </a:solidFill>
            <a:prstDash val="solid"/>
          </a:ln>
        </p:spPr>
      </p:sp>
      <p:sp>
        <p:nvSpPr>
          <p:cNvPr id="16" name="Shape 11"/>
          <p:cNvSpPr/>
          <p:nvPr/>
        </p:nvSpPr>
        <p:spPr>
          <a:xfrm>
            <a:off x="1097280" y="4023360"/>
            <a:ext cx="731520" cy="731520"/>
          </a:xfrm>
          <a:prstGeom prst="ellipse">
            <a:avLst/>
          </a:prstGeom>
          <a:solidFill>
            <a:schemeClr val="accent3"/>
          </a:solidFill>
          <a:ln w="12700">
            <a:solidFill>
              <a:schemeClr val="accent3"/>
            </a:solidFill>
            <a:prstDash val="solid"/>
          </a:ln>
        </p:spPr>
      </p:sp>
      <p:pic>
        <p:nvPicPr>
          <p:cNvPr id="17" name="Image 2" descr="preencoded.png">    </p:cNvPr>
          <p:cNvPicPr>
            <a:picLocks noChangeAspect="1"/>
          </p:cNvPicPr>
          <p:nvPr/>
        </p:nvPicPr>
        <p:blipFill>
          <a:blip r:embed="rId3"/>
          <a:stretch>
            <a:fillRect/>
          </a:stretch>
        </p:blipFill>
        <p:spPr>
          <a:xfrm>
            <a:off x="1280160" y="4206240"/>
            <a:ext cx="365760" cy="365760"/>
          </a:xfrm>
          <a:prstGeom prst="rect">
            <a:avLst/>
          </a:prstGeom>
        </p:spPr>
      </p:pic>
      <p:sp>
        <p:nvSpPr>
          <p:cNvPr id="18" name="Text 12"/>
          <p:cNvSpPr txBox="1"/>
          <p:nvPr/>
        </p:nvSpPr>
        <p:spPr>
          <a:xfrm>
            <a:off x="2057400" y="3931920"/>
            <a:ext cx="6675120" cy="457200"/>
          </a:xfrm>
          <a:prstGeom prst="rect">
            <a:avLst/>
          </a:prstGeom>
          <a:noFill/>
          <a:ln/>
        </p:spPr>
        <p:txBody>
          <a:bodyPr wrap="square" lIns="0" tIns="0" rIns="0" bIns="0" rtlCol="0" anchor="ctr"/>
          <a:lstStyle/>
          <a:p>
            <a:pPr indent="0" marL="0">
              <a:buNone/>
            </a:pPr>
            <a:r>
              <a:rPr lang="en-US" sz="2200" b="1" dirty="0">
                <a:solidFill>
                  <a:schemeClr val="tx2"/>
                </a:solidFill>
              </a:rPr>
              <a:t>Telematics cost and consent</a:t>
            </a:r>
            <a:endParaRPr lang="en-US" sz="2200" dirty="0"/>
          </a:p>
        </p:txBody>
      </p:sp>
      <p:sp>
        <p:nvSpPr>
          <p:cNvPr id="19" name="Text 13"/>
          <p:cNvSpPr txBox="1"/>
          <p:nvPr/>
        </p:nvSpPr>
        <p:spPr>
          <a:xfrm>
            <a:off x="2057400" y="4407408"/>
            <a:ext cx="6675120" cy="960120"/>
          </a:xfrm>
          <a:prstGeom prst="rect">
            <a:avLst/>
          </a:prstGeom>
          <a:noFill/>
          <a:ln/>
        </p:spPr>
        <p:txBody>
          <a:bodyPr wrap="square" lIns="0" tIns="0" rIns="0" bIns="0" rtlCol="0" anchor="t"/>
          <a:lstStyle/>
          <a:p>
            <a:pPr indent="0" marL="0">
              <a:buNone/>
            </a:pPr>
            <a:r>
              <a:rPr lang="en-US" sz="1800" dirty="0">
                <a:solidFill>
                  <a:schemeClr val="tx1"/>
                </a:solidFill>
              </a:rPr>
              <a:t>Tesla Fleet API is pay-per-use; drivers must consent; the cab fleet has no telematics. Mitigation: manual SoC fallback.</a:t>
            </a:r>
            <a:endParaRPr lang="en-US" sz="1800" dirty="0"/>
          </a:p>
        </p:txBody>
      </p:sp>
      <p:sp>
        <p:nvSpPr>
          <p:cNvPr id="20" name="Shape 14"/>
          <p:cNvSpPr/>
          <p:nvPr/>
        </p:nvSpPr>
        <p:spPr>
          <a:xfrm>
            <a:off x="9326880" y="3794760"/>
            <a:ext cx="8138160" cy="1664208"/>
          </a:xfrm>
          <a:prstGeom prst="rect">
            <a:avLst/>
          </a:prstGeom>
          <a:solidFill>
            <a:schemeClr val="bg2"/>
          </a:solidFill>
          <a:ln w="12700">
            <a:solidFill>
              <a:schemeClr val="bg2"/>
            </a:solidFill>
            <a:prstDash val="solid"/>
          </a:ln>
        </p:spPr>
      </p:sp>
      <p:sp>
        <p:nvSpPr>
          <p:cNvPr id="21" name="Shape 15"/>
          <p:cNvSpPr/>
          <p:nvPr/>
        </p:nvSpPr>
        <p:spPr>
          <a:xfrm>
            <a:off x="9601200" y="4023360"/>
            <a:ext cx="731520" cy="731520"/>
          </a:xfrm>
          <a:prstGeom prst="ellipse">
            <a:avLst/>
          </a:prstGeom>
          <a:solidFill>
            <a:schemeClr val="accent3"/>
          </a:solidFill>
          <a:ln w="12700">
            <a:solidFill>
              <a:schemeClr val="accent3"/>
            </a:solidFill>
            <a:prstDash val="solid"/>
          </a:ln>
        </p:spPr>
      </p:sp>
      <p:pic>
        <p:nvPicPr>
          <p:cNvPr id="22" name="Image 3" descr="preencoded.png">    </p:cNvPr>
          <p:cNvPicPr>
            <a:picLocks noChangeAspect="1"/>
          </p:cNvPicPr>
          <p:nvPr/>
        </p:nvPicPr>
        <p:blipFill>
          <a:blip r:embed="rId4"/>
          <a:stretch>
            <a:fillRect/>
          </a:stretch>
        </p:blipFill>
        <p:spPr>
          <a:xfrm>
            <a:off x="9784080" y="4206240"/>
            <a:ext cx="365760" cy="365760"/>
          </a:xfrm>
          <a:prstGeom prst="rect">
            <a:avLst/>
          </a:prstGeom>
        </p:spPr>
      </p:pic>
      <p:sp>
        <p:nvSpPr>
          <p:cNvPr id="23" name="Text 16"/>
          <p:cNvSpPr txBox="1"/>
          <p:nvPr/>
        </p:nvSpPr>
        <p:spPr>
          <a:xfrm>
            <a:off x="10561320" y="3931920"/>
            <a:ext cx="6675120" cy="457200"/>
          </a:xfrm>
          <a:prstGeom prst="rect">
            <a:avLst/>
          </a:prstGeom>
          <a:noFill/>
          <a:ln/>
        </p:spPr>
        <p:txBody>
          <a:bodyPr wrap="square" lIns="0" tIns="0" rIns="0" bIns="0" rtlCol="0" anchor="ctr"/>
          <a:lstStyle/>
          <a:p>
            <a:pPr indent="0" marL="0">
              <a:buNone/>
            </a:pPr>
            <a:r>
              <a:rPr lang="en-US" sz="2200" b="1" dirty="0">
                <a:solidFill>
                  <a:schemeClr val="tx2"/>
                </a:solidFill>
              </a:rPr>
              <a:t>Regulatory shifts</a:t>
            </a:r>
            <a:endParaRPr lang="en-US" sz="2200" dirty="0"/>
          </a:p>
        </p:txBody>
      </p:sp>
      <p:sp>
        <p:nvSpPr>
          <p:cNvPr id="24" name="Text 17"/>
          <p:cNvSpPr txBox="1"/>
          <p:nvPr/>
        </p:nvSpPr>
        <p:spPr>
          <a:xfrm>
            <a:off x="10561320" y="4407408"/>
            <a:ext cx="6675120" cy="960120"/>
          </a:xfrm>
          <a:prstGeom prst="rect">
            <a:avLst/>
          </a:prstGeom>
          <a:noFill/>
          <a:ln/>
        </p:spPr>
        <p:txBody>
          <a:bodyPr wrap="square" lIns="0" tIns="0" rIns="0" bIns="0" rtlCol="0" anchor="t"/>
          <a:lstStyle/>
          <a:p>
            <a:pPr indent="0" marL="0">
              <a:buNone/>
            </a:pPr>
            <a:r>
              <a:rPr lang="en-US" sz="1800" dirty="0">
                <a:solidFill>
                  <a:schemeClr val="tx1"/>
                </a:solidFill>
              </a:rPr>
              <a:t>CPUC staff recommended pausing CA Clean Miles (June 2026); NEVI was suspended and re-issued in 2025. Mitigation: LA plan stays flexible.</a:t>
            </a:r>
            <a:endParaRPr lang="en-US" sz="1800" dirty="0"/>
          </a:p>
        </p:txBody>
      </p:sp>
      <p:sp>
        <p:nvSpPr>
          <p:cNvPr id="25" name="Shape 18"/>
          <p:cNvSpPr/>
          <p:nvPr/>
        </p:nvSpPr>
        <p:spPr>
          <a:xfrm>
            <a:off x="822960" y="5577840"/>
            <a:ext cx="8138160" cy="1664208"/>
          </a:xfrm>
          <a:prstGeom prst="rect">
            <a:avLst/>
          </a:prstGeom>
          <a:solidFill>
            <a:schemeClr val="bg2"/>
          </a:solidFill>
          <a:ln w="12700">
            <a:solidFill>
              <a:schemeClr val="bg2"/>
            </a:solidFill>
            <a:prstDash val="solid"/>
          </a:ln>
        </p:spPr>
      </p:sp>
      <p:sp>
        <p:nvSpPr>
          <p:cNvPr id="26" name="Shape 19"/>
          <p:cNvSpPr/>
          <p:nvPr/>
        </p:nvSpPr>
        <p:spPr>
          <a:xfrm>
            <a:off x="1097280" y="5806440"/>
            <a:ext cx="731520" cy="731520"/>
          </a:xfrm>
          <a:prstGeom prst="ellipse">
            <a:avLst/>
          </a:prstGeom>
          <a:solidFill>
            <a:schemeClr val="accent3"/>
          </a:solidFill>
          <a:ln w="12700">
            <a:solidFill>
              <a:schemeClr val="accent3"/>
            </a:solidFill>
            <a:prstDash val="solid"/>
          </a:ln>
        </p:spPr>
      </p:sp>
      <p:pic>
        <p:nvPicPr>
          <p:cNvPr id="27" name="Image 4" descr="preencoded.png">    </p:cNvPr>
          <p:cNvPicPr>
            <a:picLocks noChangeAspect="1"/>
          </p:cNvPicPr>
          <p:nvPr/>
        </p:nvPicPr>
        <p:blipFill>
          <a:blip r:embed="rId5"/>
          <a:stretch>
            <a:fillRect/>
          </a:stretch>
        </p:blipFill>
        <p:spPr>
          <a:xfrm>
            <a:off x="1280160" y="5989320"/>
            <a:ext cx="365760" cy="365760"/>
          </a:xfrm>
          <a:prstGeom prst="rect">
            <a:avLst/>
          </a:prstGeom>
        </p:spPr>
      </p:pic>
      <p:sp>
        <p:nvSpPr>
          <p:cNvPr id="28" name="Text 20"/>
          <p:cNvSpPr txBox="1"/>
          <p:nvPr/>
        </p:nvSpPr>
        <p:spPr>
          <a:xfrm>
            <a:off x="2057400" y="5715000"/>
            <a:ext cx="6675120" cy="457200"/>
          </a:xfrm>
          <a:prstGeom prst="rect">
            <a:avLst/>
          </a:prstGeom>
          <a:noFill/>
          <a:ln/>
        </p:spPr>
        <p:txBody>
          <a:bodyPr wrap="square" lIns="0" tIns="0" rIns="0" bIns="0" rtlCol="0" anchor="ctr"/>
          <a:lstStyle/>
          <a:p>
            <a:pPr indent="0" marL="0">
              <a:buNone/>
            </a:pPr>
            <a:r>
              <a:rPr lang="en-US" sz="2200" b="1" dirty="0">
                <a:solidFill>
                  <a:schemeClr val="tx2"/>
                </a:solidFill>
              </a:rPr>
              <a:t>Voltera–Revel</a:t>
            </a:r>
            <a:endParaRPr lang="en-US" sz="2200" dirty="0"/>
          </a:p>
        </p:txBody>
      </p:sp>
      <p:sp>
        <p:nvSpPr>
          <p:cNvPr id="29" name="Text 21"/>
          <p:cNvSpPr txBox="1"/>
          <p:nvPr/>
        </p:nvSpPr>
        <p:spPr>
          <a:xfrm>
            <a:off x="2057400" y="6190488"/>
            <a:ext cx="6675120" cy="960120"/>
          </a:xfrm>
          <a:prstGeom prst="rect">
            <a:avLst/>
          </a:prstGeom>
          <a:noFill/>
          <a:ln/>
        </p:spPr>
        <p:txBody>
          <a:bodyPr wrap="square" lIns="0" tIns="0" rIns="0" bIns="0" rtlCol="0" anchor="t"/>
          <a:lstStyle/>
          <a:p>
            <a:pPr indent="0" marL="0">
              <a:buNone/>
            </a:pPr>
            <a:r>
              <a:rPr lang="en-US" sz="1800" dirty="0">
                <a:solidFill>
                  <a:schemeClr val="tx1"/>
                </a:solidFill>
              </a:rPr>
              <a:t>Combination announced May 26, 2026: 1,000+ stalls, operating or in development, across 11 US metros. Supply partner or competitor.</a:t>
            </a:r>
            <a:endParaRPr lang="en-US" sz="1800" dirty="0"/>
          </a:p>
        </p:txBody>
      </p:sp>
      <p:sp>
        <p:nvSpPr>
          <p:cNvPr id="30" name="Shape 22"/>
          <p:cNvSpPr/>
          <p:nvPr/>
        </p:nvSpPr>
        <p:spPr>
          <a:xfrm>
            <a:off x="9326880" y="5577840"/>
            <a:ext cx="8138160" cy="1664208"/>
          </a:xfrm>
          <a:prstGeom prst="rect">
            <a:avLst/>
          </a:prstGeom>
          <a:solidFill>
            <a:schemeClr val="bg2"/>
          </a:solidFill>
          <a:ln w="12700">
            <a:solidFill>
              <a:schemeClr val="bg2"/>
            </a:solidFill>
            <a:prstDash val="solid"/>
          </a:ln>
        </p:spPr>
      </p:sp>
      <p:sp>
        <p:nvSpPr>
          <p:cNvPr id="31" name="Shape 23"/>
          <p:cNvSpPr/>
          <p:nvPr/>
        </p:nvSpPr>
        <p:spPr>
          <a:xfrm>
            <a:off x="9601200" y="5806440"/>
            <a:ext cx="731520" cy="731520"/>
          </a:xfrm>
          <a:prstGeom prst="ellipse">
            <a:avLst/>
          </a:prstGeom>
          <a:solidFill>
            <a:schemeClr val="accent3"/>
          </a:solidFill>
          <a:ln w="12700">
            <a:solidFill>
              <a:schemeClr val="accent3"/>
            </a:solidFill>
            <a:prstDash val="solid"/>
          </a:ln>
        </p:spPr>
      </p:sp>
      <p:pic>
        <p:nvPicPr>
          <p:cNvPr id="32" name="Image 5" descr="preencoded.png">    </p:cNvPr>
          <p:cNvPicPr>
            <a:picLocks noChangeAspect="1"/>
          </p:cNvPicPr>
          <p:nvPr/>
        </p:nvPicPr>
        <p:blipFill>
          <a:blip r:embed="rId6"/>
          <a:stretch>
            <a:fillRect/>
          </a:stretch>
        </p:blipFill>
        <p:spPr>
          <a:xfrm>
            <a:off x="9784080" y="5989320"/>
            <a:ext cx="365760" cy="365760"/>
          </a:xfrm>
          <a:prstGeom prst="rect">
            <a:avLst/>
          </a:prstGeom>
        </p:spPr>
      </p:pic>
      <p:sp>
        <p:nvSpPr>
          <p:cNvPr id="33" name="Text 24"/>
          <p:cNvSpPr txBox="1"/>
          <p:nvPr/>
        </p:nvSpPr>
        <p:spPr>
          <a:xfrm>
            <a:off x="10561320" y="5715000"/>
            <a:ext cx="6675120" cy="457200"/>
          </a:xfrm>
          <a:prstGeom prst="rect">
            <a:avLst/>
          </a:prstGeom>
          <a:noFill/>
          <a:ln/>
        </p:spPr>
        <p:txBody>
          <a:bodyPr wrap="square" lIns="0" tIns="0" rIns="0" bIns="0" rtlCol="0" anchor="ctr"/>
          <a:lstStyle/>
          <a:p>
            <a:pPr indent="0" marL="0">
              <a:buNone/>
            </a:pPr>
            <a:r>
              <a:rPr lang="en-US" sz="2200" b="1" dirty="0">
                <a:solidFill>
                  <a:schemeClr val="tx2"/>
                </a:solidFill>
              </a:rPr>
              <a:t>SOC 2 vs March 1</a:t>
            </a:r>
            <a:endParaRPr lang="en-US" sz="2200" dirty="0"/>
          </a:p>
        </p:txBody>
      </p:sp>
      <p:sp>
        <p:nvSpPr>
          <p:cNvPr id="34" name="Text 25"/>
          <p:cNvSpPr txBox="1"/>
          <p:nvPr/>
        </p:nvSpPr>
        <p:spPr>
          <a:xfrm>
            <a:off x="10561320" y="6190488"/>
            <a:ext cx="6675120" cy="960120"/>
          </a:xfrm>
          <a:prstGeom prst="rect">
            <a:avLst/>
          </a:prstGeom>
          <a:noFill/>
          <a:ln/>
        </p:spPr>
        <p:txBody>
          <a:bodyPr wrap="square" lIns="0" tIns="0" rIns="0" bIns="0" rtlCol="0" anchor="t"/>
          <a:lstStyle/>
          <a:p>
            <a:pPr indent="0" marL="0">
              <a:buNone/>
            </a:pPr>
            <a:r>
              <a:rPr lang="en-US" sz="1800" dirty="0">
                <a:solidFill>
                  <a:schemeClr val="tx1"/>
                </a:solidFill>
              </a:rPr>
              <a:t>Type I within 12 months for the ride-hail pilot. Mitigation: controls and evidence built in, audit after launch.</a:t>
            </a:r>
            <a:endParaRPr lang="en-US" sz="1800" dirty="0"/>
          </a:p>
        </p:txBody>
      </p:sp>
      <p:sp>
        <p:nvSpPr>
          <p:cNvPr id="35" name="Shape 26"/>
          <p:cNvSpPr/>
          <p:nvPr/>
        </p:nvSpPr>
        <p:spPr>
          <a:xfrm>
            <a:off x="822960" y="7360920"/>
            <a:ext cx="8138160" cy="1664208"/>
          </a:xfrm>
          <a:prstGeom prst="rect">
            <a:avLst/>
          </a:prstGeom>
          <a:solidFill>
            <a:schemeClr val="bg2"/>
          </a:solidFill>
          <a:ln w="12700">
            <a:solidFill>
              <a:schemeClr val="bg2"/>
            </a:solidFill>
            <a:prstDash val="solid"/>
          </a:ln>
        </p:spPr>
      </p:sp>
      <p:sp>
        <p:nvSpPr>
          <p:cNvPr id="36" name="Shape 27"/>
          <p:cNvSpPr/>
          <p:nvPr/>
        </p:nvSpPr>
        <p:spPr>
          <a:xfrm>
            <a:off x="1097280" y="7589520"/>
            <a:ext cx="731520" cy="731520"/>
          </a:xfrm>
          <a:prstGeom prst="ellipse">
            <a:avLst/>
          </a:prstGeom>
          <a:solidFill>
            <a:schemeClr val="accent3"/>
          </a:solidFill>
          <a:ln w="12700">
            <a:solidFill>
              <a:schemeClr val="accent3"/>
            </a:solidFill>
            <a:prstDash val="solid"/>
          </a:ln>
        </p:spPr>
      </p:sp>
      <p:pic>
        <p:nvPicPr>
          <p:cNvPr id="37" name="Image 6" descr="preencoded.png">    </p:cNvPr>
          <p:cNvPicPr>
            <a:picLocks noChangeAspect="1"/>
          </p:cNvPicPr>
          <p:nvPr/>
        </p:nvPicPr>
        <p:blipFill>
          <a:blip r:embed="rId7"/>
          <a:stretch>
            <a:fillRect/>
          </a:stretch>
        </p:blipFill>
        <p:spPr>
          <a:xfrm>
            <a:off x="1280160" y="7772400"/>
            <a:ext cx="365760" cy="365760"/>
          </a:xfrm>
          <a:prstGeom prst="rect">
            <a:avLst/>
          </a:prstGeom>
        </p:spPr>
      </p:pic>
      <p:sp>
        <p:nvSpPr>
          <p:cNvPr id="38" name="Text 28"/>
          <p:cNvSpPr txBox="1"/>
          <p:nvPr/>
        </p:nvSpPr>
        <p:spPr>
          <a:xfrm>
            <a:off x="2057400" y="7498080"/>
            <a:ext cx="6675120" cy="457200"/>
          </a:xfrm>
          <a:prstGeom prst="rect">
            <a:avLst/>
          </a:prstGeom>
          <a:noFill/>
          <a:ln/>
        </p:spPr>
        <p:txBody>
          <a:bodyPr wrap="square" lIns="0" tIns="0" rIns="0" bIns="0" rtlCol="0" anchor="ctr"/>
          <a:lstStyle/>
          <a:p>
            <a:pPr indent="0" marL="0">
              <a:buNone/>
            </a:pPr>
            <a:r>
              <a:rPr lang="en-US" sz="2200" b="1" dirty="0">
                <a:solidFill>
                  <a:schemeClr val="tx2"/>
                </a:solidFill>
              </a:rPr>
              <a:t>Cash gap</a:t>
            </a:r>
            <a:endParaRPr lang="en-US" sz="2200" dirty="0"/>
          </a:p>
        </p:txBody>
      </p:sp>
      <p:sp>
        <p:nvSpPr>
          <p:cNvPr id="39" name="Text 29"/>
          <p:cNvSpPr txBox="1"/>
          <p:nvPr/>
        </p:nvSpPr>
        <p:spPr>
          <a:xfrm>
            <a:off x="2057400" y="7973568"/>
            <a:ext cx="6675120" cy="960120"/>
          </a:xfrm>
          <a:prstGeom prst="rect">
            <a:avLst/>
          </a:prstGeom>
          <a:noFill/>
          <a:ln/>
        </p:spPr>
        <p:txBody>
          <a:bodyPr wrap="square" lIns="0" tIns="0" rIns="0" bIns="0" rtlCol="0" anchor="t"/>
          <a:lstStyle/>
          <a:p>
            <a:pPr indent="0" marL="0">
              <a:buNone/>
            </a:pPr>
            <a:r>
              <a:rPr lang="en-US" sz="1800" dirty="0">
                <a:solidFill>
                  <a:schemeClr val="tx1"/>
                </a:solidFill>
              </a:rPr>
              <a:t>Stations paid weekly, fleets pay net-30 (up to ~8 weeks exposed). Mitigation: ledger, per-fleet credit limits, financing decision in the workshop.</a:t>
            </a:r>
            <a:endParaRPr lang="en-US" sz="1800" dirty="0"/>
          </a:p>
        </p:txBody>
      </p:sp>
      <p:sp>
        <p:nvSpPr>
          <p:cNvPr id="40" name="Text 30"/>
          <p:cNvSpPr txBox="1"/>
          <p:nvPr/>
        </p:nvSpPr>
        <p:spPr>
          <a:xfrm>
            <a:off x="9326880" y="7543800"/>
            <a:ext cx="8138160" cy="1280160"/>
          </a:xfrm>
          <a:prstGeom prst="rect">
            <a:avLst/>
          </a:prstGeom>
          <a:noFill/>
          <a:ln/>
        </p:spPr>
        <p:txBody>
          <a:bodyPr wrap="square" lIns="0" tIns="0" rIns="0" bIns="0" rtlCol="0" anchor="t"/>
          <a:lstStyle/>
          <a:p>
            <a:pPr indent="0" marL="0">
              <a:buNone/>
            </a:pPr>
            <a:r>
              <a:rPr lang="en-US" sz="1400" dirty="0">
                <a:solidFill>
                  <a:srgbClr val="6F6F6F"/>
                </a:solidFill>
              </a:rPr>
              <a:t>Real-world context: CPUC staff recommendation, June 2026; Voltera and Revel announcement, May 26, 2026 (announced, not closed); NEVI guidance, Aug 2025.</a:t>
            </a:r>
            <a:endParaRPr lang="en-US" sz="1400" dirty="0"/>
          </a:p>
        </p:txBody>
      </p:sp>
      <p:sp>
        <p:nvSpPr>
          <p:cNvPr id="25" name="Slide Number Placeholder 0"/>
          <p:cNvSpPr>
            <a:spLocks noGrp="1"/>
          </p:cNvSpPr>
          <p:nvPr>
            <p:ph type="sldNum" sz="quarter" idx="4294967295"/>
          </p:nvPr>
        </p:nvSpPr>
        <p:spPr>
          <a:xfrm>
            <a:off x="16642080" y="9646920"/>
            <a:ext cx="822960" cy="347472"/>
          </a:xfrm>
          <a:prstGeom prst="rect">
            <a:avLst/>
          </a:prstGeom>
          <a:extLst>
            <a:ext uri="{C572A759-6A51-4108-AA02-DFA0A04FC94B}">
              <ma14:wrappingTextBoxFlag xmlns:ma14="http://schemas.microsoft.com/office/mac/drawingml/2011/main" val="0"/>
            </a:ext>
          </a:extLst>
        </p:spPr>
        <p:txBody>
          <a:bodyPr/>
          <a:lstStyle>
            <a:lvl1pPr>
              <a:defRPr sz="1500">
                <a:solidFill>
                  <a:schemeClr val="tx1"/>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header"/>
          <p:cNvSpPr txBox="1"/>
          <p:nvPr/>
        </p:nvSpPr>
        <p:spPr>
          <a:xfrm>
            <a:off x="822960" y="219456"/>
            <a:ext cx="10972800" cy="347472"/>
          </a:xfrm>
          <a:prstGeom prst="rect">
            <a:avLst/>
          </a:prstGeom>
          <a:noFill/>
          <a:ln/>
        </p:spPr>
        <p:txBody>
          <a:bodyPr wrap="square" lIns="0" tIns="0" rIns="0" bIns="0" rtlCol="0" anchor="ctr"/>
          <a:lstStyle/>
          <a:p>
            <a:pPr indent="0" marL="0">
              <a:buNone/>
            </a:pPr>
            <a:r>
              <a:rPr lang="en-US" sz="1500" dirty="0">
                <a:solidFill>
                  <a:schemeClr val="tx1"/>
                </a:solidFill>
              </a:rPr>
              <a:t>amperlane/03-delivery</a:t>
            </a:r>
            <a:endParaRPr lang="en-US" sz="1500" dirty="0"/>
          </a:p>
        </p:txBody>
      </p:sp>
      <p:sp>
        <p:nvSpPr>
          <p:cNvPr id="3" name="Text 0"/>
          <p:cNvSpPr/>
          <p:nvPr>
            <p:ph idx="100" type="title" hasCustomPrompt="1"/>
          </p:nvPr>
        </p:nvSpPr>
        <p:spPr>
          <a:xfrm>
            <a:off x="822960" y="841248"/>
            <a:ext cx="16642080" cy="1005840"/>
          </a:xfrm>
          <a:prstGeom prst="rect">
            <a:avLst/>
          </a:prstGeom>
          <a:noFill/>
          <a:ln/>
        </p:spPr>
        <p:txBody>
          <a:bodyPr wrap="square" lIns="0" tIns="0" rIns="0" bIns="0" rtlCol="0" anchor="t"/>
          <a:lstStyle/>
          <a:p>
            <a:pPr algn="l" indent="0" marL="0">
              <a:buNone/>
            </a:pPr>
            <a:r>
              <a:rPr lang="en-US" sz="4500" dirty="0">
                <a:solidFill>
                  <a:schemeClr val="tx1"/>
                </a:solidFill>
              </a:rPr>
              <a:t>Open questions before the proposal</a:t>
            </a:r>
            <a:endParaRPr lang="en-US" sz="4500" dirty="0"/>
          </a:p>
        </p:txBody>
      </p:sp>
      <p:sp>
        <p:nvSpPr>
          <p:cNvPr id="5" name="Shape 2"/>
          <p:cNvSpPr/>
          <p:nvPr/>
        </p:nvSpPr>
        <p:spPr>
          <a:xfrm>
            <a:off x="822960" y="2103120"/>
            <a:ext cx="8138160" cy="1188720"/>
          </a:xfrm>
          <a:prstGeom prst="rect">
            <a:avLst/>
          </a:prstGeom>
          <a:solidFill>
            <a:srgbClr val="CFFFEA"/>
          </a:solidFill>
          <a:ln w="12700">
            <a:solidFill>
              <a:srgbClr val="CFFFEA"/>
            </a:solidFill>
            <a:prstDash val="solid"/>
          </a:ln>
        </p:spPr>
      </p:sp>
      <p:sp>
        <p:nvSpPr>
          <p:cNvPr id="6" name="Shape 3"/>
          <p:cNvSpPr/>
          <p:nvPr/>
        </p:nvSpPr>
        <p:spPr>
          <a:xfrm>
            <a:off x="1097280" y="2331720"/>
            <a:ext cx="731520" cy="731520"/>
          </a:xfrm>
          <a:prstGeom prst="ellipse">
            <a:avLst/>
          </a:prstGeom>
          <a:solidFill>
            <a:schemeClr val="tx2"/>
          </a:solidFill>
          <a:ln w="12700">
            <a:solidFill>
              <a:schemeClr val="tx2"/>
            </a:solidFill>
            <a:prstDash val="solid"/>
          </a:ln>
        </p:spPr>
      </p:sp>
      <p:sp>
        <p:nvSpPr>
          <p:cNvPr id="7" name="Text 4"/>
          <p:cNvSpPr txBox="1"/>
          <p:nvPr/>
        </p:nvSpPr>
        <p:spPr>
          <a:xfrm>
            <a:off x="1097280" y="2331720"/>
            <a:ext cx="731520" cy="731520"/>
          </a:xfrm>
          <a:prstGeom prst="rect">
            <a:avLst/>
          </a:prstGeom>
          <a:noFill/>
          <a:ln/>
        </p:spPr>
        <p:txBody>
          <a:bodyPr wrap="square" lIns="0" tIns="0" rIns="0" bIns="0" rtlCol="0" anchor="ctr"/>
          <a:lstStyle/>
          <a:p>
            <a:pPr algn="ctr" indent="0" marL="0">
              <a:buNone/>
            </a:pPr>
            <a:r>
              <a:rPr lang="en-US" sz="2200" b="1" dirty="0">
                <a:solidFill>
                  <a:schemeClr val="accent1"/>
                </a:solidFill>
              </a:rPr>
              <a:t>1</a:t>
            </a:r>
            <a:endParaRPr lang="en-US" sz="2200" dirty="0"/>
          </a:p>
        </p:txBody>
      </p:sp>
      <p:sp>
        <p:nvSpPr>
          <p:cNvPr id="8" name="Text 5"/>
          <p:cNvSpPr txBox="1"/>
          <p:nvPr/>
        </p:nvSpPr>
        <p:spPr>
          <a:xfrm>
            <a:off x="2057400" y="2103120"/>
            <a:ext cx="6675120" cy="1188720"/>
          </a:xfrm>
          <a:prstGeom prst="rect">
            <a:avLst/>
          </a:prstGeom>
          <a:noFill/>
          <a:ln/>
        </p:spPr>
        <p:txBody>
          <a:bodyPr wrap="square" lIns="0" tIns="0" rIns="0" bIns="0" rtlCol="0" anchor="ctr"/>
          <a:lstStyle/>
          <a:p>
            <a:pPr indent="0" marL="0">
              <a:buNone/>
            </a:pPr>
            <a:r>
              <a:rPr lang="en-US" sz="1900" dirty="0">
                <a:solidFill>
                  <a:schemeClr val="tx1"/>
                </a:solidFill>
              </a:rPr>
              <a:t>Business model: percentage fee, spread, or both? Is Amperlane merchant of record?</a:t>
            </a:r>
            <a:endParaRPr lang="en-US" sz="1900" dirty="0"/>
          </a:p>
        </p:txBody>
      </p:sp>
      <p:sp>
        <p:nvSpPr>
          <p:cNvPr id="9" name="Shape 6"/>
          <p:cNvSpPr/>
          <p:nvPr/>
        </p:nvSpPr>
        <p:spPr>
          <a:xfrm>
            <a:off x="822960" y="3474720"/>
            <a:ext cx="8138160" cy="1188720"/>
          </a:xfrm>
          <a:prstGeom prst="rect">
            <a:avLst/>
          </a:prstGeom>
          <a:solidFill>
            <a:srgbClr val="CFFFEA"/>
          </a:solidFill>
          <a:ln w="12700">
            <a:solidFill>
              <a:srgbClr val="CFFFEA"/>
            </a:solidFill>
            <a:prstDash val="solid"/>
          </a:ln>
        </p:spPr>
      </p:sp>
      <p:sp>
        <p:nvSpPr>
          <p:cNvPr id="10" name="Shape 7"/>
          <p:cNvSpPr/>
          <p:nvPr/>
        </p:nvSpPr>
        <p:spPr>
          <a:xfrm>
            <a:off x="1097280" y="3703320"/>
            <a:ext cx="731520" cy="731520"/>
          </a:xfrm>
          <a:prstGeom prst="ellipse">
            <a:avLst/>
          </a:prstGeom>
          <a:solidFill>
            <a:schemeClr val="tx2"/>
          </a:solidFill>
          <a:ln w="12700">
            <a:solidFill>
              <a:schemeClr val="tx2"/>
            </a:solidFill>
            <a:prstDash val="solid"/>
          </a:ln>
        </p:spPr>
      </p:sp>
      <p:sp>
        <p:nvSpPr>
          <p:cNvPr id="11" name="Text 8"/>
          <p:cNvSpPr txBox="1"/>
          <p:nvPr/>
        </p:nvSpPr>
        <p:spPr>
          <a:xfrm>
            <a:off x="1097280" y="3703320"/>
            <a:ext cx="731520" cy="731520"/>
          </a:xfrm>
          <a:prstGeom prst="rect">
            <a:avLst/>
          </a:prstGeom>
          <a:noFill/>
          <a:ln/>
        </p:spPr>
        <p:txBody>
          <a:bodyPr wrap="square" lIns="0" tIns="0" rIns="0" bIns="0" rtlCol="0" anchor="ctr"/>
          <a:lstStyle/>
          <a:p>
            <a:pPr algn="ctr" indent="0" marL="0">
              <a:buNone/>
            </a:pPr>
            <a:r>
              <a:rPr lang="en-US" sz="2200" b="1" dirty="0">
                <a:solidFill>
                  <a:schemeClr val="accent1"/>
                </a:solidFill>
              </a:rPr>
              <a:t>2</a:t>
            </a:r>
            <a:endParaRPr lang="en-US" sz="2200" dirty="0"/>
          </a:p>
        </p:txBody>
      </p:sp>
      <p:sp>
        <p:nvSpPr>
          <p:cNvPr id="12" name="Text 9"/>
          <p:cNvSpPr txBox="1"/>
          <p:nvPr/>
        </p:nvSpPr>
        <p:spPr>
          <a:xfrm>
            <a:off x="2057400" y="3474720"/>
            <a:ext cx="6675120" cy="1188720"/>
          </a:xfrm>
          <a:prstGeom prst="rect">
            <a:avLst/>
          </a:prstGeom>
          <a:noFill/>
          <a:ln/>
        </p:spPr>
        <p:txBody>
          <a:bodyPr wrap="square" lIns="0" tIns="0" rIns="0" bIns="0" rtlCol="0" anchor="ctr"/>
          <a:lstStyle/>
          <a:p>
            <a:pPr indent="0" marL="0">
              <a:buNone/>
            </a:pPr>
            <a:r>
              <a:rPr lang="en-US" sz="1900" dirty="0">
                <a:solidFill>
                  <a:schemeClr val="tx1"/>
                </a:solidFill>
              </a:rPr>
              <a:t>No-show policy: who pays by default, fee and station share, and is any overbooking acceptable?</a:t>
            </a:r>
            <a:endParaRPr lang="en-US" sz="1900" dirty="0"/>
          </a:p>
        </p:txBody>
      </p:sp>
      <p:sp>
        <p:nvSpPr>
          <p:cNvPr id="13" name="Shape 10"/>
          <p:cNvSpPr/>
          <p:nvPr/>
        </p:nvSpPr>
        <p:spPr>
          <a:xfrm>
            <a:off x="822960" y="4846320"/>
            <a:ext cx="8138160" cy="1188720"/>
          </a:xfrm>
          <a:prstGeom prst="rect">
            <a:avLst/>
          </a:prstGeom>
          <a:solidFill>
            <a:schemeClr val="bg2"/>
          </a:solidFill>
          <a:ln w="12700">
            <a:solidFill>
              <a:schemeClr val="bg2"/>
            </a:solidFill>
            <a:prstDash val="solid"/>
          </a:ln>
        </p:spPr>
      </p:sp>
      <p:sp>
        <p:nvSpPr>
          <p:cNvPr id="14" name="Shape 11"/>
          <p:cNvSpPr/>
          <p:nvPr/>
        </p:nvSpPr>
        <p:spPr>
          <a:xfrm>
            <a:off x="1097280" y="5074920"/>
            <a:ext cx="731520" cy="731520"/>
          </a:xfrm>
          <a:prstGeom prst="ellipse">
            <a:avLst/>
          </a:prstGeom>
          <a:solidFill>
            <a:schemeClr val="accent1"/>
          </a:solidFill>
          <a:ln w="12700">
            <a:solidFill>
              <a:schemeClr val="accent1"/>
            </a:solidFill>
            <a:prstDash val="solid"/>
          </a:ln>
        </p:spPr>
      </p:sp>
      <p:sp>
        <p:nvSpPr>
          <p:cNvPr id="15" name="Text 12"/>
          <p:cNvSpPr txBox="1"/>
          <p:nvPr/>
        </p:nvSpPr>
        <p:spPr>
          <a:xfrm>
            <a:off x="1097280" y="5074920"/>
            <a:ext cx="731520" cy="731520"/>
          </a:xfrm>
          <a:prstGeom prst="rect">
            <a:avLst/>
          </a:prstGeom>
          <a:noFill/>
          <a:ln/>
        </p:spPr>
        <p:txBody>
          <a:bodyPr wrap="square" lIns="0" tIns="0" rIns="0" bIns="0" rtlCol="0" anchor="ctr"/>
          <a:lstStyle/>
          <a:p>
            <a:pPr algn="ctr" indent="0" marL="0">
              <a:buNone/>
            </a:pPr>
            <a:r>
              <a:rPr lang="en-US" sz="2200" b="1" dirty="0">
                <a:solidFill>
                  <a:schemeClr val="tx2"/>
                </a:solidFill>
              </a:rPr>
              <a:t>3</a:t>
            </a:r>
            <a:endParaRPr lang="en-US" sz="2200" dirty="0"/>
          </a:p>
        </p:txBody>
      </p:sp>
      <p:sp>
        <p:nvSpPr>
          <p:cNvPr id="16" name="Text 13"/>
          <p:cNvSpPr txBox="1"/>
          <p:nvPr/>
        </p:nvSpPr>
        <p:spPr>
          <a:xfrm>
            <a:off x="2057400" y="4846320"/>
            <a:ext cx="6675120" cy="1188720"/>
          </a:xfrm>
          <a:prstGeom prst="rect">
            <a:avLst/>
          </a:prstGeom>
          <a:noFill/>
          <a:ln/>
        </p:spPr>
        <p:txBody>
          <a:bodyPr wrap="square" lIns="0" tIns="0" rIns="0" bIns="0" rtlCol="0" anchor="ctr"/>
          <a:lstStyle/>
          <a:p>
            <a:pPr indent="0" marL="0">
              <a:buNone/>
            </a:pPr>
            <a:r>
              <a:rPr lang="en-US" sz="1900" dirty="0">
                <a:solidFill>
                  <a:schemeClr val="tx1"/>
                </a:solidFill>
              </a:rPr>
              <a:t>Station terms: capacity caps, grace period and payout terms per site?</a:t>
            </a:r>
            <a:endParaRPr lang="en-US" sz="1900" dirty="0"/>
          </a:p>
        </p:txBody>
      </p:sp>
      <p:sp>
        <p:nvSpPr>
          <p:cNvPr id="17" name="Shape 14"/>
          <p:cNvSpPr/>
          <p:nvPr/>
        </p:nvSpPr>
        <p:spPr>
          <a:xfrm>
            <a:off x="822960" y="6217920"/>
            <a:ext cx="8138160" cy="1188720"/>
          </a:xfrm>
          <a:prstGeom prst="rect">
            <a:avLst/>
          </a:prstGeom>
          <a:solidFill>
            <a:schemeClr val="bg2"/>
          </a:solidFill>
          <a:ln w="12700">
            <a:solidFill>
              <a:schemeClr val="bg2"/>
            </a:solidFill>
            <a:prstDash val="solid"/>
          </a:ln>
        </p:spPr>
      </p:sp>
      <p:sp>
        <p:nvSpPr>
          <p:cNvPr id="18" name="Shape 15"/>
          <p:cNvSpPr/>
          <p:nvPr/>
        </p:nvSpPr>
        <p:spPr>
          <a:xfrm>
            <a:off x="1097280" y="6446520"/>
            <a:ext cx="731520" cy="731520"/>
          </a:xfrm>
          <a:prstGeom prst="ellipse">
            <a:avLst/>
          </a:prstGeom>
          <a:solidFill>
            <a:schemeClr val="accent1"/>
          </a:solidFill>
          <a:ln w="12700">
            <a:solidFill>
              <a:schemeClr val="accent1"/>
            </a:solidFill>
            <a:prstDash val="solid"/>
          </a:ln>
        </p:spPr>
      </p:sp>
      <p:sp>
        <p:nvSpPr>
          <p:cNvPr id="19" name="Text 16"/>
          <p:cNvSpPr txBox="1"/>
          <p:nvPr/>
        </p:nvSpPr>
        <p:spPr>
          <a:xfrm>
            <a:off x="1097280" y="6446520"/>
            <a:ext cx="731520" cy="731520"/>
          </a:xfrm>
          <a:prstGeom prst="rect">
            <a:avLst/>
          </a:prstGeom>
          <a:noFill/>
          <a:ln/>
        </p:spPr>
        <p:txBody>
          <a:bodyPr wrap="square" lIns="0" tIns="0" rIns="0" bIns="0" rtlCol="0" anchor="ctr"/>
          <a:lstStyle/>
          <a:p>
            <a:pPr algn="ctr" indent="0" marL="0">
              <a:buNone/>
            </a:pPr>
            <a:r>
              <a:rPr lang="en-US" sz="2200" b="1" dirty="0">
                <a:solidFill>
                  <a:schemeClr val="tx2"/>
                </a:solidFill>
              </a:rPr>
              <a:t>4</a:t>
            </a:r>
            <a:endParaRPr lang="en-US" sz="2200" dirty="0"/>
          </a:p>
        </p:txBody>
      </p:sp>
      <p:sp>
        <p:nvSpPr>
          <p:cNvPr id="20" name="Text 17"/>
          <p:cNvSpPr txBox="1"/>
          <p:nvPr/>
        </p:nvSpPr>
        <p:spPr>
          <a:xfrm>
            <a:off x="2057400" y="6217920"/>
            <a:ext cx="6675120" cy="1188720"/>
          </a:xfrm>
          <a:prstGeom prst="rect">
            <a:avLst/>
          </a:prstGeom>
          <a:noFill/>
          <a:ln/>
        </p:spPr>
        <p:txBody>
          <a:bodyPr wrap="square" lIns="0" tIns="0" rIns="0" bIns="0" rtlCol="0" anchor="ctr"/>
          <a:lstStyle/>
          <a:p>
            <a:pPr indent="0" marL="0">
              <a:buNone/>
            </a:pPr>
            <a:r>
              <a:rPr lang="en-US" sz="1900" dirty="0">
                <a:solidFill>
                  <a:schemeClr val="tx1"/>
                </a:solidFill>
              </a:rPr>
              <a:t>LA: which of the two OCPI 2.2.1 prospects, and when do we get access?</a:t>
            </a:r>
            <a:endParaRPr lang="en-US" sz="1900" dirty="0"/>
          </a:p>
        </p:txBody>
      </p:sp>
      <p:sp>
        <p:nvSpPr>
          <p:cNvPr id="21" name="Shape 18"/>
          <p:cNvSpPr/>
          <p:nvPr/>
        </p:nvSpPr>
        <p:spPr>
          <a:xfrm>
            <a:off x="822960" y="7589520"/>
            <a:ext cx="8138160" cy="1188720"/>
          </a:xfrm>
          <a:prstGeom prst="rect">
            <a:avLst/>
          </a:prstGeom>
          <a:solidFill>
            <a:schemeClr val="bg2"/>
          </a:solidFill>
          <a:ln w="12700">
            <a:solidFill>
              <a:schemeClr val="bg2"/>
            </a:solidFill>
            <a:prstDash val="solid"/>
          </a:ln>
        </p:spPr>
      </p:sp>
      <p:sp>
        <p:nvSpPr>
          <p:cNvPr id="22" name="Shape 19"/>
          <p:cNvSpPr/>
          <p:nvPr/>
        </p:nvSpPr>
        <p:spPr>
          <a:xfrm>
            <a:off x="1097280" y="7818120"/>
            <a:ext cx="731520" cy="731520"/>
          </a:xfrm>
          <a:prstGeom prst="ellipse">
            <a:avLst/>
          </a:prstGeom>
          <a:solidFill>
            <a:schemeClr val="accent1"/>
          </a:solidFill>
          <a:ln w="12700">
            <a:solidFill>
              <a:schemeClr val="accent1"/>
            </a:solidFill>
            <a:prstDash val="solid"/>
          </a:ln>
        </p:spPr>
      </p:sp>
      <p:sp>
        <p:nvSpPr>
          <p:cNvPr id="23" name="Text 20"/>
          <p:cNvSpPr txBox="1"/>
          <p:nvPr/>
        </p:nvSpPr>
        <p:spPr>
          <a:xfrm>
            <a:off x="1097280" y="7818120"/>
            <a:ext cx="731520" cy="731520"/>
          </a:xfrm>
          <a:prstGeom prst="rect">
            <a:avLst/>
          </a:prstGeom>
          <a:noFill/>
          <a:ln/>
        </p:spPr>
        <p:txBody>
          <a:bodyPr wrap="square" lIns="0" tIns="0" rIns="0" bIns="0" rtlCol="0" anchor="ctr"/>
          <a:lstStyle/>
          <a:p>
            <a:pPr algn="ctr" indent="0" marL="0">
              <a:buNone/>
            </a:pPr>
            <a:r>
              <a:rPr lang="en-US" sz="2200" b="1" dirty="0">
                <a:solidFill>
                  <a:schemeClr val="tx2"/>
                </a:solidFill>
              </a:rPr>
              <a:t>5</a:t>
            </a:r>
            <a:endParaRPr lang="en-US" sz="2200" dirty="0"/>
          </a:p>
        </p:txBody>
      </p:sp>
      <p:sp>
        <p:nvSpPr>
          <p:cNvPr id="24" name="Text 21"/>
          <p:cNvSpPr txBox="1"/>
          <p:nvPr/>
        </p:nvSpPr>
        <p:spPr>
          <a:xfrm>
            <a:off x="2057400" y="7589520"/>
            <a:ext cx="6675120" cy="1188720"/>
          </a:xfrm>
          <a:prstGeom prst="rect">
            <a:avLst/>
          </a:prstGeom>
          <a:noFill/>
          <a:ln/>
        </p:spPr>
        <p:txBody>
          <a:bodyPr wrap="square" lIns="0" tIns="0" rIns="0" bIns="0" rtlCol="0" anchor="ctr"/>
          <a:lstStyle/>
          <a:p>
            <a:pPr indent="0" marL="0">
              <a:buNone/>
            </a:pPr>
            <a:r>
              <a:rPr lang="en-US" sz="1900" dirty="0">
                <a:solidFill>
                  <a:schemeClr val="tx1"/>
                </a:solidFill>
              </a:rPr>
              <a:t>LIC: CSV + attendant, or migrate the host to direct OCPP (CitrineOS)?</a:t>
            </a:r>
            <a:endParaRPr lang="en-US" sz="1900" dirty="0"/>
          </a:p>
        </p:txBody>
      </p:sp>
      <p:sp>
        <p:nvSpPr>
          <p:cNvPr id="25" name="Shape 22"/>
          <p:cNvSpPr/>
          <p:nvPr/>
        </p:nvSpPr>
        <p:spPr>
          <a:xfrm>
            <a:off x="9326880" y="2103120"/>
            <a:ext cx="8138160" cy="1188720"/>
          </a:xfrm>
          <a:prstGeom prst="rect">
            <a:avLst/>
          </a:prstGeom>
          <a:solidFill>
            <a:schemeClr val="bg2"/>
          </a:solidFill>
          <a:ln w="12700">
            <a:solidFill>
              <a:schemeClr val="bg2"/>
            </a:solidFill>
            <a:prstDash val="solid"/>
          </a:ln>
        </p:spPr>
      </p:sp>
      <p:sp>
        <p:nvSpPr>
          <p:cNvPr id="26" name="Shape 23"/>
          <p:cNvSpPr/>
          <p:nvPr/>
        </p:nvSpPr>
        <p:spPr>
          <a:xfrm>
            <a:off x="9601200" y="2331720"/>
            <a:ext cx="731520" cy="731520"/>
          </a:xfrm>
          <a:prstGeom prst="ellipse">
            <a:avLst/>
          </a:prstGeom>
          <a:solidFill>
            <a:schemeClr val="accent1"/>
          </a:solidFill>
          <a:ln w="12700">
            <a:solidFill>
              <a:schemeClr val="accent1"/>
            </a:solidFill>
            <a:prstDash val="solid"/>
          </a:ln>
        </p:spPr>
      </p:sp>
      <p:sp>
        <p:nvSpPr>
          <p:cNvPr id="27" name="Text 24"/>
          <p:cNvSpPr txBox="1"/>
          <p:nvPr/>
        </p:nvSpPr>
        <p:spPr>
          <a:xfrm>
            <a:off x="9601200" y="2331720"/>
            <a:ext cx="731520" cy="731520"/>
          </a:xfrm>
          <a:prstGeom prst="rect">
            <a:avLst/>
          </a:prstGeom>
          <a:noFill/>
          <a:ln/>
        </p:spPr>
        <p:txBody>
          <a:bodyPr wrap="square" lIns="0" tIns="0" rIns="0" bIns="0" rtlCol="0" anchor="ctr"/>
          <a:lstStyle/>
          <a:p>
            <a:pPr algn="ctr" indent="0" marL="0">
              <a:buNone/>
            </a:pPr>
            <a:r>
              <a:rPr lang="en-US" sz="2200" b="1" dirty="0">
                <a:solidFill>
                  <a:schemeClr val="tx2"/>
                </a:solidFill>
              </a:rPr>
              <a:t>6</a:t>
            </a:r>
            <a:endParaRPr lang="en-US" sz="2200" dirty="0"/>
          </a:p>
        </p:txBody>
      </p:sp>
      <p:sp>
        <p:nvSpPr>
          <p:cNvPr id="28" name="Text 25"/>
          <p:cNvSpPr txBox="1"/>
          <p:nvPr/>
        </p:nvSpPr>
        <p:spPr>
          <a:xfrm>
            <a:off x="10561320" y="2103120"/>
            <a:ext cx="6675120" cy="1188720"/>
          </a:xfrm>
          <a:prstGeom prst="rect">
            <a:avLst/>
          </a:prstGeom>
          <a:noFill/>
          <a:ln/>
        </p:spPr>
        <p:txBody>
          <a:bodyPr wrap="square" lIns="0" tIns="0" rIns="0" bIns="0" rtlCol="0" anchor="ctr"/>
          <a:lstStyle/>
          <a:p>
            <a:pPr indent="0" marL="0">
              <a:buNone/>
            </a:pPr>
            <a:r>
              <a:rPr lang="en-US" sz="1900" dirty="0">
                <a:solidFill>
                  <a:schemeClr val="tx1"/>
                </a:solidFill>
              </a:rPr>
              <a:t>Tesla vehicles: will Borough Green pay for Tesla Fleet API, or start with manual SoC?</a:t>
            </a:r>
            <a:endParaRPr lang="en-US" sz="1900" dirty="0"/>
          </a:p>
        </p:txBody>
      </p:sp>
      <p:sp>
        <p:nvSpPr>
          <p:cNvPr id="29" name="Shape 26"/>
          <p:cNvSpPr/>
          <p:nvPr/>
        </p:nvSpPr>
        <p:spPr>
          <a:xfrm>
            <a:off x="9326880" y="3474720"/>
            <a:ext cx="8138160" cy="1188720"/>
          </a:xfrm>
          <a:prstGeom prst="rect">
            <a:avLst/>
          </a:prstGeom>
          <a:solidFill>
            <a:schemeClr val="bg2"/>
          </a:solidFill>
          <a:ln w="12700">
            <a:solidFill>
              <a:schemeClr val="bg2"/>
            </a:solidFill>
            <a:prstDash val="solid"/>
          </a:ln>
        </p:spPr>
      </p:sp>
      <p:sp>
        <p:nvSpPr>
          <p:cNvPr id="30" name="Shape 27"/>
          <p:cNvSpPr/>
          <p:nvPr/>
        </p:nvSpPr>
        <p:spPr>
          <a:xfrm>
            <a:off x="9601200" y="3703320"/>
            <a:ext cx="731520" cy="731520"/>
          </a:xfrm>
          <a:prstGeom prst="ellipse">
            <a:avLst/>
          </a:prstGeom>
          <a:solidFill>
            <a:schemeClr val="accent1"/>
          </a:solidFill>
          <a:ln w="12700">
            <a:solidFill>
              <a:schemeClr val="accent1"/>
            </a:solidFill>
            <a:prstDash val="solid"/>
          </a:ln>
        </p:spPr>
      </p:sp>
      <p:sp>
        <p:nvSpPr>
          <p:cNvPr id="31" name="Text 28"/>
          <p:cNvSpPr txBox="1"/>
          <p:nvPr/>
        </p:nvSpPr>
        <p:spPr>
          <a:xfrm>
            <a:off x="9601200" y="3703320"/>
            <a:ext cx="731520" cy="731520"/>
          </a:xfrm>
          <a:prstGeom prst="rect">
            <a:avLst/>
          </a:prstGeom>
          <a:noFill/>
          <a:ln/>
        </p:spPr>
        <p:txBody>
          <a:bodyPr wrap="square" lIns="0" tIns="0" rIns="0" bIns="0" rtlCol="0" anchor="ctr"/>
          <a:lstStyle/>
          <a:p>
            <a:pPr algn="ctr" indent="0" marL="0">
              <a:buNone/>
            </a:pPr>
            <a:r>
              <a:rPr lang="en-US" sz="2200" b="1" dirty="0">
                <a:solidFill>
                  <a:schemeClr val="tx2"/>
                </a:solidFill>
              </a:rPr>
              <a:t>7</a:t>
            </a:r>
            <a:endParaRPr lang="en-US" sz="2200" dirty="0"/>
          </a:p>
        </p:txBody>
      </p:sp>
      <p:sp>
        <p:nvSpPr>
          <p:cNvPr id="32" name="Text 29"/>
          <p:cNvSpPr txBox="1"/>
          <p:nvPr/>
        </p:nvSpPr>
        <p:spPr>
          <a:xfrm>
            <a:off x="10561320" y="3474720"/>
            <a:ext cx="6675120" cy="1188720"/>
          </a:xfrm>
          <a:prstGeom prst="rect">
            <a:avLst/>
          </a:prstGeom>
          <a:noFill/>
          <a:ln/>
        </p:spPr>
        <p:txBody>
          <a:bodyPr wrap="square" lIns="0" tIns="0" rIns="0" bIns="0" rtlCol="0" anchor="ctr"/>
          <a:lstStyle/>
          <a:p>
            <a:pPr indent="0" marL="0">
              <a:buNone/>
            </a:pPr>
            <a:r>
              <a:rPr lang="en-US" sz="1900" dirty="0">
                <a:solidFill>
                  <a:schemeClr val="tx1"/>
                </a:solidFill>
              </a:rPr>
              <a:t>SOC 2 Type I: target date, auditor, and is the ride-hail pilot in Phase 1?</a:t>
            </a:r>
            <a:endParaRPr lang="en-US" sz="1900" dirty="0"/>
          </a:p>
        </p:txBody>
      </p:sp>
      <p:sp>
        <p:nvSpPr>
          <p:cNvPr id="33" name="Shape 30"/>
          <p:cNvSpPr/>
          <p:nvPr/>
        </p:nvSpPr>
        <p:spPr>
          <a:xfrm>
            <a:off x="9326880" y="4846320"/>
            <a:ext cx="8138160" cy="1188720"/>
          </a:xfrm>
          <a:prstGeom prst="rect">
            <a:avLst/>
          </a:prstGeom>
          <a:solidFill>
            <a:schemeClr val="bg2"/>
          </a:solidFill>
          <a:ln w="12700">
            <a:solidFill>
              <a:schemeClr val="bg2"/>
            </a:solidFill>
            <a:prstDash val="solid"/>
          </a:ln>
        </p:spPr>
      </p:sp>
      <p:sp>
        <p:nvSpPr>
          <p:cNvPr id="34" name="Shape 31"/>
          <p:cNvSpPr/>
          <p:nvPr/>
        </p:nvSpPr>
        <p:spPr>
          <a:xfrm>
            <a:off x="9601200" y="5074920"/>
            <a:ext cx="731520" cy="731520"/>
          </a:xfrm>
          <a:prstGeom prst="ellipse">
            <a:avLst/>
          </a:prstGeom>
          <a:solidFill>
            <a:schemeClr val="accent1"/>
          </a:solidFill>
          <a:ln w="12700">
            <a:solidFill>
              <a:schemeClr val="accent1"/>
            </a:solidFill>
            <a:prstDash val="solid"/>
          </a:ln>
        </p:spPr>
      </p:sp>
      <p:sp>
        <p:nvSpPr>
          <p:cNvPr id="35" name="Text 32"/>
          <p:cNvSpPr txBox="1"/>
          <p:nvPr/>
        </p:nvSpPr>
        <p:spPr>
          <a:xfrm>
            <a:off x="9601200" y="5074920"/>
            <a:ext cx="731520" cy="731520"/>
          </a:xfrm>
          <a:prstGeom prst="rect">
            <a:avLst/>
          </a:prstGeom>
          <a:noFill/>
          <a:ln/>
        </p:spPr>
        <p:txBody>
          <a:bodyPr wrap="square" lIns="0" tIns="0" rIns="0" bIns="0" rtlCol="0" anchor="ctr"/>
          <a:lstStyle/>
          <a:p>
            <a:pPr algn="ctr" indent="0" marL="0">
              <a:buNone/>
            </a:pPr>
            <a:r>
              <a:rPr lang="en-US" sz="2200" b="1" dirty="0">
                <a:solidFill>
                  <a:schemeClr val="tx2"/>
                </a:solidFill>
              </a:rPr>
              <a:t>8</a:t>
            </a:r>
            <a:endParaRPr lang="en-US" sz="2200" dirty="0"/>
          </a:p>
        </p:txBody>
      </p:sp>
      <p:sp>
        <p:nvSpPr>
          <p:cNvPr id="36" name="Text 33"/>
          <p:cNvSpPr txBox="1"/>
          <p:nvPr/>
        </p:nvSpPr>
        <p:spPr>
          <a:xfrm>
            <a:off x="10561320" y="4846320"/>
            <a:ext cx="6675120" cy="1188720"/>
          </a:xfrm>
          <a:prstGeom prst="rect">
            <a:avLst/>
          </a:prstGeom>
          <a:noFill/>
          <a:ln/>
        </p:spPr>
        <p:txBody>
          <a:bodyPr wrap="square" lIns="0" tIns="0" rIns="0" bIns="0" rtlCol="0" anchor="ctr"/>
          <a:lstStyle/>
          <a:p>
            <a:pPr indent="0" marL="0">
              <a:buNone/>
            </a:pPr>
            <a:r>
              <a:rPr lang="en-US" sz="1900" dirty="0">
                <a:solidFill>
                  <a:schemeClr val="tx1"/>
                </a:solidFill>
              </a:rPr>
              <a:t>Data migration: which pilot history (Airtable, Stripe Billing, Twilio logs)?</a:t>
            </a:r>
            <a:endParaRPr lang="en-US" sz="1900" dirty="0"/>
          </a:p>
        </p:txBody>
      </p:sp>
      <p:sp>
        <p:nvSpPr>
          <p:cNvPr id="37" name="Shape 34"/>
          <p:cNvSpPr/>
          <p:nvPr/>
        </p:nvSpPr>
        <p:spPr>
          <a:xfrm>
            <a:off x="9326880" y="6217920"/>
            <a:ext cx="8138160" cy="1188720"/>
          </a:xfrm>
          <a:prstGeom prst="rect">
            <a:avLst/>
          </a:prstGeom>
          <a:solidFill>
            <a:schemeClr val="bg2"/>
          </a:solidFill>
          <a:ln w="12700">
            <a:solidFill>
              <a:schemeClr val="bg2"/>
            </a:solidFill>
            <a:prstDash val="solid"/>
          </a:ln>
        </p:spPr>
      </p:sp>
      <p:sp>
        <p:nvSpPr>
          <p:cNvPr id="38" name="Shape 35"/>
          <p:cNvSpPr/>
          <p:nvPr/>
        </p:nvSpPr>
        <p:spPr>
          <a:xfrm>
            <a:off x="9601200" y="6446520"/>
            <a:ext cx="731520" cy="731520"/>
          </a:xfrm>
          <a:prstGeom prst="ellipse">
            <a:avLst/>
          </a:prstGeom>
          <a:solidFill>
            <a:schemeClr val="accent1"/>
          </a:solidFill>
          <a:ln w="12700">
            <a:solidFill>
              <a:schemeClr val="accent1"/>
            </a:solidFill>
            <a:prstDash val="solid"/>
          </a:ln>
        </p:spPr>
      </p:sp>
      <p:sp>
        <p:nvSpPr>
          <p:cNvPr id="39" name="Text 36"/>
          <p:cNvSpPr txBox="1"/>
          <p:nvPr/>
        </p:nvSpPr>
        <p:spPr>
          <a:xfrm>
            <a:off x="9601200" y="6446520"/>
            <a:ext cx="731520" cy="731520"/>
          </a:xfrm>
          <a:prstGeom prst="rect">
            <a:avLst/>
          </a:prstGeom>
          <a:noFill/>
          <a:ln/>
        </p:spPr>
        <p:txBody>
          <a:bodyPr wrap="square" lIns="0" tIns="0" rIns="0" bIns="0" rtlCol="0" anchor="ctr"/>
          <a:lstStyle/>
          <a:p>
            <a:pPr algn="ctr" indent="0" marL="0">
              <a:buNone/>
            </a:pPr>
            <a:r>
              <a:rPr lang="en-US" sz="2200" b="1" dirty="0">
                <a:solidFill>
                  <a:schemeClr val="tx2"/>
                </a:solidFill>
              </a:rPr>
              <a:t>9</a:t>
            </a:r>
            <a:endParaRPr lang="en-US" sz="2200" dirty="0"/>
          </a:p>
        </p:txBody>
      </p:sp>
      <p:sp>
        <p:nvSpPr>
          <p:cNvPr id="40" name="Text 37"/>
          <p:cNvSpPr txBox="1"/>
          <p:nvPr/>
        </p:nvSpPr>
        <p:spPr>
          <a:xfrm>
            <a:off x="10561320" y="6217920"/>
            <a:ext cx="6675120" cy="1188720"/>
          </a:xfrm>
          <a:prstGeom prst="rect">
            <a:avLst/>
          </a:prstGeom>
          <a:noFill/>
          <a:ln/>
        </p:spPr>
        <p:txBody>
          <a:bodyPr wrap="square" lIns="0" tIns="0" rIns="0" bIns="0" rtlCol="0" anchor="ctr"/>
          <a:lstStyle/>
          <a:p>
            <a:pPr indent="0" marL="0">
              <a:buNone/>
            </a:pPr>
            <a:r>
              <a:rPr lang="en-US" sz="1900" dirty="0">
                <a:solidFill>
                  <a:schemeClr val="tx1"/>
                </a:solidFill>
              </a:rPr>
              <a:t>Funds flow: will your counsel confirm the Stripe Connect structure avoids NY money-transmitter licensing?</a:t>
            </a:r>
            <a:endParaRPr lang="en-US" sz="1900" dirty="0"/>
          </a:p>
        </p:txBody>
      </p:sp>
      <p:sp>
        <p:nvSpPr>
          <p:cNvPr id="41" name="Shape 38"/>
          <p:cNvSpPr/>
          <p:nvPr/>
        </p:nvSpPr>
        <p:spPr>
          <a:xfrm>
            <a:off x="9326880" y="7589520"/>
            <a:ext cx="8138160" cy="1188720"/>
          </a:xfrm>
          <a:prstGeom prst="rect">
            <a:avLst/>
          </a:prstGeom>
          <a:solidFill>
            <a:schemeClr val="bg2"/>
          </a:solidFill>
          <a:ln w="12700">
            <a:solidFill>
              <a:schemeClr val="bg2"/>
            </a:solidFill>
            <a:prstDash val="solid"/>
          </a:ln>
        </p:spPr>
      </p:sp>
      <p:sp>
        <p:nvSpPr>
          <p:cNvPr id="42" name="Shape 39"/>
          <p:cNvSpPr/>
          <p:nvPr/>
        </p:nvSpPr>
        <p:spPr>
          <a:xfrm>
            <a:off x="9601200" y="7818120"/>
            <a:ext cx="731520" cy="731520"/>
          </a:xfrm>
          <a:prstGeom prst="ellipse">
            <a:avLst/>
          </a:prstGeom>
          <a:solidFill>
            <a:schemeClr val="accent1"/>
          </a:solidFill>
          <a:ln w="12700">
            <a:solidFill>
              <a:schemeClr val="accent1"/>
            </a:solidFill>
            <a:prstDash val="solid"/>
          </a:ln>
        </p:spPr>
      </p:sp>
      <p:sp>
        <p:nvSpPr>
          <p:cNvPr id="43" name="Text 40"/>
          <p:cNvSpPr txBox="1"/>
          <p:nvPr/>
        </p:nvSpPr>
        <p:spPr>
          <a:xfrm>
            <a:off x="9601200" y="7818120"/>
            <a:ext cx="731520" cy="731520"/>
          </a:xfrm>
          <a:prstGeom prst="rect">
            <a:avLst/>
          </a:prstGeom>
          <a:noFill/>
          <a:ln/>
        </p:spPr>
        <p:txBody>
          <a:bodyPr wrap="square" lIns="0" tIns="0" rIns="0" bIns="0" rtlCol="0" anchor="ctr"/>
          <a:lstStyle/>
          <a:p>
            <a:pPr algn="ctr" indent="0" marL="0">
              <a:buNone/>
            </a:pPr>
            <a:r>
              <a:rPr lang="en-US" sz="2200" b="1" dirty="0">
                <a:solidFill>
                  <a:schemeClr val="tx2"/>
                </a:solidFill>
              </a:rPr>
              <a:t>10</a:t>
            </a:r>
            <a:endParaRPr lang="en-US" sz="2200" dirty="0"/>
          </a:p>
        </p:txBody>
      </p:sp>
      <p:sp>
        <p:nvSpPr>
          <p:cNvPr id="44" name="Text 41"/>
          <p:cNvSpPr txBox="1"/>
          <p:nvPr/>
        </p:nvSpPr>
        <p:spPr>
          <a:xfrm>
            <a:off x="10561320" y="7589520"/>
            <a:ext cx="6675120" cy="1188720"/>
          </a:xfrm>
          <a:prstGeom prst="rect">
            <a:avLst/>
          </a:prstGeom>
          <a:noFill/>
          <a:ln/>
        </p:spPr>
        <p:txBody>
          <a:bodyPr wrap="square" lIns="0" tIns="0" rIns="0" bIns="0" rtlCol="0" anchor="ctr"/>
          <a:lstStyle/>
          <a:p>
            <a:pPr indent="0" marL="0">
              <a:buNone/>
            </a:pPr>
            <a:r>
              <a:rPr lang="en-US" sz="1900" dirty="0">
                <a:solidFill>
                  <a:schemeClr val="tx1"/>
                </a:solidFill>
              </a:rPr>
              <a:t>Supply: which new NYC sites and fleets are realistic by June 2027 to reach 10k completed bookings?</a:t>
            </a:r>
            <a:endParaRPr lang="en-US" sz="1900" dirty="0"/>
          </a:p>
        </p:txBody>
      </p:sp>
      <p:sp>
        <p:nvSpPr>
          <p:cNvPr id="25" name="Slide Number Placeholder 0"/>
          <p:cNvSpPr>
            <a:spLocks noGrp="1"/>
          </p:cNvSpPr>
          <p:nvPr>
            <p:ph type="sldNum" sz="quarter" idx="4294967295"/>
          </p:nvPr>
        </p:nvSpPr>
        <p:spPr>
          <a:xfrm>
            <a:off x="16642080" y="9646920"/>
            <a:ext cx="822960" cy="347472"/>
          </a:xfrm>
          <a:prstGeom prst="rect">
            <a:avLst/>
          </a:prstGeom>
          <a:extLst>
            <a:ext uri="{C572A759-6A51-4108-AA02-DFA0A04FC94B}">
              <ma14:wrappingTextBoxFlag xmlns:ma14="http://schemas.microsoft.com/office/mac/drawingml/2011/main" val="0"/>
            </a:ext>
          </a:extLst>
        </p:spPr>
        <p:txBody>
          <a:bodyPr/>
          <a:lstStyle>
            <a:lvl1pPr>
              <a:defRPr sz="1500">
                <a:solidFill>
                  <a:schemeClr val="tx1"/>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header"/>
          <p:cNvSpPr txBox="1"/>
          <p:nvPr/>
        </p:nvSpPr>
        <p:spPr>
          <a:xfrm>
            <a:off x="822960" y="219456"/>
            <a:ext cx="10972800" cy="347472"/>
          </a:xfrm>
          <a:prstGeom prst="rect">
            <a:avLst/>
          </a:prstGeom>
          <a:noFill/>
          <a:ln/>
        </p:spPr>
        <p:txBody>
          <a:bodyPr wrap="square" lIns="0" tIns="0" rIns="0" bIns="0" rtlCol="0" anchor="ctr"/>
          <a:lstStyle/>
          <a:p>
            <a:pPr indent="0" marL="0">
              <a:buNone/>
            </a:pPr>
            <a:r>
              <a:rPr lang="en-US" sz="1500" dirty="0">
                <a:solidFill>
                  <a:schemeClr val="tx1"/>
                </a:solidFill>
              </a:rPr>
              <a:t>amperlane/03-delivery</a:t>
            </a:r>
            <a:endParaRPr lang="en-US" sz="1500" dirty="0"/>
          </a:p>
        </p:txBody>
      </p:sp>
      <p:sp>
        <p:nvSpPr>
          <p:cNvPr id="3" name="Text 0"/>
          <p:cNvSpPr/>
          <p:nvPr>
            <p:ph idx="100" type="title" hasCustomPrompt="1"/>
          </p:nvPr>
        </p:nvSpPr>
        <p:spPr>
          <a:xfrm>
            <a:off x="822960" y="841248"/>
            <a:ext cx="16642080" cy="1005840"/>
          </a:xfrm>
          <a:prstGeom prst="rect">
            <a:avLst/>
          </a:prstGeom>
          <a:noFill/>
          <a:ln/>
        </p:spPr>
        <p:txBody>
          <a:bodyPr wrap="square" lIns="0" tIns="0" rIns="0" bIns="0" rtlCol="0" anchor="t"/>
          <a:lstStyle/>
          <a:p>
            <a:pPr algn="l" indent="0" marL="0">
              <a:buNone/>
            </a:pPr>
            <a:r>
              <a:rPr lang="en-US" sz="4500" dirty="0">
                <a:solidFill>
                  <a:schemeClr val="tx1"/>
                </a:solidFill>
              </a:rPr>
              <a:t>Next steps</a:t>
            </a:r>
            <a:endParaRPr lang="en-US" sz="4500" dirty="0"/>
          </a:p>
        </p:txBody>
      </p:sp>
      <p:sp>
        <p:nvSpPr>
          <p:cNvPr id="5" name="Shape 2"/>
          <p:cNvSpPr/>
          <p:nvPr/>
        </p:nvSpPr>
        <p:spPr>
          <a:xfrm>
            <a:off x="822960" y="2103120"/>
            <a:ext cx="3794760" cy="4023360"/>
          </a:xfrm>
          <a:prstGeom prst="rect">
            <a:avLst/>
          </a:prstGeom>
          <a:solidFill>
            <a:schemeClr val="bg1"/>
          </a:solidFill>
          <a:ln w="12700">
            <a:solidFill>
              <a:schemeClr val="bg1"/>
            </a:solidFill>
            <a:prstDash val="solid"/>
          </a:ln>
        </p:spPr>
      </p:sp>
      <p:sp>
        <p:nvSpPr>
          <p:cNvPr id="6" name="Shape 3"/>
          <p:cNvSpPr/>
          <p:nvPr/>
        </p:nvSpPr>
        <p:spPr>
          <a:xfrm>
            <a:off x="1143000" y="2423160"/>
            <a:ext cx="868680" cy="868680"/>
          </a:xfrm>
          <a:prstGeom prst="ellipse">
            <a:avLst/>
          </a:prstGeom>
          <a:solidFill>
            <a:schemeClr val="accent1"/>
          </a:solidFill>
          <a:ln w="12700">
            <a:solidFill>
              <a:schemeClr val="accent1"/>
            </a:solidFill>
            <a:prstDash val="solid"/>
          </a:ln>
        </p:spPr>
      </p:sp>
      <p:pic>
        <p:nvPicPr>
          <p:cNvPr id="7" name="Image 0" descr="preencoded.png">    </p:cNvPr>
          <p:cNvPicPr>
            <a:picLocks noChangeAspect="1"/>
          </p:cNvPicPr>
          <p:nvPr/>
        </p:nvPicPr>
        <p:blipFill>
          <a:blip r:embed="rId1"/>
          <a:stretch>
            <a:fillRect/>
          </a:stretch>
        </p:blipFill>
        <p:spPr>
          <a:xfrm>
            <a:off x="1360170" y="2640330"/>
            <a:ext cx="434340" cy="434340"/>
          </a:xfrm>
          <a:prstGeom prst="rect">
            <a:avLst/>
          </a:prstGeom>
        </p:spPr>
      </p:pic>
      <p:sp>
        <p:nvSpPr>
          <p:cNvPr id="8" name="Text 4"/>
          <p:cNvSpPr txBox="1"/>
          <p:nvPr/>
        </p:nvSpPr>
        <p:spPr>
          <a:xfrm>
            <a:off x="1143000" y="3520440"/>
            <a:ext cx="3154680" cy="457200"/>
          </a:xfrm>
          <a:prstGeom prst="rect">
            <a:avLst/>
          </a:prstGeom>
          <a:noFill/>
          <a:ln/>
        </p:spPr>
        <p:txBody>
          <a:bodyPr wrap="square" lIns="0" tIns="0" rIns="0" bIns="0" rtlCol="0" anchor="t"/>
          <a:lstStyle/>
          <a:p>
            <a:pPr indent="0" marL="0">
              <a:buNone/>
            </a:pPr>
            <a:r>
              <a:rPr lang="en-US" sz="2000" b="1" dirty="0">
                <a:solidFill>
                  <a:schemeClr val="accent2"/>
                </a:solidFill>
              </a:rPr>
              <a:t>Week of Oct 26</a:t>
            </a:r>
            <a:endParaRPr lang="en-US" sz="2000" dirty="0"/>
          </a:p>
        </p:txBody>
      </p:sp>
      <p:sp>
        <p:nvSpPr>
          <p:cNvPr id="9" name="Text 5"/>
          <p:cNvSpPr txBox="1"/>
          <p:nvPr/>
        </p:nvSpPr>
        <p:spPr>
          <a:xfrm>
            <a:off x="1143000" y="4023360"/>
            <a:ext cx="3154680" cy="1280160"/>
          </a:xfrm>
          <a:prstGeom prst="rect">
            <a:avLst/>
          </a:prstGeom>
          <a:noFill/>
          <a:ln/>
        </p:spPr>
        <p:txBody>
          <a:bodyPr wrap="square" lIns="0" tIns="0" rIns="0" bIns="0" rtlCol="0" anchor="t"/>
          <a:lstStyle/>
          <a:p>
            <a:pPr indent="0" marL="0">
              <a:buNone/>
            </a:pPr>
            <a:r>
              <a:rPr lang="en-US" sz="2500" b="1" dirty="0">
                <a:solidFill>
                  <a:schemeClr val="tx2"/>
                </a:solidFill>
              </a:rPr>
              <a:t>Business-model workshop</a:t>
            </a:r>
            <a:endParaRPr lang="en-US" sz="2500" dirty="0"/>
          </a:p>
        </p:txBody>
      </p:sp>
      <p:sp>
        <p:nvSpPr>
          <p:cNvPr id="10" name="Text 6"/>
          <p:cNvSpPr txBox="1"/>
          <p:nvPr/>
        </p:nvSpPr>
        <p:spPr>
          <a:xfrm>
            <a:off x="1143000" y="5349240"/>
            <a:ext cx="3154680" cy="685800"/>
          </a:xfrm>
          <a:prstGeom prst="rect">
            <a:avLst/>
          </a:prstGeom>
          <a:noFill/>
          <a:ln/>
        </p:spPr>
        <p:txBody>
          <a:bodyPr wrap="square" lIns="0" tIns="0" rIns="0" bIns="0" rtlCol="0" anchor="t"/>
          <a:lstStyle/>
          <a:p>
            <a:pPr indent="0" marL="0">
              <a:buNone/>
            </a:pPr>
            <a:r>
              <a:rPr lang="en-US" sz="1700" dirty="0">
                <a:solidFill>
                  <a:srgbClr val="6F6F6F"/>
                </a:solidFill>
              </a:rPr>
              <a:t>Founders + Intellias</a:t>
            </a:r>
            <a:endParaRPr lang="en-US" sz="1700" dirty="0"/>
          </a:p>
        </p:txBody>
      </p:sp>
      <p:sp>
        <p:nvSpPr>
          <p:cNvPr id="11" name="Shape 7"/>
          <p:cNvSpPr/>
          <p:nvPr/>
        </p:nvSpPr>
        <p:spPr>
          <a:xfrm>
            <a:off x="4690872" y="4114800"/>
            <a:ext cx="341071" cy="914"/>
          </a:xfrm>
          <a:prstGeom prst="line">
            <a:avLst/>
          </a:prstGeom>
          <a:noFill/>
          <a:ln w="38100">
            <a:solidFill>
              <a:srgbClr val="6F6F6F"/>
            </a:solidFill>
            <a:prstDash val="solid"/>
            <a:tailEnd type="triangle"/>
          </a:ln>
        </p:spPr>
      </p:sp>
      <p:sp>
        <p:nvSpPr>
          <p:cNvPr id="12" name="Shape 8"/>
          <p:cNvSpPr/>
          <p:nvPr/>
        </p:nvSpPr>
        <p:spPr>
          <a:xfrm>
            <a:off x="5105095" y="2103120"/>
            <a:ext cx="3794760" cy="4023360"/>
          </a:xfrm>
          <a:prstGeom prst="rect">
            <a:avLst/>
          </a:prstGeom>
          <a:solidFill>
            <a:schemeClr val="bg1"/>
          </a:solidFill>
          <a:ln w="12700">
            <a:solidFill>
              <a:schemeClr val="bg1"/>
            </a:solidFill>
            <a:prstDash val="solid"/>
          </a:ln>
        </p:spPr>
      </p:sp>
      <p:sp>
        <p:nvSpPr>
          <p:cNvPr id="13" name="Shape 9"/>
          <p:cNvSpPr/>
          <p:nvPr/>
        </p:nvSpPr>
        <p:spPr>
          <a:xfrm>
            <a:off x="5425135" y="2423160"/>
            <a:ext cx="868680" cy="868680"/>
          </a:xfrm>
          <a:prstGeom prst="ellipse">
            <a:avLst/>
          </a:prstGeom>
          <a:solidFill>
            <a:schemeClr val="accent1"/>
          </a:solidFill>
          <a:ln w="12700">
            <a:solidFill>
              <a:schemeClr val="accent1"/>
            </a:solidFill>
            <a:prstDash val="solid"/>
          </a:ln>
        </p:spPr>
      </p:sp>
      <p:pic>
        <p:nvPicPr>
          <p:cNvPr id="14" name="Image 1" descr="preencoded.png">    </p:cNvPr>
          <p:cNvPicPr>
            <a:picLocks noChangeAspect="1"/>
          </p:cNvPicPr>
          <p:nvPr/>
        </p:nvPicPr>
        <p:blipFill>
          <a:blip r:embed="rId2"/>
          <a:stretch>
            <a:fillRect/>
          </a:stretch>
        </p:blipFill>
        <p:spPr>
          <a:xfrm>
            <a:off x="5642305" y="2640330"/>
            <a:ext cx="434340" cy="434340"/>
          </a:xfrm>
          <a:prstGeom prst="rect">
            <a:avLst/>
          </a:prstGeom>
        </p:spPr>
      </p:pic>
      <p:sp>
        <p:nvSpPr>
          <p:cNvPr id="15" name="Text 10"/>
          <p:cNvSpPr txBox="1"/>
          <p:nvPr/>
        </p:nvSpPr>
        <p:spPr>
          <a:xfrm>
            <a:off x="5425135" y="3520440"/>
            <a:ext cx="3154680" cy="457200"/>
          </a:xfrm>
          <a:prstGeom prst="rect">
            <a:avLst/>
          </a:prstGeom>
          <a:noFill/>
          <a:ln/>
        </p:spPr>
        <p:txBody>
          <a:bodyPr wrap="square" lIns="0" tIns="0" rIns="0" bIns="0" rtlCol="0" anchor="t"/>
          <a:lstStyle/>
          <a:p>
            <a:pPr indent="0" marL="0">
              <a:buNone/>
            </a:pPr>
            <a:r>
              <a:rPr lang="en-US" sz="2000" b="1" dirty="0">
                <a:solidFill>
                  <a:schemeClr val="accent2"/>
                </a:solidFill>
              </a:rPr>
              <a:t>ASAP</a:t>
            </a:r>
            <a:endParaRPr lang="en-US" sz="2000" dirty="0"/>
          </a:p>
        </p:txBody>
      </p:sp>
      <p:sp>
        <p:nvSpPr>
          <p:cNvPr id="16" name="Text 11"/>
          <p:cNvSpPr txBox="1"/>
          <p:nvPr/>
        </p:nvSpPr>
        <p:spPr>
          <a:xfrm>
            <a:off x="5425135" y="4023360"/>
            <a:ext cx="3154680" cy="1280160"/>
          </a:xfrm>
          <a:prstGeom prst="rect">
            <a:avLst/>
          </a:prstGeom>
          <a:noFill/>
          <a:ln/>
        </p:spPr>
        <p:txBody>
          <a:bodyPr wrap="square" lIns="0" tIns="0" rIns="0" bIns="0" rtlCol="0" anchor="t"/>
          <a:lstStyle/>
          <a:p>
            <a:pPr indent="0" marL="0">
              <a:buNone/>
            </a:pPr>
            <a:r>
              <a:rPr lang="en-US" sz="2500" b="1" dirty="0">
                <a:solidFill>
                  <a:schemeClr val="tx2"/>
                </a:solidFill>
              </a:rPr>
              <a:t>AMPECO sandbox and ChargeLab API docs</a:t>
            </a:r>
            <a:endParaRPr lang="en-US" sz="2500" dirty="0"/>
          </a:p>
        </p:txBody>
      </p:sp>
      <p:sp>
        <p:nvSpPr>
          <p:cNvPr id="17" name="Text 12"/>
          <p:cNvSpPr txBox="1"/>
          <p:nvPr/>
        </p:nvSpPr>
        <p:spPr>
          <a:xfrm>
            <a:off x="5425135" y="5349240"/>
            <a:ext cx="3154680" cy="685800"/>
          </a:xfrm>
          <a:prstGeom prst="rect">
            <a:avLst/>
          </a:prstGeom>
          <a:noFill/>
          <a:ln/>
        </p:spPr>
        <p:txBody>
          <a:bodyPr wrap="square" lIns="0" tIns="0" rIns="0" bIns="0" rtlCol="0" anchor="t"/>
          <a:lstStyle/>
          <a:p>
            <a:pPr indent="0" marL="0">
              <a:buNone/>
            </a:pPr>
            <a:r>
              <a:rPr lang="en-US" sz="1700" dirty="0">
                <a:solidFill>
                  <a:srgbClr val="6F6F6F"/>
                </a:solidFill>
              </a:rPr>
              <a:t>Amperlane (Luis)</a:t>
            </a:r>
            <a:endParaRPr lang="en-US" sz="1700" dirty="0"/>
          </a:p>
        </p:txBody>
      </p:sp>
      <p:sp>
        <p:nvSpPr>
          <p:cNvPr id="18" name="Shape 13"/>
          <p:cNvSpPr/>
          <p:nvPr/>
        </p:nvSpPr>
        <p:spPr>
          <a:xfrm>
            <a:off x="8973007" y="4114800"/>
            <a:ext cx="341071" cy="914"/>
          </a:xfrm>
          <a:prstGeom prst="line">
            <a:avLst/>
          </a:prstGeom>
          <a:noFill/>
          <a:ln w="38100">
            <a:solidFill>
              <a:srgbClr val="6F6F6F"/>
            </a:solidFill>
            <a:prstDash val="solid"/>
            <a:tailEnd type="triangle"/>
          </a:ln>
        </p:spPr>
      </p:sp>
      <p:sp>
        <p:nvSpPr>
          <p:cNvPr id="19" name="Shape 14"/>
          <p:cNvSpPr/>
          <p:nvPr/>
        </p:nvSpPr>
        <p:spPr>
          <a:xfrm>
            <a:off x="9387230" y="2103120"/>
            <a:ext cx="3794760" cy="4023360"/>
          </a:xfrm>
          <a:prstGeom prst="rect">
            <a:avLst/>
          </a:prstGeom>
          <a:solidFill>
            <a:schemeClr val="bg1"/>
          </a:solidFill>
          <a:ln w="12700">
            <a:solidFill>
              <a:schemeClr val="bg1"/>
            </a:solidFill>
            <a:prstDash val="solid"/>
          </a:ln>
        </p:spPr>
      </p:sp>
      <p:sp>
        <p:nvSpPr>
          <p:cNvPr id="20" name="Shape 15"/>
          <p:cNvSpPr/>
          <p:nvPr/>
        </p:nvSpPr>
        <p:spPr>
          <a:xfrm>
            <a:off x="9707270" y="2423160"/>
            <a:ext cx="868680" cy="868680"/>
          </a:xfrm>
          <a:prstGeom prst="ellipse">
            <a:avLst/>
          </a:prstGeom>
          <a:solidFill>
            <a:schemeClr val="accent1"/>
          </a:solidFill>
          <a:ln w="12700">
            <a:solidFill>
              <a:schemeClr val="accent1"/>
            </a:solidFill>
            <a:prstDash val="solid"/>
          </a:ln>
        </p:spPr>
      </p:sp>
      <p:pic>
        <p:nvPicPr>
          <p:cNvPr id="21" name="Image 2" descr="preencoded.png">    </p:cNvPr>
          <p:cNvPicPr>
            <a:picLocks noChangeAspect="1"/>
          </p:cNvPicPr>
          <p:nvPr/>
        </p:nvPicPr>
        <p:blipFill>
          <a:blip r:embed="rId3"/>
          <a:stretch>
            <a:fillRect/>
          </a:stretch>
        </p:blipFill>
        <p:spPr>
          <a:xfrm>
            <a:off x="9924440" y="2640330"/>
            <a:ext cx="434340" cy="434340"/>
          </a:xfrm>
          <a:prstGeom prst="rect">
            <a:avLst/>
          </a:prstGeom>
        </p:spPr>
      </p:pic>
      <p:sp>
        <p:nvSpPr>
          <p:cNvPr id="22" name="Text 16"/>
          <p:cNvSpPr txBox="1"/>
          <p:nvPr/>
        </p:nvSpPr>
        <p:spPr>
          <a:xfrm>
            <a:off x="9707270" y="3520440"/>
            <a:ext cx="3154680" cy="457200"/>
          </a:xfrm>
          <a:prstGeom prst="rect">
            <a:avLst/>
          </a:prstGeom>
          <a:noFill/>
          <a:ln/>
        </p:spPr>
        <p:txBody>
          <a:bodyPr wrap="square" lIns="0" tIns="0" rIns="0" bIns="0" rtlCol="0" anchor="t"/>
          <a:lstStyle/>
          <a:p>
            <a:pPr indent="0" marL="0">
              <a:buNone/>
            </a:pPr>
            <a:r>
              <a:rPr lang="en-US" sz="2000" b="1" dirty="0">
                <a:solidFill>
                  <a:schemeClr val="accent2"/>
                </a:solidFill>
              </a:rPr>
              <a:t>Follow-up</a:t>
            </a:r>
            <a:endParaRPr lang="en-US" sz="2000" dirty="0"/>
          </a:p>
        </p:txBody>
      </p:sp>
      <p:sp>
        <p:nvSpPr>
          <p:cNvPr id="23" name="Text 17"/>
          <p:cNvSpPr txBox="1"/>
          <p:nvPr/>
        </p:nvSpPr>
        <p:spPr>
          <a:xfrm>
            <a:off x="9707270" y="4023360"/>
            <a:ext cx="3154680" cy="1280160"/>
          </a:xfrm>
          <a:prstGeom prst="rect">
            <a:avLst/>
          </a:prstGeom>
          <a:noFill/>
          <a:ln/>
        </p:spPr>
        <p:txBody>
          <a:bodyPr wrap="square" lIns="0" tIns="0" rIns="0" bIns="0" rtlCol="0" anchor="t"/>
          <a:lstStyle/>
          <a:p>
            <a:pPr indent="0" marL="0">
              <a:buNone/>
            </a:pPr>
            <a:r>
              <a:rPr lang="en-US" sz="2500" b="1" dirty="0">
                <a:solidFill>
                  <a:schemeClr val="tx2"/>
                </a:solidFill>
              </a:rPr>
              <a:t>Full raw pilot export (Airtable + Sheets)</a:t>
            </a:r>
            <a:endParaRPr lang="en-US" sz="2500" dirty="0"/>
          </a:p>
        </p:txBody>
      </p:sp>
      <p:sp>
        <p:nvSpPr>
          <p:cNvPr id="24" name="Text 18"/>
          <p:cNvSpPr txBox="1"/>
          <p:nvPr/>
        </p:nvSpPr>
        <p:spPr>
          <a:xfrm>
            <a:off x="9707270" y="5349240"/>
            <a:ext cx="3154680" cy="685800"/>
          </a:xfrm>
          <a:prstGeom prst="rect">
            <a:avLst/>
          </a:prstGeom>
          <a:noFill/>
          <a:ln/>
        </p:spPr>
        <p:txBody>
          <a:bodyPr wrap="square" lIns="0" tIns="0" rIns="0" bIns="0" rtlCol="0" anchor="t"/>
          <a:lstStyle/>
          <a:p>
            <a:pPr indent="0" marL="0">
              <a:buNone/>
            </a:pPr>
            <a:r>
              <a:rPr lang="en-US" sz="1700" dirty="0">
                <a:solidFill>
                  <a:srgbClr val="6F6F6F"/>
                </a:solidFill>
              </a:rPr>
              <a:t>Amperlane (Priya) · after the anonymised sample of Oct 5</a:t>
            </a:r>
            <a:endParaRPr lang="en-US" sz="1700" dirty="0"/>
          </a:p>
        </p:txBody>
      </p:sp>
      <p:sp>
        <p:nvSpPr>
          <p:cNvPr id="25" name="Shape 19"/>
          <p:cNvSpPr/>
          <p:nvPr/>
        </p:nvSpPr>
        <p:spPr>
          <a:xfrm>
            <a:off x="13255142" y="4114800"/>
            <a:ext cx="341071" cy="914"/>
          </a:xfrm>
          <a:prstGeom prst="line">
            <a:avLst/>
          </a:prstGeom>
          <a:noFill/>
          <a:ln w="38100">
            <a:solidFill>
              <a:srgbClr val="6F6F6F"/>
            </a:solidFill>
            <a:prstDash val="solid"/>
            <a:tailEnd type="triangle"/>
          </a:ln>
        </p:spPr>
      </p:sp>
      <p:sp>
        <p:nvSpPr>
          <p:cNvPr id="26" name="Shape 20"/>
          <p:cNvSpPr/>
          <p:nvPr/>
        </p:nvSpPr>
        <p:spPr>
          <a:xfrm>
            <a:off x="13669366" y="2103120"/>
            <a:ext cx="3794760" cy="4023360"/>
          </a:xfrm>
          <a:prstGeom prst="rect">
            <a:avLst/>
          </a:prstGeom>
          <a:solidFill>
            <a:schemeClr val="tx2"/>
          </a:solidFill>
          <a:ln w="12700">
            <a:solidFill>
              <a:schemeClr val="tx2"/>
            </a:solidFill>
            <a:prstDash val="solid"/>
          </a:ln>
        </p:spPr>
      </p:sp>
      <p:sp>
        <p:nvSpPr>
          <p:cNvPr id="27" name="Shape 21"/>
          <p:cNvSpPr/>
          <p:nvPr/>
        </p:nvSpPr>
        <p:spPr>
          <a:xfrm>
            <a:off x="13989406" y="2423160"/>
            <a:ext cx="868680" cy="868680"/>
          </a:xfrm>
          <a:prstGeom prst="ellipse">
            <a:avLst/>
          </a:prstGeom>
          <a:solidFill>
            <a:schemeClr val="accent1"/>
          </a:solidFill>
          <a:ln w="12700">
            <a:solidFill>
              <a:schemeClr val="accent1"/>
            </a:solidFill>
            <a:prstDash val="solid"/>
          </a:ln>
        </p:spPr>
      </p:sp>
      <p:pic>
        <p:nvPicPr>
          <p:cNvPr id="28" name="Image 3" descr="preencoded.png">    </p:cNvPr>
          <p:cNvPicPr>
            <a:picLocks noChangeAspect="1"/>
          </p:cNvPicPr>
          <p:nvPr/>
        </p:nvPicPr>
        <p:blipFill>
          <a:blip r:embed="rId4"/>
          <a:stretch>
            <a:fillRect/>
          </a:stretch>
        </p:blipFill>
        <p:spPr>
          <a:xfrm>
            <a:off x="14206576" y="2640330"/>
            <a:ext cx="434340" cy="434340"/>
          </a:xfrm>
          <a:prstGeom prst="rect">
            <a:avLst/>
          </a:prstGeom>
        </p:spPr>
      </p:pic>
      <p:sp>
        <p:nvSpPr>
          <p:cNvPr id="29" name="Text 22"/>
          <p:cNvSpPr txBox="1"/>
          <p:nvPr/>
        </p:nvSpPr>
        <p:spPr>
          <a:xfrm>
            <a:off x="13989406" y="3520440"/>
            <a:ext cx="3154680" cy="457200"/>
          </a:xfrm>
          <a:prstGeom prst="rect">
            <a:avLst/>
          </a:prstGeom>
          <a:noFill/>
          <a:ln/>
        </p:spPr>
        <p:txBody>
          <a:bodyPr wrap="square" lIns="0" tIns="0" rIns="0" bIns="0" rtlCol="0" anchor="t"/>
          <a:lstStyle/>
          <a:p>
            <a:pPr indent="0" marL="0">
              <a:buNone/>
            </a:pPr>
            <a:r>
              <a:rPr lang="en-US" sz="2000" b="1" dirty="0">
                <a:solidFill>
                  <a:schemeClr val="accent1"/>
                </a:solidFill>
              </a:rPr>
              <a:t>Nov 6</a:t>
            </a:r>
            <a:endParaRPr lang="en-US" sz="2000" dirty="0"/>
          </a:p>
        </p:txBody>
      </p:sp>
      <p:sp>
        <p:nvSpPr>
          <p:cNvPr id="30" name="Text 23"/>
          <p:cNvSpPr txBox="1"/>
          <p:nvPr/>
        </p:nvSpPr>
        <p:spPr>
          <a:xfrm>
            <a:off x="13989406" y="4023360"/>
            <a:ext cx="3154680" cy="1280160"/>
          </a:xfrm>
          <a:prstGeom prst="rect">
            <a:avLst/>
          </a:prstGeom>
          <a:noFill/>
          <a:ln/>
        </p:spPr>
        <p:txBody>
          <a:bodyPr wrap="square" lIns="0" tIns="0" rIns="0" bIns="0" rtlCol="0" anchor="t"/>
          <a:lstStyle/>
          <a:p>
            <a:pPr indent="0" marL="0">
              <a:buNone/>
            </a:pPr>
            <a:r>
              <a:rPr lang="en-US" sz="2500" b="1" dirty="0">
                <a:solidFill>
                  <a:schemeClr val="bg1"/>
                </a:solidFill>
              </a:rPr>
              <a:t>Costed proposal</a:t>
            </a:r>
            <a:endParaRPr lang="en-US" sz="2500" dirty="0"/>
          </a:p>
        </p:txBody>
      </p:sp>
      <p:sp>
        <p:nvSpPr>
          <p:cNvPr id="31" name="Text 24"/>
          <p:cNvSpPr txBox="1"/>
          <p:nvPr/>
        </p:nvSpPr>
        <p:spPr>
          <a:xfrm>
            <a:off x="13989406" y="5349240"/>
            <a:ext cx="3154680" cy="685800"/>
          </a:xfrm>
          <a:prstGeom prst="rect">
            <a:avLst/>
          </a:prstGeom>
          <a:noFill/>
          <a:ln/>
        </p:spPr>
        <p:txBody>
          <a:bodyPr wrap="square" lIns="0" tIns="0" rIns="0" bIns="0" rtlCol="0" anchor="t"/>
          <a:lstStyle/>
          <a:p>
            <a:pPr indent="0" marL="0">
              <a:buNone/>
            </a:pPr>
            <a:r>
              <a:rPr lang="en-US" sz="1700" dirty="0">
                <a:solidFill>
                  <a:srgbClr val="D0D0D0"/>
                </a:solidFill>
              </a:rPr>
              <a:t>Intellias</a:t>
            </a:r>
            <a:endParaRPr lang="en-US" sz="1700" dirty="0"/>
          </a:p>
        </p:txBody>
      </p:sp>
      <p:sp>
        <p:nvSpPr>
          <p:cNvPr id="32" name="Text 25"/>
          <p:cNvSpPr txBox="1"/>
          <p:nvPr/>
        </p:nvSpPr>
        <p:spPr>
          <a:xfrm>
            <a:off x="822960" y="6583680"/>
            <a:ext cx="9144000" cy="457200"/>
          </a:xfrm>
          <a:prstGeom prst="rect">
            <a:avLst/>
          </a:prstGeom>
          <a:noFill/>
          <a:ln/>
        </p:spPr>
        <p:txBody>
          <a:bodyPr wrap="square" lIns="0" tIns="0" rIns="0" bIns="0" rtlCol="0" anchor="t"/>
          <a:lstStyle/>
          <a:p>
            <a:pPr indent="0" marL="0">
              <a:buNone/>
            </a:pPr>
            <a:r>
              <a:rPr lang="en-US" sz="2000" b="1" dirty="0">
                <a:solidFill>
                  <a:srgbClr val="6F6F6F"/>
                </a:solidFill>
              </a:rPr>
              <a:t>Your Intellias team</a:t>
            </a:r>
            <a:endParaRPr lang="en-US" sz="2000" dirty="0"/>
          </a:p>
        </p:txBody>
      </p:sp>
      <p:sp>
        <p:nvSpPr>
          <p:cNvPr id="33" name="Text 26"/>
          <p:cNvSpPr txBox="1"/>
          <p:nvPr/>
        </p:nvSpPr>
        <p:spPr>
          <a:xfrm>
            <a:off x="822960" y="7178040"/>
            <a:ext cx="3794760" cy="1097280"/>
          </a:xfrm>
          <a:prstGeom prst="rect">
            <a:avLst/>
          </a:prstGeom>
          <a:noFill/>
          <a:ln/>
        </p:spPr>
        <p:txBody>
          <a:bodyPr wrap="square" lIns="0" tIns="0" rIns="0" bIns="0" rtlCol="0" anchor="t"/>
          <a:lstStyle/>
          <a:p>
            <a:pPr indent="0" marL="0">
              <a:buNone/>
            </a:pPr>
            <a:r>
              <a:rPr lang="en-US" sz="2400" b="1" dirty="0">
                <a:solidFill>
                  <a:schemeClr val="tx2"/>
                </a:solidFill>
              </a:rPr>
              <a:t>Mark Feldman</a:t>
            </a:r>
            <a:endParaRPr lang="en-US" sz="2400" dirty="0"/>
          </a:p>
          <a:p>
            <a:pPr indent="0" marL="0">
              <a:buNone/>
            </a:pPr>
            <a:r>
              <a:rPr lang="en-US" sz="1800" dirty="0">
                <a:solidFill>
                  <a:schemeClr val="tx1"/>
                </a:solidFill>
              </a:rPr>
              <a:t>Client Partner, North America</a:t>
            </a:r>
            <a:endParaRPr lang="en-US" sz="2400" dirty="0"/>
          </a:p>
        </p:txBody>
      </p:sp>
      <p:sp>
        <p:nvSpPr>
          <p:cNvPr id="34" name="Text 27"/>
          <p:cNvSpPr txBox="1"/>
          <p:nvPr/>
        </p:nvSpPr>
        <p:spPr>
          <a:xfrm>
            <a:off x="5105095" y="7178040"/>
            <a:ext cx="3794760" cy="1097280"/>
          </a:xfrm>
          <a:prstGeom prst="rect">
            <a:avLst/>
          </a:prstGeom>
          <a:noFill/>
          <a:ln/>
        </p:spPr>
        <p:txBody>
          <a:bodyPr wrap="square" lIns="0" tIns="0" rIns="0" bIns="0" rtlCol="0" anchor="t"/>
          <a:lstStyle/>
          <a:p>
            <a:pPr indent="0" marL="0">
              <a:buNone/>
            </a:pPr>
            <a:r>
              <a:rPr lang="en-US" sz="2400" b="1" dirty="0">
                <a:solidFill>
                  <a:schemeClr val="tx2"/>
                </a:solidFill>
              </a:rPr>
              <a:t>Kyrylo Shvedov</a:t>
            </a:r>
            <a:endParaRPr lang="en-US" sz="2400" dirty="0"/>
          </a:p>
          <a:p>
            <a:pPr indent="0" marL="0">
              <a:buNone/>
            </a:pPr>
            <a:r>
              <a:rPr lang="en-US" sz="1800" dirty="0">
                <a:solidFill>
                  <a:schemeClr val="tx1"/>
                </a:solidFill>
              </a:rPr>
              <a:t>Engagement Lead</a:t>
            </a:r>
            <a:endParaRPr lang="en-US" sz="2400" dirty="0"/>
          </a:p>
        </p:txBody>
      </p:sp>
      <p:sp>
        <p:nvSpPr>
          <p:cNvPr id="35" name="Text 28"/>
          <p:cNvSpPr txBox="1"/>
          <p:nvPr/>
        </p:nvSpPr>
        <p:spPr>
          <a:xfrm>
            <a:off x="9387230" y="7178040"/>
            <a:ext cx="3794760" cy="1097280"/>
          </a:xfrm>
          <a:prstGeom prst="rect">
            <a:avLst/>
          </a:prstGeom>
          <a:noFill/>
          <a:ln/>
        </p:spPr>
        <p:txBody>
          <a:bodyPr wrap="square" lIns="0" tIns="0" rIns="0" bIns="0" rtlCol="0" anchor="t"/>
          <a:lstStyle/>
          <a:p>
            <a:pPr indent="0" marL="0">
              <a:buNone/>
            </a:pPr>
            <a:r>
              <a:rPr lang="en-US" sz="2400" b="1" dirty="0">
                <a:solidFill>
                  <a:schemeClr val="tx2"/>
                </a:solidFill>
              </a:rPr>
              <a:t>Olena Marchuk</a:t>
            </a:r>
            <a:endParaRPr lang="en-US" sz="2400" dirty="0"/>
          </a:p>
          <a:p>
            <a:pPr indent="0" marL="0">
              <a:buNone/>
            </a:pPr>
            <a:r>
              <a:rPr lang="en-US" sz="1800" dirty="0">
                <a:solidFill>
                  <a:schemeClr val="tx1"/>
                </a:solidFill>
              </a:rPr>
              <a:t>Solution Architect</a:t>
            </a:r>
            <a:endParaRPr lang="en-US" sz="2400" dirty="0"/>
          </a:p>
        </p:txBody>
      </p:sp>
      <p:sp>
        <p:nvSpPr>
          <p:cNvPr id="36" name="Text 29"/>
          <p:cNvSpPr txBox="1"/>
          <p:nvPr/>
        </p:nvSpPr>
        <p:spPr>
          <a:xfrm>
            <a:off x="13669366" y="7178040"/>
            <a:ext cx="3794760" cy="1097280"/>
          </a:xfrm>
          <a:prstGeom prst="rect">
            <a:avLst/>
          </a:prstGeom>
          <a:noFill/>
          <a:ln/>
        </p:spPr>
        <p:txBody>
          <a:bodyPr wrap="square" lIns="0" tIns="0" rIns="0" bIns="0" rtlCol="0" anchor="t"/>
          <a:lstStyle/>
          <a:p>
            <a:pPr indent="0" marL="0">
              <a:buNone/>
            </a:pPr>
            <a:r>
              <a:rPr lang="en-US" sz="2400" b="1" dirty="0">
                <a:solidFill>
                  <a:schemeClr val="tx2"/>
                </a:solidFill>
              </a:rPr>
              <a:t>Andriy Bondar</a:t>
            </a:r>
            <a:endParaRPr lang="en-US" sz="2400" dirty="0"/>
          </a:p>
          <a:p>
            <a:pPr indent="0" marL="0">
              <a:buNone/>
            </a:pPr>
            <a:r>
              <a:rPr lang="en-US" sz="1800" dirty="0">
                <a:solidFill>
                  <a:schemeClr val="tx1"/>
                </a:solidFill>
              </a:rPr>
              <a:t>Payments &amp; Integrations Lead</a:t>
            </a:r>
            <a:endParaRPr lang="en-US" sz="2400" dirty="0"/>
          </a:p>
        </p:txBody>
      </p:sp>
      <p:sp>
        <p:nvSpPr>
          <p:cNvPr id="25" name="Slide Number Placeholder 0"/>
          <p:cNvSpPr>
            <a:spLocks noGrp="1"/>
          </p:cNvSpPr>
          <p:nvPr>
            <p:ph type="sldNum" sz="quarter" idx="4294967295"/>
          </p:nvPr>
        </p:nvSpPr>
        <p:spPr>
          <a:xfrm>
            <a:off x="16642080" y="9646920"/>
            <a:ext cx="822960" cy="347472"/>
          </a:xfrm>
          <a:prstGeom prst="rect">
            <a:avLst/>
          </a:prstGeom>
          <a:extLst>
            <a:ext uri="{C572A759-6A51-4108-AA02-DFA0A04FC94B}">
              <ma14:wrappingTextBoxFlag xmlns:ma14="http://schemas.microsoft.com/office/mac/drawingml/2011/main" val="0"/>
            </a:ext>
          </a:extLst>
        </p:spPr>
        <p:txBody>
          <a:bodyPr/>
          <a:lstStyle>
            <a:lvl1pPr>
              <a:defRPr sz="1500">
                <a:solidFill>
                  <a:schemeClr val="tx1"/>
                </a:solidFill>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Intellias">
  <a:themeElements>
    <a:clrScheme name="Intellias">
      <a:dk1>
        <a:srgbClr val="000000"/>
      </a:dk1>
      <a:lt1>
        <a:srgbClr val="FFFFFF"/>
      </a:lt1>
      <a:dk2>
        <a:srgbClr val="161616"/>
      </a:dk2>
      <a:lt2>
        <a:srgbClr val="F3F3F3"/>
      </a:lt2>
      <a:accent1>
        <a:srgbClr val="00EF99"/>
      </a:accent1>
      <a:accent2>
        <a:srgbClr val="6155F5"/>
      </a:accent2>
      <a:accent3>
        <a:srgbClr val="FA4616"/>
      </a:accent3>
      <a:accent4>
        <a:srgbClr val="00BCE1"/>
      </a:accent4>
      <a:accent5>
        <a:srgbClr val="2CC84D"/>
      </a:accent5>
      <a:accent6>
        <a:srgbClr val="FBDE40"/>
      </a:accent6>
      <a:hlink>
        <a:srgbClr val="00BCE1"/>
      </a:hlink>
      <a:folHlink>
        <a:srgbClr val="6155F5"/>
      </a:folHlink>
    </a:clrScheme>
    <a:fontScheme name="Intellias">
      <a:majorFont>
        <a:latin typeface="Intellias Medium"/>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llia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Amperlane Platform: Our understanding and solution direction</dc:title>
  <dc:subject>Prepared for Amperlane, Inc., October 16, 2026</dc:subject>
  <dc:creator>Intellias</dc:creator>
  <cp:lastModifiedBy>Intellias</cp:lastModifiedBy>
  <cp:revision>1</cp:revision>
  <dcterms:created xsi:type="dcterms:W3CDTF">2026-10-21T10:10:59Z</dcterms:created>
  <dcterms:modified xsi:type="dcterms:W3CDTF">2026-10-21T10:10:59Z</dcterms:modified>
</cp:coreProperties>
</file>