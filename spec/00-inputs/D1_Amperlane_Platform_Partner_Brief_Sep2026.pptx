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3a82ab9-9623-49f1-0458-2d12deb4e13f}">
          <p14:sldIdLst>
            <p14:sldId id="256"/>
            <p14:sldId id="257"/>
          </p14:sldIdLst>
        </p14:section>
        <p14:section name="Opportunity" id="{44d561d3-d3e4-0d3c-f18b-dd13ebc35c76}">
          <p14:sldIdLst>
            <p14:sldId id="258"/>
            <p14:sldId id="259"/>
          </p14:sldIdLst>
        </p14:section>
        <p14:section name="Product" id="{599d86c3-5dfe-0c23-80ef-505d67ecbb31}">
          <p14:sldIdLst>
            <p14:sldId id="260"/>
            <p14:sldId id="261"/>
          </p14:sldIdLst>
        </p14:section>
        <p14:section name="Traction and model" id="{b1c9463f-49d8-6a89-037e-e367cc9417d5}">
          <p14:sldIdLst>
            <p14:sldId id="262"/>
            <p14:sldId id="263"/>
          </p14:sldIdLst>
        </p14:section>
        <p14:section name="Platform" id="{4d769e7e-155b-a76f-65fb-3666a021a697}">
          <p14:sldIdLst>
            <p14:sldId id="264"/>
            <p14:sldId id="265"/>
          </p14:sldIdLst>
        </p14:section>
        <p14:section name="The ask" id="{1ffea9a4-d5ab-8943-0276-d77ea2f0558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Dana, co-founder and CEO of Amperlane. This is the brief we share with potential platform partners. Short version: we're the booking layer between EV fleets and fast chargers, we've proven it manually in Brooklyn and Queens, and now we need a partner to build the real platform with us.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founders, three sides of the market. I've lived the driver and fleet pain for nine years. Luis has sat on the station side and knows how chargers make money. Ravi built marketplace payouts at scale, which is exactly what a two-sided booking business needs. We closed a $5.5M seed in February led by Hudson Mobility Partners, with Gridline, and we're 14 people in Industry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sides, same problem: nobody coordinates. Our drivers burn thirty-plus minutes hunting for a free stall and waiting, plus the deadhead miles. Meanwhile stations sit idle most of the day: the CPUC puts California's public fast chargers at about 22% utilisation in Q1 2026, and that's the biggest EV state. Idle supply, frustrated demand. That's a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and why New York first. The TLC's Green Rides rule says 25% of rideshare trips this year have to be zero-emission or WAV, and it ramps to 100% by 2030. There are already over 13,000 electric FHVs, and only about 360 fast-charging ports in the city. And Revel, which ran its own electric rideshare, walked away from that business last August. The demand is mandated, the supply is scarce, and nobody is orchestrating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in one picture. Think of booking cinema seats: you see the grid, the grey ones are taken, the green ones are open, you tap one and it's yours. We do that for charging stalls. Driver sees open slots, books in two taps, shows up and plugs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station publishes its slots. The fleet or the driver books one. We send a reminder. The driver arrives, the stall is held, they plug in. And billing happens automatically, no cards at the pump, no chasing invoices. The driver only ever touches step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wait for software to prove this. Since last October we've run it as a concierge service: three sites, 46 fast ports, two fleets, about 2,300 bookings a month. Drivers went from a 31-minute median wait to six. And at Gowanus, off-peak utilisation went from 14 to 23 percent. Both sides win, and it's working today on spreadsheets and phone calls. Imagine it with a real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model. Stations pay us a 10 to 12 percent take rate on the charging GMV we bring them, because we're filling their chargers. Fleets pay a SaaS fee of 15 dollars per vehicle per month. Both are recurring, both grow with every metro. Our plan gets us to 4.8 million ARR in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picture v1. Drivers on a native iOS and Android app, fleet managers on a web portal. Everything goes through the booking engine in the middle. It talks to the chargers over OCPP so we can reserve in real time on every charger, pulls real-time station availability from the NREL API, battery data from the Tesla API, Google Maps for directions, and Stripe for payments. Ravi has opinions on the details; we're open to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wishlist. On the station side we want all the major CSMS: ChargePoint, EVgo, Electrify America, AMPECO, ChargeLab. On the driver side, Uber and Lyft driver apps, deep link plus data, because that's where our drivers live all day. Tesla for vehicle data, Stripe for money, NREL for station data. And open source wherever it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ask. We're looking for a partner to build Amperlane Platform v1 end to end: driver app, fleet portal, station portal, the booking engine, and the integrations. We want an MVP in 12 weeks, and we want to be in 10 US metros by the end of 2027. We move fast and we expect a partner who does too. Tell us how you'd approach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us. If this is the kind of problem your team wants to sink its teeth into, let's get on a call. Reach me directly at dana@amperlane.io.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L_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694944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977640"/>
            <a:ext cx="6949440" cy="82296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_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pic>
        <p:nvPicPr>
          <p:cNvPr id="4" name="Image 0" descr="preencoded.png">    </p:cNvPr>
          <p:cNvPicPr>
            <a:picLocks noChangeAspect="1"/>
          </p:cNvPicPr>
          <p:nvPr/>
        </p:nvPicPr>
        <p:blipFill>
          <a:blip r:embed="rId1"/>
          <a:stretch>
            <a:fillRect/>
          </a:stretch>
        </p:blipFill>
        <p:spPr>
          <a:xfrm>
            <a:off x="548640" y="6382512"/>
            <a:ext cx="237744" cy="237744"/>
          </a:xfrm>
          <a:prstGeom prst="rect">
            <a:avLst/>
          </a:prstGeom>
        </p:spPr>
      </p:pic>
      <p:sp>
        <p:nvSpPr>
          <p:cNvPr id="5" name="Text 0"/>
          <p:cNvSpPr/>
          <p:nvPr/>
        </p:nvSpPr>
        <p:spPr>
          <a:xfrm>
            <a:off x="868680" y="6364224"/>
            <a:ext cx="7315200" cy="274320"/>
          </a:xfrm>
          <a:prstGeom prst="rect">
            <a:avLst/>
          </a:prstGeom>
          <a:noFill/>
          <a:ln/>
        </p:spPr>
        <p:txBody>
          <a:bodyPr wrap="square" lIns="0" tIns="0" rIns="0" bIns="0" rtlCol="0" anchor="ctr"/>
          <a:lstStyle/>
          <a:p>
            <a:pPr indent="0" marL="0">
              <a:buNone/>
            </a:pPr>
            <a:r>
              <a:rPr lang="en-US" sz="1000" dirty="0">
                <a:solidFill>
                  <a:schemeClr val="tx2"/>
                </a:solidFill>
              </a:rPr>
              <a:t>amperlane  ·  Platform Partner Brief  ·  September 2026  ·  Confidential</a:t>
            </a:r>
            <a:endParaRPr lang="en-US" sz="10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L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mark" descr="preencoded.png">    </p:cNvPr>
          <p:cNvPicPr>
            <a:picLocks noChangeAspect="1"/>
          </p:cNvPicPr>
          <p:nvPr/>
        </p:nvPicPr>
        <p:blipFill>
          <a:blip r:embed="rId1"/>
          <a:stretch>
            <a:fillRect/>
          </a:stretch>
        </p:blipFill>
        <p:spPr>
          <a:xfrm>
            <a:off x="731520" y="822960"/>
            <a:ext cx="685800" cy="685800"/>
          </a:xfrm>
          <a:prstGeom prst="rect">
            <a:avLst/>
          </a:prstGeom>
        </p:spPr>
      </p:pic>
      <p:sp>
        <p:nvSpPr>
          <p:cNvPr id="3" name="Wordmark"/>
          <p:cNvSpPr txBox="1"/>
          <p:nvPr/>
        </p:nvSpPr>
        <p:spPr>
          <a:xfrm>
            <a:off x="1554480" y="822960"/>
            <a:ext cx="3657600" cy="685800"/>
          </a:xfrm>
          <a:prstGeom prst="rect">
            <a:avLst/>
          </a:prstGeom>
          <a:noFill/>
          <a:ln/>
        </p:spPr>
        <p:txBody>
          <a:bodyPr wrap="square" lIns="0" tIns="0" rIns="0" bIns="0" rtlCol="0" anchor="ctr"/>
          <a:lstStyle/>
          <a:p>
            <a:pPr indent="0" marL="0">
              <a:buNone/>
            </a:pPr>
            <a:r>
              <a:rPr lang="en-US" sz="3400" b="1" dirty="0">
                <a:solidFill>
                  <a:schemeClr val="bg1"/>
                </a:solidFill>
              </a:rPr>
              <a:t>amperlane</a:t>
            </a:r>
            <a:endParaRPr lang="en-US" sz="3400" dirty="0"/>
          </a:p>
        </p:txBody>
      </p:sp>
      <p:sp>
        <p:nvSpPr>
          <p:cNvPr id="4" name="Text 0"/>
          <p:cNvSpPr/>
          <p:nvPr>
            <p:ph idx="100" type="title" hasCustomPrompt="1"/>
          </p:nvPr>
        </p:nvSpPr>
        <p:spPr>
          <a:xfrm>
            <a:off x="731520" y="2743200"/>
            <a:ext cx="6949440" cy="1188720"/>
          </a:xfrm>
          <a:prstGeom prst="rect">
            <a:avLst/>
          </a:prstGeom>
          <a:noFill/>
          <a:ln/>
        </p:spPr>
        <p:txBody>
          <a:bodyPr wrap="square" lIns="0" tIns="0" rIns="0" bIns="0" rtlCol="0" anchor="t"/>
          <a:lstStyle/>
          <a:p>
            <a:pPr algn="l" indent="0" marL="0">
              <a:buNone/>
            </a:pPr>
            <a:r>
              <a:rPr lang="en-US" sz="4800" b="1" dirty="0">
                <a:solidFill>
                  <a:schemeClr val="bg1"/>
                </a:solidFill>
              </a:rPr>
              <a:t>Platform Partner Brief</a:t>
            </a:r>
            <a:endParaRPr lang="en-US" sz="4800" dirty="0"/>
          </a:p>
        </p:txBody>
      </p:sp>
      <p:sp>
        <p:nvSpPr>
          <p:cNvPr id="5" name="Text 0"/>
          <p:cNvSpPr/>
          <p:nvPr>
            <p:ph idx="101" type="body" hasCustomPrompt="1"/>
          </p:nvPr>
        </p:nvSpPr>
        <p:spPr>
          <a:xfrm>
            <a:off x="731520" y="3977640"/>
            <a:ext cx="6949440" cy="822960"/>
          </a:xfrm>
          <a:prstGeom prst="rect">
            <a:avLst/>
          </a:prstGeom>
          <a:noFill/>
          <a:ln/>
        </p:spPr>
        <p:txBody>
          <a:bodyPr wrap="square" lIns="0" tIns="0" rIns="0" bIns="0" rtlCol="0" anchor="t"/>
          <a:lstStyle/>
          <a:p>
            <a:pPr indent="0" marL="0">
              <a:buNone/>
            </a:pPr>
            <a:r>
              <a:rPr lang="en-US" sz="2200" dirty="0">
                <a:solidFill>
                  <a:schemeClr val="accent1"/>
                </a:solidFill>
              </a:rPr>
              <a:t>The booking layer between EV fleets and fast chargers.</a:t>
            </a:r>
            <a:endParaRPr lang="en-US" sz="2200" dirty="0"/>
          </a:p>
        </p:txBody>
      </p:sp>
      <p:sp>
        <p:nvSpPr>
          <p:cNvPr id="6" name="Date"/>
          <p:cNvSpPr txBox="1"/>
          <p:nvPr/>
        </p:nvSpPr>
        <p:spPr>
          <a:xfrm>
            <a:off x="731520" y="5760720"/>
            <a:ext cx="5486400" cy="365760"/>
          </a:xfrm>
          <a:prstGeom prst="rect">
            <a:avLst/>
          </a:prstGeom>
          <a:noFill/>
          <a:ln/>
        </p:spPr>
        <p:txBody>
          <a:bodyPr wrap="square" lIns="0" tIns="0" rIns="0" bIns="0" rtlCol="0" anchor="ctr"/>
          <a:lstStyle/>
          <a:p>
            <a:pPr indent="0" marL="0">
              <a:buNone/>
            </a:pPr>
            <a:r>
              <a:rPr lang="en-US" sz="1400" dirty="0">
                <a:solidFill>
                  <a:schemeClr val="accent6"/>
                </a:solidFill>
              </a:rPr>
              <a:t>September 2026  ·  Confidential</a:t>
            </a:r>
            <a:endParaRPr lang="en-US" sz="1400" dirty="0"/>
          </a:p>
        </p:txBody>
      </p:sp>
      <p:pic>
        <p:nvPicPr>
          <p:cNvPr id="7" name="Hero mark" descr="preencoded.png">    </p:cNvPr>
          <p:cNvPicPr>
            <a:picLocks noChangeAspect="1"/>
          </p:cNvPicPr>
          <p:nvPr/>
        </p:nvPicPr>
        <p:blipFill>
          <a:blip r:embed="rId2"/>
          <a:stretch>
            <a:fillRect/>
          </a:stretch>
        </p:blipFill>
        <p:spPr>
          <a:xfrm>
            <a:off x="7863840" y="1097280"/>
            <a:ext cx="4206240" cy="4206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WHO WE ARE</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Fleet operators, charging insiders, payments pros</a:t>
            </a:r>
            <a:endParaRPr lang="en-US" sz="3600" dirty="0"/>
          </a:p>
        </p:txBody>
      </p:sp>
      <p:sp>
        <p:nvSpPr>
          <p:cNvPr id="4" name="Founder card"/>
          <p:cNvSpPr/>
          <p:nvPr/>
        </p:nvSpPr>
        <p:spPr>
          <a:xfrm>
            <a:off x="548640" y="1783080"/>
            <a:ext cx="3474720" cy="2606040"/>
          </a:xfrm>
          <a:prstGeom prst="roundRect">
            <a:avLst>
              <a:gd name="adj" fmla="val 421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Avatar"/>
          <p:cNvSpPr/>
          <p:nvPr/>
        </p:nvSpPr>
        <p:spPr>
          <a:xfrm>
            <a:off x="868680" y="2103120"/>
            <a:ext cx="777240" cy="777240"/>
          </a:xfrm>
          <a:prstGeom prst="ellipse">
            <a:avLst/>
          </a:prstGeom>
          <a:solidFill>
            <a:schemeClr val="tx1"/>
          </a:solidFill>
          <a:ln w="12700">
            <a:solidFill>
              <a:schemeClr val="tx1"/>
            </a:solidFill>
            <a:prstDash val="solid"/>
          </a:ln>
        </p:spPr>
      </p:sp>
      <p:sp>
        <p:nvSpPr>
          <p:cNvPr id="6" name="Text 4"/>
          <p:cNvSpPr txBox="1"/>
          <p:nvPr/>
        </p:nvSpPr>
        <p:spPr>
          <a:xfrm>
            <a:off x="868680" y="2103120"/>
            <a:ext cx="777240" cy="777240"/>
          </a:xfrm>
          <a:prstGeom prst="rect">
            <a:avLst/>
          </a:prstGeom>
          <a:noFill/>
          <a:ln/>
        </p:spPr>
        <p:txBody>
          <a:bodyPr wrap="square" lIns="0" tIns="0" rIns="0" bIns="0" rtlCol="0" anchor="ctr"/>
          <a:lstStyle/>
          <a:p>
            <a:pPr algn="ctr" indent="0" marL="0">
              <a:buNone/>
            </a:pPr>
            <a:r>
              <a:rPr lang="en-US" sz="1800" b="1" dirty="0">
                <a:solidFill>
                  <a:schemeClr val="accent1"/>
                </a:solidFill>
              </a:rPr>
              <a:t>DW</a:t>
            </a:r>
            <a:endParaRPr lang="en-US" sz="1800" dirty="0"/>
          </a:p>
        </p:txBody>
      </p:sp>
      <p:sp>
        <p:nvSpPr>
          <p:cNvPr id="7" name="Text 5"/>
          <p:cNvSpPr txBox="1"/>
          <p:nvPr/>
        </p:nvSpPr>
        <p:spPr>
          <a:xfrm>
            <a:off x="1828800" y="2130552"/>
            <a:ext cx="2011680" cy="384048"/>
          </a:xfrm>
          <a:prstGeom prst="rect">
            <a:avLst/>
          </a:prstGeom>
          <a:noFill/>
          <a:ln/>
        </p:spPr>
        <p:txBody>
          <a:bodyPr wrap="square" lIns="0" tIns="0" rIns="0" bIns="0" rtlCol="0" anchor="ctr"/>
          <a:lstStyle/>
          <a:p>
            <a:pPr indent="0" marL="0">
              <a:buNone/>
            </a:pPr>
            <a:r>
              <a:rPr lang="en-US" sz="1800" b="1" dirty="0">
                <a:solidFill>
                  <a:schemeClr val="tx1"/>
                </a:solidFill>
              </a:rPr>
              <a:t>Dana Whitfield</a:t>
            </a:r>
            <a:endParaRPr lang="en-US" sz="1800" dirty="0"/>
          </a:p>
        </p:txBody>
      </p:sp>
      <p:sp>
        <p:nvSpPr>
          <p:cNvPr id="8" name="Text 6"/>
          <p:cNvSpPr txBox="1"/>
          <p:nvPr/>
        </p:nvSpPr>
        <p:spPr>
          <a:xfrm>
            <a:off x="1828800" y="2514600"/>
            <a:ext cx="2011680" cy="347472"/>
          </a:xfrm>
          <a:prstGeom prst="rect">
            <a:avLst/>
          </a:prstGeom>
          <a:noFill/>
          <a:ln/>
        </p:spPr>
        <p:txBody>
          <a:bodyPr wrap="square" lIns="0" tIns="0" rIns="0" bIns="0" rtlCol="0" anchor="ctr"/>
          <a:lstStyle/>
          <a:p>
            <a:pPr indent="0" marL="0">
              <a:buNone/>
            </a:pPr>
            <a:r>
              <a:rPr lang="en-US" sz="1300" b="1" dirty="0">
                <a:solidFill>
                  <a:schemeClr val="accent5"/>
                </a:solidFill>
              </a:rPr>
              <a:t>Co-founder &amp; CEO</a:t>
            </a:r>
            <a:endParaRPr lang="en-US" sz="1300" dirty="0"/>
          </a:p>
        </p:txBody>
      </p:sp>
      <p:sp>
        <p:nvSpPr>
          <p:cNvPr id="9" name="Text 7"/>
          <p:cNvSpPr txBox="1"/>
          <p:nvPr/>
        </p:nvSpPr>
        <p:spPr>
          <a:xfrm>
            <a:off x="868680" y="3063240"/>
            <a:ext cx="2834640" cy="1188720"/>
          </a:xfrm>
          <a:prstGeom prst="rect">
            <a:avLst/>
          </a:prstGeom>
          <a:noFill/>
          <a:ln/>
        </p:spPr>
        <p:txBody>
          <a:bodyPr wrap="square" lIns="0" tIns="0" rIns="0" bIns="0" rtlCol="0" anchor="t"/>
          <a:lstStyle/>
          <a:p>
            <a:pPr indent="0" marL="0">
              <a:buNone/>
            </a:pPr>
            <a:r>
              <a:rPr lang="en-US" sz="1400" dirty="0">
                <a:solidFill>
                  <a:schemeClr val="tx1"/>
                </a:solidFill>
              </a:rPr>
              <a:t>9 years in NYC for-hire vehicles. Ran EV charging logistics for ~300 leased rideshare EVs as Director of Fleet Operations at a Queens FHV base.</a:t>
            </a:r>
            <a:endParaRPr lang="en-US" sz="1400" dirty="0"/>
          </a:p>
        </p:txBody>
      </p:sp>
      <p:sp>
        <p:nvSpPr>
          <p:cNvPr id="10" name="Founder card"/>
          <p:cNvSpPr/>
          <p:nvPr/>
        </p:nvSpPr>
        <p:spPr>
          <a:xfrm>
            <a:off x="4343400" y="1783080"/>
            <a:ext cx="3474720" cy="2606040"/>
          </a:xfrm>
          <a:prstGeom prst="roundRect">
            <a:avLst>
              <a:gd name="adj" fmla="val 421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1" name="Avatar"/>
          <p:cNvSpPr/>
          <p:nvPr/>
        </p:nvSpPr>
        <p:spPr>
          <a:xfrm>
            <a:off x="4663440" y="2103120"/>
            <a:ext cx="777240" cy="777240"/>
          </a:xfrm>
          <a:prstGeom prst="ellipse">
            <a:avLst/>
          </a:prstGeom>
          <a:solidFill>
            <a:schemeClr val="tx1"/>
          </a:solidFill>
          <a:ln w="12700">
            <a:solidFill>
              <a:schemeClr val="tx1"/>
            </a:solidFill>
            <a:prstDash val="solid"/>
          </a:ln>
        </p:spPr>
      </p:sp>
      <p:sp>
        <p:nvSpPr>
          <p:cNvPr id="12" name="Text 10"/>
          <p:cNvSpPr txBox="1"/>
          <p:nvPr/>
        </p:nvSpPr>
        <p:spPr>
          <a:xfrm>
            <a:off x="4663440" y="2103120"/>
            <a:ext cx="777240" cy="777240"/>
          </a:xfrm>
          <a:prstGeom prst="rect">
            <a:avLst/>
          </a:prstGeom>
          <a:noFill/>
          <a:ln/>
        </p:spPr>
        <p:txBody>
          <a:bodyPr wrap="square" lIns="0" tIns="0" rIns="0" bIns="0" rtlCol="0" anchor="ctr"/>
          <a:lstStyle/>
          <a:p>
            <a:pPr algn="ctr" indent="0" marL="0">
              <a:buNone/>
            </a:pPr>
            <a:r>
              <a:rPr lang="en-US" sz="1800" b="1" dirty="0">
                <a:solidFill>
                  <a:schemeClr val="accent1"/>
                </a:solidFill>
              </a:rPr>
              <a:t>LO</a:t>
            </a:r>
            <a:endParaRPr lang="en-US" sz="1800" dirty="0"/>
          </a:p>
        </p:txBody>
      </p:sp>
      <p:sp>
        <p:nvSpPr>
          <p:cNvPr id="13" name="Text 11"/>
          <p:cNvSpPr txBox="1"/>
          <p:nvPr/>
        </p:nvSpPr>
        <p:spPr>
          <a:xfrm>
            <a:off x="5623560" y="2130552"/>
            <a:ext cx="2011680" cy="384048"/>
          </a:xfrm>
          <a:prstGeom prst="rect">
            <a:avLst/>
          </a:prstGeom>
          <a:noFill/>
          <a:ln/>
        </p:spPr>
        <p:txBody>
          <a:bodyPr wrap="square" lIns="0" tIns="0" rIns="0" bIns="0" rtlCol="0" anchor="ctr"/>
          <a:lstStyle/>
          <a:p>
            <a:pPr indent="0" marL="0">
              <a:buNone/>
            </a:pPr>
            <a:r>
              <a:rPr lang="en-US" sz="1800" b="1" dirty="0">
                <a:solidFill>
                  <a:schemeClr val="tx1"/>
                </a:solidFill>
              </a:rPr>
              <a:t>Luis Ortega</a:t>
            </a:r>
            <a:endParaRPr lang="en-US" sz="1800" dirty="0"/>
          </a:p>
        </p:txBody>
      </p:sp>
      <p:sp>
        <p:nvSpPr>
          <p:cNvPr id="14" name="Text 12"/>
          <p:cNvSpPr txBox="1"/>
          <p:nvPr/>
        </p:nvSpPr>
        <p:spPr>
          <a:xfrm>
            <a:off x="5623560" y="2514600"/>
            <a:ext cx="2011680" cy="347472"/>
          </a:xfrm>
          <a:prstGeom prst="rect">
            <a:avLst/>
          </a:prstGeom>
          <a:noFill/>
          <a:ln/>
        </p:spPr>
        <p:txBody>
          <a:bodyPr wrap="square" lIns="0" tIns="0" rIns="0" bIns="0" rtlCol="0" anchor="ctr"/>
          <a:lstStyle/>
          <a:p>
            <a:pPr indent="0" marL="0">
              <a:buNone/>
            </a:pPr>
            <a:r>
              <a:rPr lang="en-US" sz="1300" b="1" dirty="0">
                <a:solidFill>
                  <a:schemeClr val="accent5"/>
                </a:solidFill>
              </a:rPr>
              <a:t>Co-founder &amp; COO, Partnerships</a:t>
            </a:r>
            <a:endParaRPr lang="en-US" sz="1300" dirty="0"/>
          </a:p>
        </p:txBody>
      </p:sp>
      <p:sp>
        <p:nvSpPr>
          <p:cNvPr id="15" name="Text 13"/>
          <p:cNvSpPr txBox="1"/>
          <p:nvPr/>
        </p:nvSpPr>
        <p:spPr>
          <a:xfrm>
            <a:off x="4663440" y="3063240"/>
            <a:ext cx="2834640" cy="1188720"/>
          </a:xfrm>
          <a:prstGeom prst="rect">
            <a:avLst/>
          </a:prstGeom>
          <a:noFill/>
          <a:ln/>
        </p:spPr>
        <p:txBody>
          <a:bodyPr wrap="square" lIns="0" tIns="0" rIns="0" bIns="0" rtlCol="0" anchor="t"/>
          <a:lstStyle/>
          <a:p>
            <a:pPr indent="0" marL="0">
              <a:buNone/>
            </a:pPr>
            <a:r>
              <a:rPr lang="en-US" sz="1400" dirty="0">
                <a:solidFill>
                  <a:schemeClr val="tx1"/>
                </a:solidFill>
              </a:rPr>
              <a:t>6 years in site acquisition and partnerships at a US DC fast-charging network. Knows charging economics from the inside.</a:t>
            </a:r>
            <a:endParaRPr lang="en-US" sz="1400" dirty="0"/>
          </a:p>
        </p:txBody>
      </p:sp>
      <p:sp>
        <p:nvSpPr>
          <p:cNvPr id="16" name="Founder card"/>
          <p:cNvSpPr/>
          <p:nvPr/>
        </p:nvSpPr>
        <p:spPr>
          <a:xfrm>
            <a:off x="8138160" y="1783080"/>
            <a:ext cx="3474720" cy="2606040"/>
          </a:xfrm>
          <a:prstGeom prst="roundRect">
            <a:avLst>
              <a:gd name="adj" fmla="val 421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7" name="Avatar"/>
          <p:cNvSpPr/>
          <p:nvPr/>
        </p:nvSpPr>
        <p:spPr>
          <a:xfrm>
            <a:off x="8458200" y="2103120"/>
            <a:ext cx="777240" cy="777240"/>
          </a:xfrm>
          <a:prstGeom prst="ellipse">
            <a:avLst/>
          </a:prstGeom>
          <a:solidFill>
            <a:schemeClr val="tx1"/>
          </a:solidFill>
          <a:ln w="12700">
            <a:solidFill>
              <a:schemeClr val="tx1"/>
            </a:solidFill>
            <a:prstDash val="solid"/>
          </a:ln>
        </p:spPr>
      </p:sp>
      <p:sp>
        <p:nvSpPr>
          <p:cNvPr id="18" name="Text 16"/>
          <p:cNvSpPr txBox="1"/>
          <p:nvPr/>
        </p:nvSpPr>
        <p:spPr>
          <a:xfrm>
            <a:off x="8458200" y="2103120"/>
            <a:ext cx="777240" cy="777240"/>
          </a:xfrm>
          <a:prstGeom prst="rect">
            <a:avLst/>
          </a:prstGeom>
          <a:noFill/>
          <a:ln/>
        </p:spPr>
        <p:txBody>
          <a:bodyPr wrap="square" lIns="0" tIns="0" rIns="0" bIns="0" rtlCol="0" anchor="ctr"/>
          <a:lstStyle/>
          <a:p>
            <a:pPr algn="ctr" indent="0" marL="0">
              <a:buNone/>
            </a:pPr>
            <a:r>
              <a:rPr lang="en-US" sz="1800" b="1" dirty="0">
                <a:solidFill>
                  <a:schemeClr val="accent1"/>
                </a:solidFill>
              </a:rPr>
              <a:t>RM</a:t>
            </a:r>
            <a:endParaRPr lang="en-US" sz="1800" dirty="0"/>
          </a:p>
        </p:txBody>
      </p:sp>
      <p:sp>
        <p:nvSpPr>
          <p:cNvPr id="19" name="Text 17"/>
          <p:cNvSpPr txBox="1"/>
          <p:nvPr/>
        </p:nvSpPr>
        <p:spPr>
          <a:xfrm>
            <a:off x="9418320" y="2130552"/>
            <a:ext cx="2011680" cy="384048"/>
          </a:xfrm>
          <a:prstGeom prst="rect">
            <a:avLst/>
          </a:prstGeom>
          <a:noFill/>
          <a:ln/>
        </p:spPr>
        <p:txBody>
          <a:bodyPr wrap="square" lIns="0" tIns="0" rIns="0" bIns="0" rtlCol="0" anchor="ctr"/>
          <a:lstStyle/>
          <a:p>
            <a:pPr indent="0" marL="0">
              <a:buNone/>
            </a:pPr>
            <a:r>
              <a:rPr lang="en-US" sz="1800" b="1" dirty="0">
                <a:solidFill>
                  <a:schemeClr val="tx1"/>
                </a:solidFill>
              </a:rPr>
              <a:t>Ravi Menon</a:t>
            </a:r>
            <a:endParaRPr lang="en-US" sz="1800" dirty="0"/>
          </a:p>
        </p:txBody>
      </p:sp>
      <p:sp>
        <p:nvSpPr>
          <p:cNvPr id="20" name="Text 18"/>
          <p:cNvSpPr txBox="1"/>
          <p:nvPr/>
        </p:nvSpPr>
        <p:spPr>
          <a:xfrm>
            <a:off x="9418320" y="2514600"/>
            <a:ext cx="2011680" cy="347472"/>
          </a:xfrm>
          <a:prstGeom prst="rect">
            <a:avLst/>
          </a:prstGeom>
          <a:noFill/>
          <a:ln/>
        </p:spPr>
        <p:txBody>
          <a:bodyPr wrap="square" lIns="0" tIns="0" rIns="0" bIns="0" rtlCol="0" anchor="ctr"/>
          <a:lstStyle/>
          <a:p>
            <a:pPr indent="0" marL="0">
              <a:buNone/>
            </a:pPr>
            <a:r>
              <a:rPr lang="en-US" sz="1300" b="1" dirty="0">
                <a:solidFill>
                  <a:schemeClr val="accent5"/>
                </a:solidFill>
              </a:rPr>
              <a:t>Co-founder &amp; CTO</a:t>
            </a:r>
            <a:endParaRPr lang="en-US" sz="1300" dirty="0"/>
          </a:p>
        </p:txBody>
      </p:sp>
      <p:sp>
        <p:nvSpPr>
          <p:cNvPr id="21" name="Text 19"/>
          <p:cNvSpPr txBox="1"/>
          <p:nvPr/>
        </p:nvSpPr>
        <p:spPr>
          <a:xfrm>
            <a:off x="8458200" y="3063240"/>
            <a:ext cx="2834640" cy="1188720"/>
          </a:xfrm>
          <a:prstGeom prst="rect">
            <a:avLst/>
          </a:prstGeom>
          <a:noFill/>
          <a:ln/>
        </p:spPr>
        <p:txBody>
          <a:bodyPr wrap="square" lIns="0" tIns="0" rIns="0" bIns="0" rtlCol="0" anchor="t"/>
          <a:lstStyle/>
          <a:p>
            <a:pPr indent="0" marL="0">
              <a:buNone/>
            </a:pPr>
            <a:r>
              <a:rPr lang="en-US" sz="1400" dirty="0">
                <a:solidFill>
                  <a:schemeClr val="tx1"/>
                </a:solidFill>
              </a:rPr>
              <a:t>Former staff engineer on marketplace payouts infrastructure at a NYC fintech. Joined January 2025.</a:t>
            </a:r>
            <a:endParaRPr lang="en-US" sz="1400" dirty="0"/>
          </a:p>
        </p:txBody>
      </p:sp>
      <p:sp>
        <p:nvSpPr>
          <p:cNvPr id="22" name="Fact panel"/>
          <p:cNvSpPr/>
          <p:nvPr/>
        </p:nvSpPr>
        <p:spPr>
          <a:xfrm>
            <a:off x="548640" y="4663440"/>
            <a:ext cx="11064240" cy="1188720"/>
          </a:xfrm>
          <a:prstGeom prst="roundRect">
            <a:avLst>
              <a:gd name="adj" fmla="val 9231"/>
            </a:avLst>
          </a:prstGeom>
          <a:solidFill>
            <a:schemeClr val="tx1"/>
          </a:solidFill>
          <a:ln w="12700">
            <a:solidFill>
              <a:schemeClr val="tx1"/>
            </a:solidFill>
            <a:prstDash val="solid"/>
          </a:ln>
        </p:spPr>
      </p:sp>
      <p:sp>
        <p:nvSpPr>
          <p:cNvPr id="23" name="Text 21"/>
          <p:cNvSpPr txBox="1"/>
          <p:nvPr/>
        </p:nvSpPr>
        <p:spPr>
          <a:xfrm>
            <a:off x="868680" y="4800600"/>
            <a:ext cx="3291840" cy="457200"/>
          </a:xfrm>
          <a:prstGeom prst="rect">
            <a:avLst/>
          </a:prstGeom>
          <a:noFill/>
          <a:ln/>
        </p:spPr>
        <p:txBody>
          <a:bodyPr wrap="square" lIns="0" tIns="0" rIns="0" bIns="0" rtlCol="0" anchor="ctr"/>
          <a:lstStyle/>
          <a:p>
            <a:pPr indent="0" marL="0">
              <a:buNone/>
            </a:pPr>
            <a:r>
              <a:rPr lang="en-US" sz="2600" b="1" dirty="0">
                <a:solidFill>
                  <a:schemeClr val="accent1"/>
                </a:solidFill>
              </a:rPr>
              <a:t>$5.5M</a:t>
            </a:r>
            <a:endParaRPr lang="en-US" sz="2600" dirty="0"/>
          </a:p>
        </p:txBody>
      </p:sp>
      <p:sp>
        <p:nvSpPr>
          <p:cNvPr id="24" name="Text 22"/>
          <p:cNvSpPr txBox="1"/>
          <p:nvPr/>
        </p:nvSpPr>
        <p:spPr>
          <a:xfrm>
            <a:off x="868680" y="5285232"/>
            <a:ext cx="3291840" cy="457200"/>
          </a:xfrm>
          <a:prstGeom prst="rect">
            <a:avLst/>
          </a:prstGeom>
          <a:noFill/>
          <a:ln/>
        </p:spPr>
        <p:txBody>
          <a:bodyPr wrap="square" lIns="0" tIns="0" rIns="0" bIns="0" rtlCol="0" anchor="t"/>
          <a:lstStyle/>
          <a:p>
            <a:pPr indent="0" marL="0">
              <a:buNone/>
            </a:pPr>
            <a:r>
              <a:rPr lang="en-US" sz="1200" dirty="0">
                <a:solidFill>
                  <a:schemeClr val="bg1"/>
                </a:solidFill>
              </a:rPr>
              <a:t>Seed, February 2026. Led by Hudson Mobility Partners, with Gridline Ventures</a:t>
            </a:r>
            <a:endParaRPr lang="en-US" sz="1200" dirty="0"/>
          </a:p>
        </p:txBody>
      </p:sp>
      <p:sp>
        <p:nvSpPr>
          <p:cNvPr id="25" name="Text 23"/>
          <p:cNvSpPr txBox="1"/>
          <p:nvPr/>
        </p:nvSpPr>
        <p:spPr>
          <a:xfrm>
            <a:off x="4526280" y="4800600"/>
            <a:ext cx="3291840" cy="457200"/>
          </a:xfrm>
          <a:prstGeom prst="rect">
            <a:avLst/>
          </a:prstGeom>
          <a:noFill/>
          <a:ln/>
        </p:spPr>
        <p:txBody>
          <a:bodyPr wrap="square" lIns="0" tIns="0" rIns="0" bIns="0" rtlCol="0" anchor="ctr"/>
          <a:lstStyle/>
          <a:p>
            <a:pPr indent="0" marL="0">
              <a:buNone/>
            </a:pPr>
            <a:r>
              <a:rPr lang="en-US" sz="2600" b="1" dirty="0">
                <a:solidFill>
                  <a:schemeClr val="accent1"/>
                </a:solidFill>
              </a:rPr>
              <a:t>14</a:t>
            </a:r>
            <a:endParaRPr lang="en-US" sz="2600" dirty="0"/>
          </a:p>
        </p:txBody>
      </p:sp>
      <p:sp>
        <p:nvSpPr>
          <p:cNvPr id="26" name="Text 24"/>
          <p:cNvSpPr txBox="1"/>
          <p:nvPr/>
        </p:nvSpPr>
        <p:spPr>
          <a:xfrm>
            <a:off x="4526280" y="5285232"/>
            <a:ext cx="3291840" cy="457200"/>
          </a:xfrm>
          <a:prstGeom prst="rect">
            <a:avLst/>
          </a:prstGeom>
          <a:noFill/>
          <a:ln/>
        </p:spPr>
        <p:txBody>
          <a:bodyPr wrap="square" lIns="0" tIns="0" rIns="0" bIns="0" rtlCol="0" anchor="t"/>
          <a:lstStyle/>
          <a:p>
            <a:pPr indent="0" marL="0">
              <a:buNone/>
            </a:pPr>
            <a:r>
              <a:rPr lang="en-US" sz="1200" dirty="0">
                <a:solidFill>
                  <a:schemeClr val="bg1"/>
                </a:solidFill>
              </a:rPr>
              <a:t>people across ops, partnerships, product and engineering</a:t>
            </a:r>
            <a:endParaRPr lang="en-US" sz="1200" dirty="0"/>
          </a:p>
        </p:txBody>
      </p:sp>
      <p:sp>
        <p:nvSpPr>
          <p:cNvPr id="27" name="Text 25"/>
          <p:cNvSpPr txBox="1"/>
          <p:nvPr/>
        </p:nvSpPr>
        <p:spPr>
          <a:xfrm>
            <a:off x="8183880" y="4800600"/>
            <a:ext cx="3291840" cy="457200"/>
          </a:xfrm>
          <a:prstGeom prst="rect">
            <a:avLst/>
          </a:prstGeom>
          <a:noFill/>
          <a:ln/>
        </p:spPr>
        <p:txBody>
          <a:bodyPr wrap="square" lIns="0" tIns="0" rIns="0" bIns="0" rtlCol="0" anchor="ctr"/>
          <a:lstStyle/>
          <a:p>
            <a:pPr indent="0" marL="0">
              <a:buNone/>
            </a:pPr>
            <a:r>
              <a:rPr lang="en-US" sz="2600" b="1" dirty="0">
                <a:solidFill>
                  <a:schemeClr val="accent1"/>
                </a:solidFill>
              </a:rPr>
              <a:t>Brooklyn</a:t>
            </a:r>
            <a:endParaRPr lang="en-US" sz="2600" dirty="0"/>
          </a:p>
        </p:txBody>
      </p:sp>
      <p:sp>
        <p:nvSpPr>
          <p:cNvPr id="28" name="Text 26"/>
          <p:cNvSpPr txBox="1"/>
          <p:nvPr/>
        </p:nvSpPr>
        <p:spPr>
          <a:xfrm>
            <a:off x="8183880" y="5285232"/>
            <a:ext cx="3291840" cy="457200"/>
          </a:xfrm>
          <a:prstGeom prst="rect">
            <a:avLst/>
          </a:prstGeom>
          <a:noFill/>
          <a:ln/>
        </p:spPr>
        <p:txBody>
          <a:bodyPr wrap="square" lIns="0" tIns="0" rIns="0" bIns="0" rtlCol="0" anchor="t"/>
          <a:lstStyle/>
          <a:p>
            <a:pPr indent="0" marL="0">
              <a:buNone/>
            </a:pPr>
            <a:r>
              <a:rPr lang="en-US" sz="1200" dirty="0">
                <a:solidFill>
                  <a:schemeClr val="bg1"/>
                </a:solidFill>
              </a:rPr>
              <a:t>HQ in Industry City, Sunset Park. Founded March 2024</a:t>
            </a:r>
            <a:endParaRPr lang="en-US" sz="12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THE PROBLEM</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Fleets wait. Chargers sit idle.</a:t>
            </a:r>
            <a:endParaRPr lang="en-US" sz="3600" dirty="0"/>
          </a:p>
        </p:txBody>
      </p:sp>
      <p:sp>
        <p:nvSpPr>
          <p:cNvPr id="4" name="Fleet side"/>
          <p:cNvSpPr/>
          <p:nvPr/>
        </p:nvSpPr>
        <p:spPr>
          <a:xfrm>
            <a:off x="548640" y="1783080"/>
            <a:ext cx="5349240" cy="3840480"/>
          </a:xfrm>
          <a:prstGeom prst="roundRect">
            <a:avLst>
              <a:gd name="adj" fmla="val 2857"/>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Text 3"/>
          <p:cNvSpPr txBox="1"/>
          <p:nvPr/>
        </p:nvSpPr>
        <p:spPr>
          <a:xfrm>
            <a:off x="868680" y="2103120"/>
            <a:ext cx="36576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FLEET SIDE</a:t>
            </a:r>
            <a:endParaRPr lang="en-US" sz="1200" dirty="0"/>
          </a:p>
        </p:txBody>
      </p:sp>
      <p:sp>
        <p:nvSpPr>
          <p:cNvPr id="6" name="Text 4"/>
          <p:cNvSpPr txBox="1"/>
          <p:nvPr/>
        </p:nvSpPr>
        <p:spPr>
          <a:xfrm>
            <a:off x="868680" y="2468880"/>
            <a:ext cx="4754880" cy="1051560"/>
          </a:xfrm>
          <a:prstGeom prst="rect">
            <a:avLst/>
          </a:prstGeom>
          <a:noFill/>
          <a:ln/>
        </p:spPr>
        <p:txBody>
          <a:bodyPr wrap="square" lIns="0" tIns="0" rIns="0" bIns="0" rtlCol="0" anchor="ctr"/>
          <a:lstStyle/>
          <a:p>
            <a:pPr indent="0" marL="0">
              <a:buNone/>
            </a:pPr>
            <a:r>
              <a:rPr lang="en-US" sz="6600" b="1" dirty="0">
                <a:solidFill>
                  <a:schemeClr val="tx1"/>
                </a:solidFill>
              </a:rPr>
              <a:t>30+ min</a:t>
            </a:r>
            <a:endParaRPr lang="en-US" sz="6600" dirty="0"/>
          </a:p>
        </p:txBody>
      </p:sp>
      <p:sp>
        <p:nvSpPr>
          <p:cNvPr id="7" name="Text 5"/>
          <p:cNvSpPr txBox="1"/>
          <p:nvPr/>
        </p:nvSpPr>
        <p:spPr>
          <a:xfrm>
            <a:off x="868680" y="3566160"/>
            <a:ext cx="4663440" cy="685800"/>
          </a:xfrm>
          <a:prstGeom prst="rect">
            <a:avLst/>
          </a:prstGeom>
          <a:noFill/>
          <a:ln/>
        </p:spPr>
        <p:txBody>
          <a:bodyPr wrap="square" lIns="0" tIns="0" rIns="0" bIns="0" rtlCol="0" anchor="t"/>
          <a:lstStyle/>
          <a:p>
            <a:pPr indent="0" marL="0">
              <a:buNone/>
            </a:pPr>
            <a:r>
              <a:rPr lang="en-US" sz="1600" dirty="0">
                <a:solidFill>
                  <a:schemeClr val="tx1"/>
                </a:solidFill>
              </a:rPr>
              <a:t>lost per charge looking for a free charger and waiting in line</a:t>
            </a:r>
            <a:endParaRPr lang="en-US" sz="1600" dirty="0"/>
          </a:p>
        </p:txBody>
      </p:sp>
      <p:sp>
        <p:nvSpPr>
          <p:cNvPr id="8" name="Text 6"/>
          <p:cNvSpPr txBox="1"/>
          <p:nvPr/>
        </p:nvSpPr>
        <p:spPr>
          <a:xfrm>
            <a:off x="868680" y="4343400"/>
            <a:ext cx="466344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Every minute in a queue is a minute off the meter</a:t>
            </a:r>
            <a:endParaRPr lang="en-US" sz="1400" dirty="0"/>
          </a:p>
          <a:p>
            <a:pPr marL="342900" indent="-342900">
              <a:spcAft>
                <a:spcPts val="600"/>
              </a:spcAft>
              <a:buSzPct val="100000"/>
              <a:buChar char="•"/>
            </a:pPr>
            <a:r>
              <a:rPr lang="en-US" sz="1400" dirty="0">
                <a:solidFill>
                  <a:schemeClr val="tx2"/>
                </a:solidFill>
              </a:rPr>
              <a:t>Deadhead miles driving between full stations</a:t>
            </a:r>
            <a:endParaRPr lang="en-US" sz="1400" dirty="0"/>
          </a:p>
          <a:p>
            <a:pPr marL="342900" indent="-342900">
              <a:spcAft>
                <a:spcPts val="600"/>
              </a:spcAft>
              <a:buSzPct val="100000"/>
              <a:buChar char="•"/>
            </a:pPr>
            <a:r>
              <a:rPr lang="en-US" sz="1400" dirty="0">
                <a:solidFill>
                  <a:schemeClr val="tx2"/>
                </a:solidFill>
              </a:rPr>
              <a:t>Shift changes collide at the same few sites</a:t>
            </a:r>
            <a:endParaRPr lang="en-US" sz="1400" dirty="0"/>
          </a:p>
        </p:txBody>
      </p:sp>
      <p:sp>
        <p:nvSpPr>
          <p:cNvPr id="9" name="Station side"/>
          <p:cNvSpPr/>
          <p:nvPr/>
        </p:nvSpPr>
        <p:spPr>
          <a:xfrm>
            <a:off x="6263640" y="1783080"/>
            <a:ext cx="5349240" cy="3840480"/>
          </a:xfrm>
          <a:prstGeom prst="roundRect">
            <a:avLst>
              <a:gd name="adj" fmla="val 2857"/>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sp>
        <p:nvSpPr>
          <p:cNvPr id="10" name="Text 8"/>
          <p:cNvSpPr txBox="1"/>
          <p:nvPr/>
        </p:nvSpPr>
        <p:spPr>
          <a:xfrm>
            <a:off x="6583680" y="2103120"/>
            <a:ext cx="3657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STATION SIDE</a:t>
            </a:r>
            <a:endParaRPr lang="en-US" sz="1200" dirty="0"/>
          </a:p>
        </p:txBody>
      </p:sp>
      <p:sp>
        <p:nvSpPr>
          <p:cNvPr id="11" name="Text 9"/>
          <p:cNvSpPr txBox="1"/>
          <p:nvPr/>
        </p:nvSpPr>
        <p:spPr>
          <a:xfrm>
            <a:off x="6583680" y="2468880"/>
            <a:ext cx="4754880" cy="1051560"/>
          </a:xfrm>
          <a:prstGeom prst="rect">
            <a:avLst/>
          </a:prstGeom>
          <a:noFill/>
          <a:ln/>
        </p:spPr>
        <p:txBody>
          <a:bodyPr wrap="square" lIns="0" tIns="0" rIns="0" bIns="0" rtlCol="0" anchor="ctr"/>
          <a:lstStyle/>
          <a:p>
            <a:pPr indent="0" marL="0">
              <a:buNone/>
            </a:pPr>
            <a:r>
              <a:rPr lang="en-US" sz="6600" b="1" dirty="0">
                <a:solidFill>
                  <a:schemeClr val="accent1"/>
                </a:solidFill>
              </a:rPr>
              <a:t>22.2%</a:t>
            </a:r>
            <a:endParaRPr lang="en-US" sz="6600" dirty="0"/>
          </a:p>
        </p:txBody>
      </p:sp>
      <p:sp>
        <p:nvSpPr>
          <p:cNvPr id="12" name="Text 10"/>
          <p:cNvSpPr txBox="1"/>
          <p:nvPr/>
        </p:nvSpPr>
        <p:spPr>
          <a:xfrm>
            <a:off x="6583680" y="3566160"/>
            <a:ext cx="4663440" cy="685800"/>
          </a:xfrm>
          <a:prstGeom prst="rect">
            <a:avLst/>
          </a:prstGeom>
          <a:noFill/>
          <a:ln/>
        </p:spPr>
        <p:txBody>
          <a:bodyPr wrap="square" lIns="0" tIns="0" rIns="0" bIns="0" rtlCol="0" anchor="t"/>
          <a:lstStyle/>
          <a:p>
            <a:pPr indent="0" marL="0">
              <a:buNone/>
            </a:pPr>
            <a:r>
              <a:rPr lang="en-US" sz="1600" dirty="0">
                <a:solidFill>
                  <a:schemeClr val="bg1"/>
                </a:solidFill>
              </a:rPr>
              <a:t>average utilisation of public DC fast chargers in California, Q1 2026. Expensive hardware, mostly empty.</a:t>
            </a:r>
            <a:endParaRPr lang="en-US" sz="1600" dirty="0"/>
          </a:p>
        </p:txBody>
      </p:sp>
      <p:sp>
        <p:nvSpPr>
          <p:cNvPr id="13" name="Text 11"/>
          <p:cNvSpPr txBox="1"/>
          <p:nvPr/>
        </p:nvSpPr>
        <p:spPr>
          <a:xfrm>
            <a:off x="6583680" y="4343400"/>
            <a:ext cx="1920240" cy="731520"/>
          </a:xfrm>
          <a:prstGeom prst="rect">
            <a:avLst/>
          </a:prstGeom>
          <a:noFill/>
          <a:ln/>
        </p:spPr>
        <p:txBody>
          <a:bodyPr wrap="square" lIns="0" tIns="0" rIns="0" bIns="0" rtlCol="0" anchor="ctr"/>
          <a:lstStyle/>
          <a:p>
            <a:pPr indent="0" marL="0">
              <a:buNone/>
            </a:pPr>
            <a:r>
              <a:rPr lang="en-US" sz="3600" b="1" dirty="0">
                <a:solidFill>
                  <a:schemeClr val="accent2"/>
                </a:solidFill>
              </a:rPr>
              <a:t>~78%</a:t>
            </a:r>
            <a:endParaRPr lang="en-US" sz="3600" dirty="0"/>
          </a:p>
        </p:txBody>
      </p:sp>
      <p:sp>
        <p:nvSpPr>
          <p:cNvPr id="14" name="Text 12"/>
          <p:cNvSpPr txBox="1"/>
          <p:nvPr/>
        </p:nvSpPr>
        <p:spPr>
          <a:xfrm>
            <a:off x="8549640" y="4343400"/>
            <a:ext cx="2743200" cy="868680"/>
          </a:xfrm>
          <a:prstGeom prst="rect">
            <a:avLst/>
          </a:prstGeom>
          <a:noFill/>
          <a:ln/>
        </p:spPr>
        <p:txBody>
          <a:bodyPr wrap="square" lIns="0" tIns="0" rIns="0" bIns="0" rtlCol="0" anchor="ctr"/>
          <a:lstStyle/>
          <a:p>
            <a:pPr indent="0" marL="0">
              <a:buNone/>
            </a:pPr>
            <a:r>
              <a:rPr lang="en-US" sz="1300" dirty="0">
                <a:solidFill>
                  <a:schemeClr val="bg1"/>
                </a:solidFill>
              </a:rPr>
              <a:t>of the time the average charger sits idle, in the most EV-heavy US state.</a:t>
            </a:r>
            <a:endParaRPr lang="en-US" sz="1300" dirty="0"/>
          </a:p>
        </p:txBody>
      </p:sp>
      <p:sp>
        <p:nvSpPr>
          <p:cNvPr id="15" name="Source"/>
          <p:cNvSpPr txBox="1"/>
          <p:nvPr/>
        </p:nvSpPr>
        <p:spPr>
          <a:xfrm>
            <a:off x="548640" y="5897880"/>
            <a:ext cx="11064240" cy="365760"/>
          </a:xfrm>
          <a:prstGeom prst="rect">
            <a:avLst/>
          </a:prstGeom>
          <a:noFill/>
          <a:ln/>
        </p:spPr>
        <p:txBody>
          <a:bodyPr wrap="square" lIns="0" tIns="0" rIns="0" bIns="0" rtlCol="0" anchor="b"/>
          <a:lstStyle/>
          <a:p>
            <a:pPr indent="0" marL="0">
              <a:buNone/>
            </a:pPr>
            <a:r>
              <a:rPr lang="en-US" sz="1000" dirty="0">
                <a:solidFill>
                  <a:schemeClr val="tx2"/>
                </a:solidFill>
              </a:rPr>
              <a:t>Source: CPUC, Clean Miles Standard Unanticipated Barriers Progress Report, June 2026 (public DC fast-charging utilisation in California, Q1 2026).</a:t>
            </a:r>
            <a:endParaRPr lang="en-US" sz="10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WHY NOW: NEW YORK CITY</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NYC mandates EV rideshare. Chargers lag behind</a:t>
            </a:r>
            <a:endParaRPr lang="en-US" sz="3600" dirty="0"/>
          </a:p>
        </p:txBody>
      </p:sp>
      <p:sp>
        <p:nvSpPr>
          <p:cNvPr id="4" name="Why now card"/>
          <p:cNvSpPr/>
          <p:nvPr/>
        </p:nvSpPr>
        <p:spPr>
          <a:xfrm>
            <a:off x="548640" y="1783080"/>
            <a:ext cx="3474720" cy="3657600"/>
          </a:xfrm>
          <a:prstGeom prst="roundRect">
            <a:avLst>
              <a:gd name="adj" fmla="val 315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Dot"/>
          <p:cNvSpPr/>
          <p:nvPr/>
        </p:nvSpPr>
        <p:spPr>
          <a:xfrm>
            <a:off x="868680" y="2103120"/>
            <a:ext cx="201168" cy="201168"/>
          </a:xfrm>
          <a:prstGeom prst="ellipse">
            <a:avLst/>
          </a:prstGeom>
          <a:solidFill>
            <a:schemeClr val="accent1"/>
          </a:solidFill>
          <a:ln w="12700">
            <a:solidFill>
              <a:schemeClr val="accent1"/>
            </a:solidFill>
            <a:prstDash val="solid"/>
          </a:ln>
        </p:spPr>
      </p:sp>
      <p:sp>
        <p:nvSpPr>
          <p:cNvPr id="6" name="Text 4"/>
          <p:cNvSpPr txBox="1"/>
          <p:nvPr/>
        </p:nvSpPr>
        <p:spPr>
          <a:xfrm>
            <a:off x="868680" y="2468880"/>
            <a:ext cx="2926080" cy="868680"/>
          </a:xfrm>
          <a:prstGeom prst="rect">
            <a:avLst/>
          </a:prstGeom>
          <a:noFill/>
          <a:ln/>
        </p:spPr>
        <p:txBody>
          <a:bodyPr wrap="square" lIns="0" tIns="0" rIns="0" bIns="0" rtlCol="0" anchor="ctr"/>
          <a:lstStyle/>
          <a:p>
            <a:pPr indent="0" marL="0">
              <a:buNone/>
            </a:pPr>
            <a:r>
              <a:rPr lang="en-US" sz="3200" b="1" dirty="0">
                <a:solidFill>
                  <a:schemeClr val="tx1"/>
                </a:solidFill>
              </a:rPr>
              <a:t>25% → 100%</a:t>
            </a:r>
            <a:endParaRPr lang="en-US" sz="3200" dirty="0"/>
          </a:p>
        </p:txBody>
      </p:sp>
      <p:sp>
        <p:nvSpPr>
          <p:cNvPr id="7" name="Text 5"/>
          <p:cNvSpPr txBox="1"/>
          <p:nvPr/>
        </p:nvSpPr>
        <p:spPr>
          <a:xfrm>
            <a:off x="868680" y="3429000"/>
            <a:ext cx="2834640" cy="411480"/>
          </a:xfrm>
          <a:prstGeom prst="rect">
            <a:avLst/>
          </a:prstGeom>
          <a:noFill/>
          <a:ln/>
        </p:spPr>
        <p:txBody>
          <a:bodyPr wrap="square" lIns="0" tIns="0" rIns="0" bIns="0" rtlCol="0" anchor="t"/>
          <a:lstStyle/>
          <a:p>
            <a:pPr indent="0" marL="0">
              <a:buNone/>
            </a:pPr>
            <a:r>
              <a:rPr lang="en-US" sz="1800" b="1" dirty="0">
                <a:solidFill>
                  <a:schemeClr val="accent5"/>
                </a:solidFill>
              </a:rPr>
              <a:t>Green Rides rule</a:t>
            </a:r>
            <a:endParaRPr lang="en-US" sz="1800" dirty="0"/>
          </a:p>
        </p:txBody>
      </p:sp>
      <p:sp>
        <p:nvSpPr>
          <p:cNvPr id="8" name="Text 6"/>
          <p:cNvSpPr txBox="1"/>
          <p:nvPr/>
        </p:nvSpPr>
        <p:spPr>
          <a:xfrm>
            <a:off x="868680" y="3931920"/>
            <a:ext cx="2834640" cy="1325880"/>
          </a:xfrm>
          <a:prstGeom prst="rect">
            <a:avLst/>
          </a:prstGeom>
          <a:noFill/>
          <a:ln/>
        </p:spPr>
        <p:txBody>
          <a:bodyPr wrap="square" lIns="0" tIns="0" rIns="0" bIns="0" rtlCol="0" anchor="t"/>
          <a:lstStyle/>
          <a:p>
            <a:pPr indent="0" marL="0">
              <a:buNone/>
            </a:pPr>
            <a:r>
              <a:rPr lang="en-US" sz="1400" dirty="0">
                <a:solidFill>
                  <a:schemeClr val="tx1"/>
                </a:solidFill>
              </a:rPr>
              <a:t>Share of Uber/Lyft trips that must be zero-emission or wheelchair accessible: 25% in 2026, 100% by 2030.</a:t>
            </a:r>
            <a:endParaRPr lang="en-US" sz="1400" dirty="0"/>
          </a:p>
        </p:txBody>
      </p:sp>
      <p:sp>
        <p:nvSpPr>
          <p:cNvPr id="9" name="Why now card"/>
          <p:cNvSpPr/>
          <p:nvPr/>
        </p:nvSpPr>
        <p:spPr>
          <a:xfrm>
            <a:off x="4343400" y="1783080"/>
            <a:ext cx="3474720" cy="3657600"/>
          </a:xfrm>
          <a:prstGeom prst="roundRect">
            <a:avLst>
              <a:gd name="adj" fmla="val 315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0" name="Dot"/>
          <p:cNvSpPr/>
          <p:nvPr/>
        </p:nvSpPr>
        <p:spPr>
          <a:xfrm>
            <a:off x="4663440" y="2103120"/>
            <a:ext cx="201168" cy="201168"/>
          </a:xfrm>
          <a:prstGeom prst="ellipse">
            <a:avLst/>
          </a:prstGeom>
          <a:solidFill>
            <a:schemeClr val="accent1"/>
          </a:solidFill>
          <a:ln w="12700">
            <a:solidFill>
              <a:schemeClr val="accent1"/>
            </a:solidFill>
            <a:prstDash val="solid"/>
          </a:ln>
        </p:spPr>
      </p:sp>
      <p:sp>
        <p:nvSpPr>
          <p:cNvPr id="11" name="Text 9"/>
          <p:cNvSpPr txBox="1"/>
          <p:nvPr/>
        </p:nvSpPr>
        <p:spPr>
          <a:xfrm>
            <a:off x="4663440" y="2468880"/>
            <a:ext cx="2926080" cy="868680"/>
          </a:xfrm>
          <a:prstGeom prst="rect">
            <a:avLst/>
          </a:prstGeom>
          <a:noFill/>
          <a:ln/>
        </p:spPr>
        <p:txBody>
          <a:bodyPr wrap="square" lIns="0" tIns="0" rIns="0" bIns="0" rtlCol="0" anchor="ctr"/>
          <a:lstStyle/>
          <a:p>
            <a:pPr indent="0" marL="0">
              <a:buNone/>
            </a:pPr>
            <a:r>
              <a:rPr lang="en-US" sz="3200" b="1" dirty="0">
                <a:solidFill>
                  <a:schemeClr val="tx1"/>
                </a:solidFill>
              </a:rPr>
              <a:t>13,020</a:t>
            </a:r>
            <a:endParaRPr lang="en-US" sz="3200" dirty="0"/>
          </a:p>
        </p:txBody>
      </p:sp>
      <p:sp>
        <p:nvSpPr>
          <p:cNvPr id="12" name="Text 10"/>
          <p:cNvSpPr txBox="1"/>
          <p:nvPr/>
        </p:nvSpPr>
        <p:spPr>
          <a:xfrm>
            <a:off x="4663440" y="3429000"/>
            <a:ext cx="2834640" cy="411480"/>
          </a:xfrm>
          <a:prstGeom prst="rect">
            <a:avLst/>
          </a:prstGeom>
          <a:noFill/>
          <a:ln/>
        </p:spPr>
        <p:txBody>
          <a:bodyPr wrap="square" lIns="0" tIns="0" rIns="0" bIns="0" rtlCol="0" anchor="t"/>
          <a:lstStyle/>
          <a:p>
            <a:pPr indent="0" marL="0">
              <a:buNone/>
            </a:pPr>
            <a:r>
              <a:rPr lang="en-US" sz="1800" b="1" dirty="0">
                <a:solidFill>
                  <a:schemeClr val="accent5"/>
                </a:solidFill>
              </a:rPr>
              <a:t>electric FHVs in NYC</a:t>
            </a:r>
            <a:endParaRPr lang="en-US" sz="1800" dirty="0"/>
          </a:p>
        </p:txBody>
      </p:sp>
      <p:sp>
        <p:nvSpPr>
          <p:cNvPr id="13" name="Text 11"/>
          <p:cNvSpPr txBox="1"/>
          <p:nvPr/>
        </p:nvSpPr>
        <p:spPr>
          <a:xfrm>
            <a:off x="4663440" y="3931920"/>
            <a:ext cx="2834640" cy="1325880"/>
          </a:xfrm>
          <a:prstGeom prst="rect">
            <a:avLst/>
          </a:prstGeom>
          <a:noFill/>
          <a:ln/>
        </p:spPr>
        <p:txBody>
          <a:bodyPr wrap="square" lIns="0" tIns="0" rIns="0" bIns="0" rtlCol="0" anchor="t"/>
          <a:lstStyle/>
          <a:p>
            <a:pPr indent="0" marL="0">
              <a:buNone/>
            </a:pPr>
            <a:r>
              <a:rPr lang="en-US" sz="1400" dirty="0">
                <a:solidFill>
                  <a:schemeClr val="tx1"/>
                </a:solidFill>
              </a:rPr>
              <a:t>against only about 360 fast-charging ports in the whole city. Demand is already here.</a:t>
            </a:r>
            <a:endParaRPr lang="en-US" sz="1400" dirty="0"/>
          </a:p>
        </p:txBody>
      </p:sp>
      <p:sp>
        <p:nvSpPr>
          <p:cNvPr id="14" name="Why now card"/>
          <p:cNvSpPr/>
          <p:nvPr/>
        </p:nvSpPr>
        <p:spPr>
          <a:xfrm>
            <a:off x="8138160" y="1783080"/>
            <a:ext cx="3474720" cy="3657600"/>
          </a:xfrm>
          <a:prstGeom prst="roundRect">
            <a:avLst>
              <a:gd name="adj" fmla="val 315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5" name="Dot"/>
          <p:cNvSpPr/>
          <p:nvPr/>
        </p:nvSpPr>
        <p:spPr>
          <a:xfrm>
            <a:off x="8458200" y="2103120"/>
            <a:ext cx="201168" cy="201168"/>
          </a:xfrm>
          <a:prstGeom prst="ellipse">
            <a:avLst/>
          </a:prstGeom>
          <a:solidFill>
            <a:schemeClr val="accent1"/>
          </a:solidFill>
          <a:ln w="12700">
            <a:solidFill>
              <a:schemeClr val="accent1"/>
            </a:solidFill>
            <a:prstDash val="solid"/>
          </a:ln>
        </p:spPr>
      </p:sp>
      <p:sp>
        <p:nvSpPr>
          <p:cNvPr id="16" name="Text 14"/>
          <p:cNvSpPr txBox="1"/>
          <p:nvPr/>
        </p:nvSpPr>
        <p:spPr>
          <a:xfrm>
            <a:off x="8458200" y="2468880"/>
            <a:ext cx="2926080" cy="868680"/>
          </a:xfrm>
          <a:prstGeom prst="rect">
            <a:avLst/>
          </a:prstGeom>
          <a:noFill/>
          <a:ln/>
        </p:spPr>
        <p:txBody>
          <a:bodyPr wrap="square" lIns="0" tIns="0" rIns="0" bIns="0" rtlCol="0" anchor="ctr"/>
          <a:lstStyle/>
          <a:p>
            <a:pPr indent="0" marL="0">
              <a:buNone/>
            </a:pPr>
            <a:r>
              <a:rPr lang="en-US" sz="3200" b="1" dirty="0">
                <a:solidFill>
                  <a:schemeClr val="tx1"/>
                </a:solidFill>
              </a:rPr>
              <a:t>Aug 2025</a:t>
            </a:r>
            <a:endParaRPr lang="en-US" sz="3200" dirty="0"/>
          </a:p>
        </p:txBody>
      </p:sp>
      <p:sp>
        <p:nvSpPr>
          <p:cNvPr id="17" name="Text 15"/>
          <p:cNvSpPr txBox="1"/>
          <p:nvPr/>
        </p:nvSpPr>
        <p:spPr>
          <a:xfrm>
            <a:off x="8458200" y="3429000"/>
            <a:ext cx="2834640" cy="411480"/>
          </a:xfrm>
          <a:prstGeom prst="rect">
            <a:avLst/>
          </a:prstGeom>
          <a:noFill/>
          <a:ln/>
        </p:spPr>
        <p:txBody>
          <a:bodyPr wrap="square" lIns="0" tIns="0" rIns="0" bIns="0" rtlCol="0" anchor="t"/>
          <a:lstStyle/>
          <a:p>
            <a:pPr indent="0" marL="0">
              <a:buNone/>
            </a:pPr>
            <a:r>
              <a:rPr lang="en-US" sz="1800" b="1" dirty="0">
                <a:solidFill>
                  <a:schemeClr val="accent5"/>
                </a:solidFill>
              </a:rPr>
              <a:t>Revel exits rideshare</a:t>
            </a:r>
            <a:endParaRPr lang="en-US" sz="1800" dirty="0"/>
          </a:p>
        </p:txBody>
      </p:sp>
      <p:sp>
        <p:nvSpPr>
          <p:cNvPr id="18" name="Text 16"/>
          <p:cNvSpPr txBox="1"/>
          <p:nvPr/>
        </p:nvSpPr>
        <p:spPr>
          <a:xfrm>
            <a:off x="8458200" y="3931920"/>
            <a:ext cx="2834640" cy="1325880"/>
          </a:xfrm>
          <a:prstGeom prst="rect">
            <a:avLst/>
          </a:prstGeom>
          <a:noFill/>
          <a:ln/>
        </p:spPr>
        <p:txBody>
          <a:bodyPr wrap="square" lIns="0" tIns="0" rIns="0" bIns="0" rtlCol="0" anchor="t"/>
          <a:lstStyle/>
          <a:p>
            <a:pPr indent="0" marL="0">
              <a:buNone/>
            </a:pPr>
            <a:r>
              <a:rPr lang="en-US" sz="1400" dirty="0">
                <a:solidFill>
                  <a:schemeClr val="tx1"/>
                </a:solidFill>
              </a:rPr>
              <a:t>Revel shut down its NYC rideshare service to focus on fast-charging hubs. Fleets need a neutral layer.</a:t>
            </a:r>
            <a:endParaRPr lang="en-US" sz="1400" dirty="0"/>
          </a:p>
        </p:txBody>
      </p:sp>
      <p:sp>
        <p:nvSpPr>
          <p:cNvPr id="19" name="Source"/>
          <p:cNvSpPr txBox="1"/>
          <p:nvPr/>
        </p:nvSpPr>
        <p:spPr>
          <a:xfrm>
            <a:off x="548640" y="5897880"/>
            <a:ext cx="11064240" cy="365760"/>
          </a:xfrm>
          <a:prstGeom prst="rect">
            <a:avLst/>
          </a:prstGeom>
          <a:noFill/>
          <a:ln/>
        </p:spPr>
        <p:txBody>
          <a:bodyPr wrap="square" lIns="0" tIns="0" rIns="0" bIns="0" rtlCol="0" anchor="b"/>
          <a:lstStyle/>
          <a:p>
            <a:pPr indent="0" marL="0">
              <a:buNone/>
            </a:pPr>
            <a:r>
              <a:rPr lang="en-US" sz="1000" dirty="0">
                <a:solidFill>
                  <a:schemeClr val="tx2"/>
                </a:solidFill>
              </a:rPr>
              <a:t>Sources: NYC TLC Green Rides rule, nyc.gov (Aug 2023); NYC Mayor's Management Report FY2026 (active FHVs, Jul–Oct 2025); NYC TLC, Climate Week (Sep 2025) for fast-charging ports; Revel (Aug 11, 2025).</a:t>
            </a:r>
            <a:endParaRPr lang="en-US" sz="10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OUR SOLUTION</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Cinema-seat booking for chargers</a:t>
            </a:r>
            <a:endParaRPr lang="en-US" sz="3600" dirty="0"/>
          </a:p>
        </p:txBody>
      </p:sp>
      <p:sp>
        <p:nvSpPr>
          <p:cNvPr id="4" name="Text 2"/>
          <p:cNvSpPr txBox="1"/>
          <p:nvPr/>
        </p:nvSpPr>
        <p:spPr>
          <a:xfrm>
            <a:off x="548640" y="1783080"/>
            <a:ext cx="5852160" cy="1097280"/>
          </a:xfrm>
          <a:prstGeom prst="rect">
            <a:avLst/>
          </a:prstGeom>
          <a:noFill/>
          <a:ln/>
        </p:spPr>
        <p:txBody>
          <a:bodyPr wrap="square" lIns="0" tIns="0" rIns="0" bIns="0" rtlCol="0" anchor="t"/>
          <a:lstStyle/>
          <a:p>
            <a:pPr indent="0" marL="0">
              <a:buNone/>
            </a:pPr>
            <a:r>
              <a:rPr lang="en-US" sz="2000" dirty="0">
                <a:solidFill>
                  <a:schemeClr val="tx1"/>
                </a:solidFill>
              </a:rPr>
              <a:t>Fleets and drivers see open charging slots, book in two taps, then arrive and plug in. No hunting, no queue.</a:t>
            </a:r>
            <a:endParaRPr lang="en-US" sz="2000" dirty="0"/>
          </a:p>
        </p:txBody>
      </p:sp>
      <p:sp>
        <p:nvSpPr>
          <p:cNvPr id="5" name="Icon circle"/>
          <p:cNvSpPr/>
          <p:nvPr/>
        </p:nvSpPr>
        <p:spPr>
          <a:xfrm>
            <a:off x="548640" y="310896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3232" y="3273552"/>
            <a:ext cx="310896" cy="310896"/>
          </a:xfrm>
          <a:prstGeom prst="rect">
            <a:avLst/>
          </a:prstGeom>
        </p:spPr>
      </p:pic>
      <p:sp>
        <p:nvSpPr>
          <p:cNvPr id="7" name="Text 4"/>
          <p:cNvSpPr txBox="1"/>
          <p:nvPr/>
        </p:nvSpPr>
        <p:spPr>
          <a:xfrm>
            <a:off x="1417320" y="3090672"/>
            <a:ext cx="4846320" cy="347472"/>
          </a:xfrm>
          <a:prstGeom prst="rect">
            <a:avLst/>
          </a:prstGeom>
          <a:noFill/>
          <a:ln/>
        </p:spPr>
        <p:txBody>
          <a:bodyPr wrap="square" lIns="0" tIns="0" rIns="0" bIns="0" rtlCol="0" anchor="ctr"/>
          <a:lstStyle/>
          <a:p>
            <a:pPr indent="0" marL="0">
              <a:buNone/>
            </a:pPr>
            <a:r>
              <a:rPr lang="en-US" sz="1700" b="1" dirty="0">
                <a:solidFill>
                  <a:schemeClr val="tx1"/>
                </a:solidFill>
              </a:rPr>
              <a:t>See open slots</a:t>
            </a:r>
            <a:endParaRPr lang="en-US" sz="1700" dirty="0"/>
          </a:p>
        </p:txBody>
      </p:sp>
      <p:sp>
        <p:nvSpPr>
          <p:cNvPr id="8" name="Text 5"/>
          <p:cNvSpPr txBox="1"/>
          <p:nvPr/>
        </p:nvSpPr>
        <p:spPr>
          <a:xfrm>
            <a:off x="1417320" y="3438144"/>
            <a:ext cx="4846320" cy="329184"/>
          </a:xfrm>
          <a:prstGeom prst="rect">
            <a:avLst/>
          </a:prstGeom>
          <a:noFill/>
          <a:ln/>
        </p:spPr>
        <p:txBody>
          <a:bodyPr wrap="square" lIns="0" tIns="0" rIns="0" bIns="0" rtlCol="0" anchor="ctr"/>
          <a:lstStyle/>
          <a:p>
            <a:pPr indent="0" marL="0">
              <a:buNone/>
            </a:pPr>
            <a:r>
              <a:rPr lang="en-US" sz="1400" dirty="0">
                <a:solidFill>
                  <a:schemeClr val="tx2"/>
                </a:solidFill>
              </a:rPr>
              <a:t>Live availability at partner stations, by site and time</a:t>
            </a:r>
            <a:endParaRPr lang="en-US" sz="1400" dirty="0"/>
          </a:p>
        </p:txBody>
      </p:sp>
      <p:sp>
        <p:nvSpPr>
          <p:cNvPr id="9" name="Icon circle"/>
          <p:cNvSpPr/>
          <p:nvPr/>
        </p:nvSpPr>
        <p:spPr>
          <a:xfrm>
            <a:off x="548640" y="402336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713232" y="4187952"/>
            <a:ext cx="310896" cy="310896"/>
          </a:xfrm>
          <a:prstGeom prst="rect">
            <a:avLst/>
          </a:prstGeom>
        </p:spPr>
      </p:pic>
      <p:sp>
        <p:nvSpPr>
          <p:cNvPr id="11" name="Text 7"/>
          <p:cNvSpPr txBox="1"/>
          <p:nvPr/>
        </p:nvSpPr>
        <p:spPr>
          <a:xfrm>
            <a:off x="1417320" y="4005072"/>
            <a:ext cx="4846320" cy="347472"/>
          </a:xfrm>
          <a:prstGeom prst="rect">
            <a:avLst/>
          </a:prstGeom>
          <a:noFill/>
          <a:ln/>
        </p:spPr>
        <p:txBody>
          <a:bodyPr wrap="square" lIns="0" tIns="0" rIns="0" bIns="0" rtlCol="0" anchor="ctr"/>
          <a:lstStyle/>
          <a:p>
            <a:pPr indent="0" marL="0">
              <a:buNone/>
            </a:pPr>
            <a:r>
              <a:rPr lang="en-US" sz="1700" b="1" dirty="0">
                <a:solidFill>
                  <a:schemeClr val="tx1"/>
                </a:solidFill>
              </a:rPr>
              <a:t>Book in two taps</a:t>
            </a:r>
            <a:endParaRPr lang="en-US" sz="1700" dirty="0"/>
          </a:p>
        </p:txBody>
      </p:sp>
      <p:sp>
        <p:nvSpPr>
          <p:cNvPr id="12" name="Text 8"/>
          <p:cNvSpPr txBox="1"/>
          <p:nvPr/>
        </p:nvSpPr>
        <p:spPr>
          <a:xfrm>
            <a:off x="1417320" y="4352544"/>
            <a:ext cx="4846320" cy="329184"/>
          </a:xfrm>
          <a:prstGeom prst="rect">
            <a:avLst/>
          </a:prstGeom>
          <a:noFill/>
          <a:ln/>
        </p:spPr>
        <p:txBody>
          <a:bodyPr wrap="square" lIns="0" tIns="0" rIns="0" bIns="0" rtlCol="0" anchor="ctr"/>
          <a:lstStyle/>
          <a:p>
            <a:pPr indent="0" marL="0">
              <a:buNone/>
            </a:pPr>
            <a:r>
              <a:rPr lang="en-US" sz="1400" dirty="0">
                <a:solidFill>
                  <a:schemeClr val="tx2"/>
                </a:solidFill>
              </a:rPr>
              <a:t>Pick a slot, confirm. The stall is held for you</a:t>
            </a:r>
            <a:endParaRPr lang="en-US" sz="1400" dirty="0"/>
          </a:p>
        </p:txBody>
      </p:sp>
      <p:sp>
        <p:nvSpPr>
          <p:cNvPr id="13" name="Icon circle"/>
          <p:cNvSpPr/>
          <p:nvPr/>
        </p:nvSpPr>
        <p:spPr>
          <a:xfrm>
            <a:off x="548640" y="4937760"/>
            <a:ext cx="640080" cy="64008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713232" y="5102352"/>
            <a:ext cx="310896" cy="310896"/>
          </a:xfrm>
          <a:prstGeom prst="rect">
            <a:avLst/>
          </a:prstGeom>
        </p:spPr>
      </p:pic>
      <p:sp>
        <p:nvSpPr>
          <p:cNvPr id="15" name="Text 10"/>
          <p:cNvSpPr txBox="1"/>
          <p:nvPr/>
        </p:nvSpPr>
        <p:spPr>
          <a:xfrm>
            <a:off x="1417320" y="4919472"/>
            <a:ext cx="4846320" cy="347472"/>
          </a:xfrm>
          <a:prstGeom prst="rect">
            <a:avLst/>
          </a:prstGeom>
          <a:noFill/>
          <a:ln/>
        </p:spPr>
        <p:txBody>
          <a:bodyPr wrap="square" lIns="0" tIns="0" rIns="0" bIns="0" rtlCol="0" anchor="ctr"/>
          <a:lstStyle/>
          <a:p>
            <a:pPr indent="0" marL="0">
              <a:buNone/>
            </a:pPr>
            <a:r>
              <a:rPr lang="en-US" sz="1700" b="1" dirty="0">
                <a:solidFill>
                  <a:schemeClr val="tx1"/>
                </a:solidFill>
              </a:rPr>
              <a:t>Arrive and plug in</a:t>
            </a:r>
            <a:endParaRPr lang="en-US" sz="1700" dirty="0"/>
          </a:p>
        </p:txBody>
      </p:sp>
      <p:sp>
        <p:nvSpPr>
          <p:cNvPr id="16" name="Text 11"/>
          <p:cNvSpPr txBox="1"/>
          <p:nvPr/>
        </p:nvSpPr>
        <p:spPr>
          <a:xfrm>
            <a:off x="1417320" y="5266944"/>
            <a:ext cx="4846320" cy="329184"/>
          </a:xfrm>
          <a:prstGeom prst="rect">
            <a:avLst/>
          </a:prstGeom>
          <a:noFill/>
          <a:ln/>
        </p:spPr>
        <p:txBody>
          <a:bodyPr wrap="square" lIns="0" tIns="0" rIns="0" bIns="0" rtlCol="0" anchor="ctr"/>
          <a:lstStyle/>
          <a:p>
            <a:pPr indent="0" marL="0">
              <a:buNone/>
            </a:pPr>
            <a:r>
              <a:rPr lang="en-US" sz="1400" dirty="0">
                <a:solidFill>
                  <a:schemeClr val="tx2"/>
                </a:solidFill>
              </a:rPr>
              <a:t>Your charger is waiting. Billing happens automatically</a:t>
            </a:r>
            <a:endParaRPr lang="en-US" sz="1400" dirty="0"/>
          </a:p>
        </p:txBody>
      </p:sp>
      <p:sp>
        <p:nvSpPr>
          <p:cNvPr id="17" name="Phone frame"/>
          <p:cNvSpPr/>
          <p:nvPr/>
        </p:nvSpPr>
        <p:spPr>
          <a:xfrm>
            <a:off x="7635240" y="1600200"/>
            <a:ext cx="3017520" cy="4526280"/>
          </a:xfrm>
          <a:prstGeom prst="roundRect">
            <a:avLst>
              <a:gd name="adj" fmla="val 10606"/>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sp>
        <p:nvSpPr>
          <p:cNvPr id="18" name="Phone screen"/>
          <p:cNvSpPr/>
          <p:nvPr/>
        </p:nvSpPr>
        <p:spPr>
          <a:xfrm>
            <a:off x="7772400" y="1783080"/>
            <a:ext cx="2743200" cy="4160520"/>
          </a:xfrm>
          <a:prstGeom prst="roundRect">
            <a:avLst>
              <a:gd name="adj" fmla="val 7333"/>
            </a:avLst>
          </a:prstGeom>
          <a:solidFill>
            <a:schemeClr val="bg1"/>
          </a:solidFill>
          <a:ln w="12700">
            <a:solidFill>
              <a:schemeClr val="bg1"/>
            </a:solidFill>
            <a:prstDash val="solid"/>
          </a:ln>
        </p:spPr>
      </p:sp>
      <p:sp>
        <p:nvSpPr>
          <p:cNvPr id="19" name="Text 14"/>
          <p:cNvSpPr txBox="1"/>
          <p:nvPr/>
        </p:nvSpPr>
        <p:spPr>
          <a:xfrm>
            <a:off x="7955280" y="1965960"/>
            <a:ext cx="2377440" cy="274320"/>
          </a:xfrm>
          <a:prstGeom prst="rect">
            <a:avLst/>
          </a:prstGeom>
          <a:noFill/>
          <a:ln/>
        </p:spPr>
        <p:txBody>
          <a:bodyPr wrap="square" lIns="0" tIns="0" rIns="0" bIns="0" rtlCol="0" anchor="ctr"/>
          <a:lstStyle/>
          <a:p>
            <a:pPr indent="0" marL="0">
              <a:buNone/>
            </a:pPr>
            <a:r>
              <a:rPr lang="en-US" sz="1300" b="1" dirty="0">
                <a:solidFill>
                  <a:schemeClr val="tx1"/>
                </a:solidFill>
              </a:rPr>
              <a:t>Gowanus FastHub</a:t>
            </a:r>
            <a:endParaRPr lang="en-US" sz="1300" dirty="0"/>
          </a:p>
        </p:txBody>
      </p:sp>
      <p:sp>
        <p:nvSpPr>
          <p:cNvPr id="20" name="Text 15"/>
          <p:cNvSpPr txBox="1"/>
          <p:nvPr/>
        </p:nvSpPr>
        <p:spPr>
          <a:xfrm>
            <a:off x="7955280" y="2240280"/>
            <a:ext cx="2377440" cy="228600"/>
          </a:xfrm>
          <a:prstGeom prst="rect">
            <a:avLst/>
          </a:prstGeom>
          <a:noFill/>
          <a:ln/>
        </p:spPr>
        <p:txBody>
          <a:bodyPr wrap="square" lIns="0" tIns="0" rIns="0" bIns="0" rtlCol="0" anchor="ctr"/>
          <a:lstStyle/>
          <a:p>
            <a:pPr indent="0" marL="0">
              <a:buNone/>
            </a:pPr>
            <a:r>
              <a:rPr lang="en-US" sz="1000" dirty="0">
                <a:solidFill>
                  <a:schemeClr val="tx2"/>
                </a:solidFill>
              </a:rPr>
              <a:t>Today · pick a slot</a:t>
            </a:r>
            <a:endParaRPr lang="en-US" sz="1000" dirty="0"/>
          </a:p>
        </p:txBody>
      </p:sp>
      <p:sp>
        <p:nvSpPr>
          <p:cNvPr id="21" name="Text 16"/>
          <p:cNvSpPr txBox="1"/>
          <p:nvPr/>
        </p:nvSpPr>
        <p:spPr>
          <a:xfrm>
            <a:off x="8503920" y="2468880"/>
            <a:ext cx="384048" cy="228600"/>
          </a:xfrm>
          <a:prstGeom prst="rect">
            <a:avLst/>
          </a:prstGeom>
          <a:noFill/>
          <a:ln/>
        </p:spPr>
        <p:txBody>
          <a:bodyPr wrap="square" lIns="0" tIns="0" rIns="0" bIns="0" rtlCol="0" anchor="ctr"/>
          <a:lstStyle/>
          <a:p>
            <a:pPr algn="ctr" indent="0" marL="0">
              <a:buNone/>
            </a:pPr>
            <a:r>
              <a:rPr lang="en-US" sz="1000" b="1" dirty="0">
                <a:solidFill>
                  <a:schemeClr val="tx2"/>
                </a:solidFill>
              </a:rPr>
              <a:t>A</a:t>
            </a:r>
            <a:endParaRPr lang="en-US" sz="1000" dirty="0"/>
          </a:p>
        </p:txBody>
      </p:sp>
      <p:sp>
        <p:nvSpPr>
          <p:cNvPr id="22" name="Text 17"/>
          <p:cNvSpPr txBox="1"/>
          <p:nvPr/>
        </p:nvSpPr>
        <p:spPr>
          <a:xfrm>
            <a:off x="8979408" y="2468880"/>
            <a:ext cx="384048" cy="228600"/>
          </a:xfrm>
          <a:prstGeom prst="rect">
            <a:avLst/>
          </a:prstGeom>
          <a:noFill/>
          <a:ln/>
        </p:spPr>
        <p:txBody>
          <a:bodyPr wrap="square" lIns="0" tIns="0" rIns="0" bIns="0" rtlCol="0" anchor="ctr"/>
          <a:lstStyle/>
          <a:p>
            <a:pPr algn="ctr" indent="0" marL="0">
              <a:buNone/>
            </a:pPr>
            <a:r>
              <a:rPr lang="en-US" sz="1000" b="1" dirty="0">
                <a:solidFill>
                  <a:schemeClr val="tx2"/>
                </a:solidFill>
              </a:rPr>
              <a:t>B</a:t>
            </a:r>
            <a:endParaRPr lang="en-US" sz="1000" dirty="0"/>
          </a:p>
        </p:txBody>
      </p:sp>
      <p:sp>
        <p:nvSpPr>
          <p:cNvPr id="23" name="Text 18"/>
          <p:cNvSpPr txBox="1"/>
          <p:nvPr/>
        </p:nvSpPr>
        <p:spPr>
          <a:xfrm>
            <a:off x="9454896" y="2468880"/>
            <a:ext cx="384048" cy="228600"/>
          </a:xfrm>
          <a:prstGeom prst="rect">
            <a:avLst/>
          </a:prstGeom>
          <a:noFill/>
          <a:ln/>
        </p:spPr>
        <p:txBody>
          <a:bodyPr wrap="square" lIns="0" tIns="0" rIns="0" bIns="0" rtlCol="0" anchor="ctr"/>
          <a:lstStyle/>
          <a:p>
            <a:pPr algn="ctr" indent="0" marL="0">
              <a:buNone/>
            </a:pPr>
            <a:r>
              <a:rPr lang="en-US" sz="1000" b="1" dirty="0">
                <a:solidFill>
                  <a:schemeClr val="tx2"/>
                </a:solidFill>
              </a:rPr>
              <a:t>C</a:t>
            </a:r>
            <a:endParaRPr lang="en-US" sz="1000" dirty="0"/>
          </a:p>
        </p:txBody>
      </p:sp>
      <p:sp>
        <p:nvSpPr>
          <p:cNvPr id="24" name="Text 19"/>
          <p:cNvSpPr txBox="1"/>
          <p:nvPr/>
        </p:nvSpPr>
        <p:spPr>
          <a:xfrm>
            <a:off x="9930384" y="2468880"/>
            <a:ext cx="384048" cy="228600"/>
          </a:xfrm>
          <a:prstGeom prst="rect">
            <a:avLst/>
          </a:prstGeom>
          <a:noFill/>
          <a:ln/>
        </p:spPr>
        <p:txBody>
          <a:bodyPr wrap="square" lIns="0" tIns="0" rIns="0" bIns="0" rtlCol="0" anchor="ctr"/>
          <a:lstStyle/>
          <a:p>
            <a:pPr algn="ctr" indent="0" marL="0">
              <a:buNone/>
            </a:pPr>
            <a:r>
              <a:rPr lang="en-US" sz="1000" b="1" dirty="0">
                <a:solidFill>
                  <a:schemeClr val="tx2"/>
                </a:solidFill>
              </a:rPr>
              <a:t>D</a:t>
            </a:r>
            <a:endParaRPr lang="en-US" sz="1000" dirty="0"/>
          </a:p>
        </p:txBody>
      </p:sp>
      <p:sp>
        <p:nvSpPr>
          <p:cNvPr id="25" name="Text 20"/>
          <p:cNvSpPr txBox="1"/>
          <p:nvPr/>
        </p:nvSpPr>
        <p:spPr>
          <a:xfrm>
            <a:off x="7909560" y="2743200"/>
            <a:ext cx="548640" cy="384048"/>
          </a:xfrm>
          <a:prstGeom prst="rect">
            <a:avLst/>
          </a:prstGeom>
          <a:noFill/>
          <a:ln/>
        </p:spPr>
        <p:txBody>
          <a:bodyPr wrap="square" lIns="0" tIns="0" rIns="0" bIns="0" rtlCol="0" anchor="ctr"/>
          <a:lstStyle/>
          <a:p>
            <a:pPr indent="0" marL="0">
              <a:buNone/>
            </a:pPr>
            <a:r>
              <a:rPr lang="en-US" sz="1000" dirty="0">
                <a:solidFill>
                  <a:schemeClr val="tx2"/>
                </a:solidFill>
              </a:rPr>
              <a:t>3:45</a:t>
            </a:r>
            <a:endParaRPr lang="en-US" sz="1000" dirty="0"/>
          </a:p>
        </p:txBody>
      </p:sp>
      <p:sp>
        <p:nvSpPr>
          <p:cNvPr id="26" name="Seat"/>
          <p:cNvSpPr/>
          <p:nvPr/>
        </p:nvSpPr>
        <p:spPr>
          <a:xfrm>
            <a:off x="8503920" y="2743200"/>
            <a:ext cx="384048" cy="384048"/>
          </a:xfrm>
          <a:prstGeom prst="roundRect">
            <a:avLst>
              <a:gd name="adj" fmla="val 14286"/>
            </a:avLst>
          </a:prstGeom>
          <a:solidFill>
            <a:schemeClr val="accent4"/>
          </a:solidFill>
          <a:ln w="12700">
            <a:solidFill>
              <a:schemeClr val="accent4"/>
            </a:solidFill>
            <a:prstDash val="solid"/>
          </a:ln>
        </p:spPr>
      </p:sp>
      <p:sp>
        <p:nvSpPr>
          <p:cNvPr id="27" name="Seat"/>
          <p:cNvSpPr/>
          <p:nvPr/>
        </p:nvSpPr>
        <p:spPr>
          <a:xfrm>
            <a:off x="8979408" y="2743200"/>
            <a:ext cx="384048" cy="384048"/>
          </a:xfrm>
          <a:prstGeom prst="roundRect">
            <a:avLst>
              <a:gd name="adj" fmla="val 14286"/>
            </a:avLst>
          </a:prstGeom>
          <a:solidFill>
            <a:schemeClr val="accent4"/>
          </a:solidFill>
          <a:ln w="12700">
            <a:solidFill>
              <a:schemeClr val="accent4"/>
            </a:solidFill>
            <a:prstDash val="solid"/>
          </a:ln>
        </p:spPr>
      </p:sp>
      <p:sp>
        <p:nvSpPr>
          <p:cNvPr id="28" name="Seat"/>
          <p:cNvSpPr/>
          <p:nvPr/>
        </p:nvSpPr>
        <p:spPr>
          <a:xfrm>
            <a:off x="9454896" y="2743200"/>
            <a:ext cx="384048" cy="384048"/>
          </a:xfrm>
          <a:prstGeom prst="roundRect">
            <a:avLst>
              <a:gd name="adj" fmla="val 14286"/>
            </a:avLst>
          </a:prstGeom>
          <a:solidFill>
            <a:schemeClr val="accent2"/>
          </a:solidFill>
          <a:ln w="12700">
            <a:solidFill>
              <a:schemeClr val="accent2"/>
            </a:solidFill>
            <a:prstDash val="solid"/>
          </a:ln>
        </p:spPr>
      </p:sp>
      <p:sp>
        <p:nvSpPr>
          <p:cNvPr id="29" name="Seat"/>
          <p:cNvSpPr/>
          <p:nvPr/>
        </p:nvSpPr>
        <p:spPr>
          <a:xfrm>
            <a:off x="9930384" y="2743200"/>
            <a:ext cx="384048" cy="384048"/>
          </a:xfrm>
          <a:prstGeom prst="roundRect">
            <a:avLst>
              <a:gd name="adj" fmla="val 14286"/>
            </a:avLst>
          </a:prstGeom>
          <a:solidFill>
            <a:schemeClr val="accent4"/>
          </a:solidFill>
          <a:ln w="12700">
            <a:solidFill>
              <a:schemeClr val="accent4"/>
            </a:solidFill>
            <a:prstDash val="solid"/>
          </a:ln>
        </p:spPr>
      </p:sp>
      <p:sp>
        <p:nvSpPr>
          <p:cNvPr id="30" name="Text 25"/>
          <p:cNvSpPr txBox="1"/>
          <p:nvPr/>
        </p:nvSpPr>
        <p:spPr>
          <a:xfrm>
            <a:off x="7909560" y="3218688"/>
            <a:ext cx="548640" cy="384048"/>
          </a:xfrm>
          <a:prstGeom prst="rect">
            <a:avLst/>
          </a:prstGeom>
          <a:noFill/>
          <a:ln/>
        </p:spPr>
        <p:txBody>
          <a:bodyPr wrap="square" lIns="0" tIns="0" rIns="0" bIns="0" rtlCol="0" anchor="ctr"/>
          <a:lstStyle/>
          <a:p>
            <a:pPr indent="0" marL="0">
              <a:buNone/>
            </a:pPr>
            <a:r>
              <a:rPr lang="en-US" sz="1000" dirty="0">
                <a:solidFill>
                  <a:schemeClr val="tx2"/>
                </a:solidFill>
              </a:rPr>
              <a:t>4:00</a:t>
            </a:r>
            <a:endParaRPr lang="en-US" sz="1000" dirty="0"/>
          </a:p>
        </p:txBody>
      </p:sp>
      <p:sp>
        <p:nvSpPr>
          <p:cNvPr id="31" name="Seat"/>
          <p:cNvSpPr/>
          <p:nvPr/>
        </p:nvSpPr>
        <p:spPr>
          <a:xfrm>
            <a:off x="8503920" y="3218688"/>
            <a:ext cx="384048" cy="384048"/>
          </a:xfrm>
          <a:prstGeom prst="roundRect">
            <a:avLst>
              <a:gd name="adj" fmla="val 14286"/>
            </a:avLst>
          </a:prstGeom>
          <a:solidFill>
            <a:schemeClr val="accent4"/>
          </a:solidFill>
          <a:ln w="12700">
            <a:solidFill>
              <a:schemeClr val="accent4"/>
            </a:solidFill>
            <a:prstDash val="solid"/>
          </a:ln>
        </p:spPr>
      </p:sp>
      <p:sp>
        <p:nvSpPr>
          <p:cNvPr id="32" name="Seat"/>
          <p:cNvSpPr/>
          <p:nvPr/>
        </p:nvSpPr>
        <p:spPr>
          <a:xfrm>
            <a:off x="8979408" y="3218688"/>
            <a:ext cx="384048" cy="384048"/>
          </a:xfrm>
          <a:prstGeom prst="roundRect">
            <a:avLst>
              <a:gd name="adj" fmla="val 14286"/>
            </a:avLst>
          </a:prstGeom>
          <a:solidFill>
            <a:schemeClr val="accent2"/>
          </a:solidFill>
          <a:ln w="12700">
            <a:solidFill>
              <a:schemeClr val="accent2"/>
            </a:solidFill>
            <a:prstDash val="solid"/>
          </a:ln>
        </p:spPr>
      </p:sp>
      <p:sp>
        <p:nvSpPr>
          <p:cNvPr id="33" name="Seat"/>
          <p:cNvSpPr/>
          <p:nvPr/>
        </p:nvSpPr>
        <p:spPr>
          <a:xfrm>
            <a:off x="9454896" y="3218688"/>
            <a:ext cx="384048" cy="384048"/>
          </a:xfrm>
          <a:prstGeom prst="roundRect">
            <a:avLst>
              <a:gd name="adj" fmla="val 14286"/>
            </a:avLst>
          </a:prstGeom>
          <a:solidFill>
            <a:schemeClr val="accent4"/>
          </a:solidFill>
          <a:ln w="12700">
            <a:solidFill>
              <a:schemeClr val="accent4"/>
            </a:solidFill>
            <a:prstDash val="solid"/>
          </a:ln>
        </p:spPr>
      </p:sp>
      <p:sp>
        <p:nvSpPr>
          <p:cNvPr id="34" name="Seat"/>
          <p:cNvSpPr/>
          <p:nvPr/>
        </p:nvSpPr>
        <p:spPr>
          <a:xfrm>
            <a:off x="9930384" y="3218688"/>
            <a:ext cx="384048" cy="384048"/>
          </a:xfrm>
          <a:prstGeom prst="roundRect">
            <a:avLst>
              <a:gd name="adj" fmla="val 14286"/>
            </a:avLst>
          </a:prstGeom>
          <a:solidFill>
            <a:schemeClr val="accent4"/>
          </a:solidFill>
          <a:ln w="12700">
            <a:solidFill>
              <a:schemeClr val="accent4"/>
            </a:solidFill>
            <a:prstDash val="solid"/>
          </a:ln>
        </p:spPr>
      </p:sp>
      <p:sp>
        <p:nvSpPr>
          <p:cNvPr id="35" name="Text 30"/>
          <p:cNvSpPr txBox="1"/>
          <p:nvPr/>
        </p:nvSpPr>
        <p:spPr>
          <a:xfrm>
            <a:off x="7909560" y="3694176"/>
            <a:ext cx="548640" cy="384048"/>
          </a:xfrm>
          <a:prstGeom prst="rect">
            <a:avLst/>
          </a:prstGeom>
          <a:noFill/>
          <a:ln/>
        </p:spPr>
        <p:txBody>
          <a:bodyPr wrap="square" lIns="0" tIns="0" rIns="0" bIns="0" rtlCol="0" anchor="ctr"/>
          <a:lstStyle/>
          <a:p>
            <a:pPr indent="0" marL="0">
              <a:buNone/>
            </a:pPr>
            <a:r>
              <a:rPr lang="en-US" sz="1000" dirty="0">
                <a:solidFill>
                  <a:schemeClr val="tx2"/>
                </a:solidFill>
              </a:rPr>
              <a:t>4:15</a:t>
            </a:r>
            <a:endParaRPr lang="en-US" sz="1000" dirty="0"/>
          </a:p>
        </p:txBody>
      </p:sp>
      <p:sp>
        <p:nvSpPr>
          <p:cNvPr id="36" name="Seat"/>
          <p:cNvSpPr/>
          <p:nvPr/>
        </p:nvSpPr>
        <p:spPr>
          <a:xfrm>
            <a:off x="8503920" y="3694176"/>
            <a:ext cx="384048" cy="384048"/>
          </a:xfrm>
          <a:prstGeom prst="roundRect">
            <a:avLst>
              <a:gd name="adj" fmla="val 14286"/>
            </a:avLst>
          </a:prstGeom>
          <a:solidFill>
            <a:schemeClr val="accent2"/>
          </a:solidFill>
          <a:ln w="12700">
            <a:solidFill>
              <a:schemeClr val="accent2"/>
            </a:solidFill>
            <a:prstDash val="solid"/>
          </a:ln>
        </p:spPr>
      </p:sp>
      <p:sp>
        <p:nvSpPr>
          <p:cNvPr id="37" name="Seat"/>
          <p:cNvSpPr/>
          <p:nvPr/>
        </p:nvSpPr>
        <p:spPr>
          <a:xfrm>
            <a:off x="8979408" y="3694176"/>
            <a:ext cx="384048" cy="384048"/>
          </a:xfrm>
          <a:prstGeom prst="roundRect">
            <a:avLst>
              <a:gd name="adj" fmla="val 14286"/>
            </a:avLst>
          </a:prstGeom>
          <a:solidFill>
            <a:schemeClr val="accent4"/>
          </a:solidFill>
          <a:ln w="12700">
            <a:solidFill>
              <a:schemeClr val="accent4"/>
            </a:solidFill>
            <a:prstDash val="solid"/>
          </a:ln>
        </p:spPr>
      </p:sp>
      <p:sp>
        <p:nvSpPr>
          <p:cNvPr id="38" name="Seat"/>
          <p:cNvSpPr/>
          <p:nvPr/>
        </p:nvSpPr>
        <p:spPr>
          <a:xfrm>
            <a:off x="9454896" y="3694176"/>
            <a:ext cx="384048" cy="384048"/>
          </a:xfrm>
          <a:prstGeom prst="roundRect">
            <a:avLst>
              <a:gd name="adj" fmla="val 14286"/>
            </a:avLst>
          </a:prstGeom>
          <a:solidFill>
            <a:schemeClr val="accent4"/>
          </a:solidFill>
          <a:ln w="12700">
            <a:solidFill>
              <a:schemeClr val="accent4"/>
            </a:solidFill>
            <a:prstDash val="solid"/>
          </a:ln>
        </p:spPr>
      </p:sp>
      <p:sp>
        <p:nvSpPr>
          <p:cNvPr id="39" name="Seat"/>
          <p:cNvSpPr/>
          <p:nvPr/>
        </p:nvSpPr>
        <p:spPr>
          <a:xfrm>
            <a:off x="9930384" y="3694176"/>
            <a:ext cx="384048" cy="384048"/>
          </a:xfrm>
          <a:prstGeom prst="roundRect">
            <a:avLst>
              <a:gd name="adj" fmla="val 14286"/>
            </a:avLst>
          </a:prstGeom>
          <a:solidFill>
            <a:schemeClr val="accent2"/>
          </a:solidFill>
          <a:ln w="12700">
            <a:solidFill>
              <a:schemeClr val="accent2"/>
            </a:solidFill>
            <a:prstDash val="solid"/>
          </a:ln>
        </p:spPr>
      </p:sp>
      <p:sp>
        <p:nvSpPr>
          <p:cNvPr id="40" name="Text 35"/>
          <p:cNvSpPr txBox="1"/>
          <p:nvPr/>
        </p:nvSpPr>
        <p:spPr>
          <a:xfrm>
            <a:off x="7909560" y="4169664"/>
            <a:ext cx="548640" cy="384048"/>
          </a:xfrm>
          <a:prstGeom prst="rect">
            <a:avLst/>
          </a:prstGeom>
          <a:noFill/>
          <a:ln/>
        </p:spPr>
        <p:txBody>
          <a:bodyPr wrap="square" lIns="0" tIns="0" rIns="0" bIns="0" rtlCol="0" anchor="ctr"/>
          <a:lstStyle/>
          <a:p>
            <a:pPr indent="0" marL="0">
              <a:buNone/>
            </a:pPr>
            <a:r>
              <a:rPr lang="en-US" sz="1000" dirty="0">
                <a:solidFill>
                  <a:schemeClr val="tx2"/>
                </a:solidFill>
              </a:rPr>
              <a:t>4:30</a:t>
            </a:r>
            <a:endParaRPr lang="en-US" sz="1000" dirty="0"/>
          </a:p>
        </p:txBody>
      </p:sp>
      <p:sp>
        <p:nvSpPr>
          <p:cNvPr id="41" name="Seat"/>
          <p:cNvSpPr/>
          <p:nvPr/>
        </p:nvSpPr>
        <p:spPr>
          <a:xfrm>
            <a:off x="8503920" y="4169664"/>
            <a:ext cx="384048" cy="384048"/>
          </a:xfrm>
          <a:prstGeom prst="roundRect">
            <a:avLst>
              <a:gd name="adj" fmla="val 14286"/>
            </a:avLst>
          </a:prstGeom>
          <a:solidFill>
            <a:schemeClr val="accent2"/>
          </a:solidFill>
          <a:ln w="12700">
            <a:solidFill>
              <a:schemeClr val="accent2"/>
            </a:solidFill>
            <a:prstDash val="solid"/>
          </a:ln>
        </p:spPr>
      </p:sp>
      <p:sp>
        <p:nvSpPr>
          <p:cNvPr id="42" name="Seat"/>
          <p:cNvSpPr/>
          <p:nvPr/>
        </p:nvSpPr>
        <p:spPr>
          <a:xfrm>
            <a:off x="8979408" y="4169664"/>
            <a:ext cx="384048" cy="384048"/>
          </a:xfrm>
          <a:prstGeom prst="roundRect">
            <a:avLst>
              <a:gd name="adj" fmla="val 14286"/>
            </a:avLst>
          </a:prstGeom>
          <a:solidFill>
            <a:schemeClr val="accent1"/>
          </a:solidFill>
          <a:ln w="12700">
            <a:solidFill>
              <a:schemeClr val="accent1"/>
            </a:solidFill>
            <a:prstDash val="solid"/>
          </a:ln>
        </p:spPr>
      </p:sp>
      <p:sp>
        <p:nvSpPr>
          <p:cNvPr id="43" name="Seat"/>
          <p:cNvSpPr/>
          <p:nvPr/>
        </p:nvSpPr>
        <p:spPr>
          <a:xfrm>
            <a:off x="9454896" y="4169664"/>
            <a:ext cx="384048" cy="384048"/>
          </a:xfrm>
          <a:prstGeom prst="roundRect">
            <a:avLst>
              <a:gd name="adj" fmla="val 14286"/>
            </a:avLst>
          </a:prstGeom>
          <a:solidFill>
            <a:schemeClr val="accent2"/>
          </a:solidFill>
          <a:ln w="12700">
            <a:solidFill>
              <a:schemeClr val="accent2"/>
            </a:solidFill>
            <a:prstDash val="solid"/>
          </a:ln>
        </p:spPr>
      </p:sp>
      <p:sp>
        <p:nvSpPr>
          <p:cNvPr id="44" name="Seat"/>
          <p:cNvSpPr/>
          <p:nvPr/>
        </p:nvSpPr>
        <p:spPr>
          <a:xfrm>
            <a:off x="9930384" y="4169664"/>
            <a:ext cx="384048" cy="384048"/>
          </a:xfrm>
          <a:prstGeom prst="roundRect">
            <a:avLst>
              <a:gd name="adj" fmla="val 14286"/>
            </a:avLst>
          </a:prstGeom>
          <a:solidFill>
            <a:schemeClr val="accent4"/>
          </a:solidFill>
          <a:ln w="12700">
            <a:solidFill>
              <a:schemeClr val="accent4"/>
            </a:solidFill>
            <a:prstDash val="solid"/>
          </a:ln>
        </p:spPr>
      </p:sp>
      <p:sp>
        <p:nvSpPr>
          <p:cNvPr id="45" name="Text 40"/>
          <p:cNvSpPr txBox="1"/>
          <p:nvPr/>
        </p:nvSpPr>
        <p:spPr>
          <a:xfrm>
            <a:off x="7909560" y="4645152"/>
            <a:ext cx="548640" cy="384048"/>
          </a:xfrm>
          <a:prstGeom prst="rect">
            <a:avLst/>
          </a:prstGeom>
          <a:noFill/>
          <a:ln/>
        </p:spPr>
        <p:txBody>
          <a:bodyPr wrap="square" lIns="0" tIns="0" rIns="0" bIns="0" rtlCol="0" anchor="ctr"/>
          <a:lstStyle/>
          <a:p>
            <a:pPr indent="0" marL="0">
              <a:buNone/>
            </a:pPr>
            <a:r>
              <a:rPr lang="en-US" sz="1000" dirty="0">
                <a:solidFill>
                  <a:schemeClr val="tx2"/>
                </a:solidFill>
              </a:rPr>
              <a:t>4:45</a:t>
            </a:r>
            <a:endParaRPr lang="en-US" sz="1000" dirty="0"/>
          </a:p>
        </p:txBody>
      </p:sp>
      <p:sp>
        <p:nvSpPr>
          <p:cNvPr id="46" name="Seat"/>
          <p:cNvSpPr/>
          <p:nvPr/>
        </p:nvSpPr>
        <p:spPr>
          <a:xfrm>
            <a:off x="8503920" y="4645152"/>
            <a:ext cx="384048" cy="384048"/>
          </a:xfrm>
          <a:prstGeom prst="roundRect">
            <a:avLst>
              <a:gd name="adj" fmla="val 14286"/>
            </a:avLst>
          </a:prstGeom>
          <a:solidFill>
            <a:schemeClr val="accent4"/>
          </a:solidFill>
          <a:ln w="12700">
            <a:solidFill>
              <a:schemeClr val="accent4"/>
            </a:solidFill>
            <a:prstDash val="solid"/>
          </a:ln>
        </p:spPr>
      </p:sp>
      <p:sp>
        <p:nvSpPr>
          <p:cNvPr id="47" name="Seat"/>
          <p:cNvSpPr/>
          <p:nvPr/>
        </p:nvSpPr>
        <p:spPr>
          <a:xfrm>
            <a:off x="8979408" y="4645152"/>
            <a:ext cx="384048" cy="384048"/>
          </a:xfrm>
          <a:prstGeom prst="roundRect">
            <a:avLst>
              <a:gd name="adj" fmla="val 14286"/>
            </a:avLst>
          </a:prstGeom>
          <a:solidFill>
            <a:schemeClr val="accent2"/>
          </a:solidFill>
          <a:ln w="12700">
            <a:solidFill>
              <a:schemeClr val="accent2"/>
            </a:solidFill>
            <a:prstDash val="solid"/>
          </a:ln>
        </p:spPr>
      </p:sp>
      <p:sp>
        <p:nvSpPr>
          <p:cNvPr id="48" name="Seat"/>
          <p:cNvSpPr/>
          <p:nvPr/>
        </p:nvSpPr>
        <p:spPr>
          <a:xfrm>
            <a:off x="9454896" y="4645152"/>
            <a:ext cx="384048" cy="384048"/>
          </a:xfrm>
          <a:prstGeom prst="roundRect">
            <a:avLst>
              <a:gd name="adj" fmla="val 14286"/>
            </a:avLst>
          </a:prstGeom>
          <a:solidFill>
            <a:schemeClr val="accent2"/>
          </a:solidFill>
          <a:ln w="12700">
            <a:solidFill>
              <a:schemeClr val="accent2"/>
            </a:solidFill>
            <a:prstDash val="solid"/>
          </a:ln>
        </p:spPr>
      </p:sp>
      <p:sp>
        <p:nvSpPr>
          <p:cNvPr id="49" name="Seat"/>
          <p:cNvSpPr/>
          <p:nvPr/>
        </p:nvSpPr>
        <p:spPr>
          <a:xfrm>
            <a:off x="9930384" y="4645152"/>
            <a:ext cx="384048" cy="384048"/>
          </a:xfrm>
          <a:prstGeom prst="roundRect">
            <a:avLst>
              <a:gd name="adj" fmla="val 14286"/>
            </a:avLst>
          </a:prstGeom>
          <a:solidFill>
            <a:schemeClr val="accent2"/>
          </a:solidFill>
          <a:ln w="12700">
            <a:solidFill>
              <a:schemeClr val="accent2"/>
            </a:solidFill>
            <a:prstDash val="solid"/>
          </a:ln>
        </p:spPr>
      </p:sp>
      <p:sp>
        <p:nvSpPr>
          <p:cNvPr id="50" name="Book button"/>
          <p:cNvSpPr/>
          <p:nvPr/>
        </p:nvSpPr>
        <p:spPr>
          <a:xfrm>
            <a:off x="7955280" y="5257800"/>
            <a:ext cx="2377440" cy="457200"/>
          </a:xfrm>
          <a:prstGeom prst="roundRect">
            <a:avLst>
              <a:gd name="adj" fmla="val 50000"/>
            </a:avLst>
          </a:prstGeom>
          <a:solidFill>
            <a:schemeClr val="accent1"/>
          </a:solidFill>
          <a:ln w="12700">
            <a:solidFill>
              <a:schemeClr val="accent1"/>
            </a:solidFill>
            <a:prstDash val="solid"/>
          </a:ln>
        </p:spPr>
      </p:sp>
      <p:sp>
        <p:nvSpPr>
          <p:cNvPr id="51" name="Text 46"/>
          <p:cNvSpPr txBox="1"/>
          <p:nvPr/>
        </p:nvSpPr>
        <p:spPr>
          <a:xfrm>
            <a:off x="7955280" y="5257800"/>
            <a:ext cx="2377440" cy="457200"/>
          </a:xfrm>
          <a:prstGeom prst="rect">
            <a:avLst/>
          </a:prstGeom>
          <a:noFill/>
          <a:ln/>
        </p:spPr>
        <p:txBody>
          <a:bodyPr wrap="square" lIns="0" tIns="0" rIns="0" bIns="0" rtlCol="0" anchor="ctr"/>
          <a:lstStyle/>
          <a:p>
            <a:pPr algn="ctr" indent="0" marL="0">
              <a:buNone/>
            </a:pPr>
            <a:r>
              <a:rPr lang="en-US" sz="1200" b="1" dirty="0">
                <a:solidFill>
                  <a:schemeClr val="tx1"/>
                </a:solidFill>
              </a:rPr>
              <a:t>Book 4:30 PM · Stall B</a:t>
            </a:r>
            <a:endParaRPr lang="en-US" sz="12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HOW IT WORKS</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Five steps from open stall to paid session</a:t>
            </a:r>
            <a:endParaRPr lang="en-US" sz="3600" dirty="0"/>
          </a:p>
        </p:txBody>
      </p:sp>
      <p:sp>
        <p:nvSpPr>
          <p:cNvPr id="4" name="Step card"/>
          <p:cNvSpPr/>
          <p:nvPr/>
        </p:nvSpPr>
        <p:spPr>
          <a:xfrm>
            <a:off x="548640" y="2011680"/>
            <a:ext cx="1965960" cy="3383280"/>
          </a:xfrm>
          <a:prstGeom prst="roundRect">
            <a:avLst>
              <a:gd name="adj" fmla="val 558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Text 3"/>
          <p:cNvSpPr txBox="1"/>
          <p:nvPr/>
        </p:nvSpPr>
        <p:spPr>
          <a:xfrm>
            <a:off x="777240" y="2240280"/>
            <a:ext cx="914400" cy="457200"/>
          </a:xfrm>
          <a:prstGeom prst="rect">
            <a:avLst/>
          </a:prstGeom>
          <a:noFill/>
          <a:ln/>
        </p:spPr>
        <p:txBody>
          <a:bodyPr wrap="square" lIns="0" tIns="0" rIns="0" bIns="0" rtlCol="0" anchor="ctr"/>
          <a:lstStyle/>
          <a:p>
            <a:pPr indent="0" marL="0">
              <a:buNone/>
            </a:pPr>
            <a:r>
              <a:rPr lang="en-US" sz="2400" b="1" dirty="0">
                <a:solidFill>
                  <a:schemeClr val="accent5"/>
                </a:solidFill>
              </a:rPr>
              <a:t>01</a:t>
            </a:r>
            <a:endParaRPr lang="en-US" sz="2400" dirty="0"/>
          </a:p>
        </p:txBody>
      </p:sp>
      <p:sp>
        <p:nvSpPr>
          <p:cNvPr id="6" name="Icon circle"/>
          <p:cNvSpPr/>
          <p:nvPr/>
        </p:nvSpPr>
        <p:spPr>
          <a:xfrm>
            <a:off x="1645920" y="2212848"/>
            <a:ext cx="640080" cy="6400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1810512" y="2377440"/>
            <a:ext cx="310896" cy="310896"/>
          </a:xfrm>
          <a:prstGeom prst="rect">
            <a:avLst/>
          </a:prstGeom>
        </p:spPr>
      </p:pic>
      <p:sp>
        <p:nvSpPr>
          <p:cNvPr id="8" name="Text 5"/>
          <p:cNvSpPr txBox="1"/>
          <p:nvPr/>
        </p:nvSpPr>
        <p:spPr>
          <a:xfrm>
            <a:off x="777240" y="3063240"/>
            <a:ext cx="1554480" cy="914400"/>
          </a:xfrm>
          <a:prstGeom prst="rect">
            <a:avLst/>
          </a:prstGeom>
          <a:noFill/>
          <a:ln/>
        </p:spPr>
        <p:txBody>
          <a:bodyPr wrap="square" lIns="0" tIns="0" rIns="0" bIns="0" rtlCol="0" anchor="t"/>
          <a:lstStyle/>
          <a:p>
            <a:pPr indent="0" marL="0">
              <a:buNone/>
            </a:pPr>
            <a:r>
              <a:rPr lang="en-US" sz="1700" b="1" dirty="0">
                <a:solidFill>
                  <a:schemeClr val="tx1"/>
                </a:solidFill>
              </a:rPr>
              <a:t>Station publishes slots</a:t>
            </a:r>
            <a:endParaRPr lang="en-US" sz="1700" dirty="0"/>
          </a:p>
        </p:txBody>
      </p:sp>
      <p:sp>
        <p:nvSpPr>
          <p:cNvPr id="9" name="Text 6"/>
          <p:cNvSpPr txBox="1"/>
          <p:nvPr/>
        </p:nvSpPr>
        <p:spPr>
          <a:xfrm>
            <a:off x="777240" y="4114800"/>
            <a:ext cx="1554480" cy="1143000"/>
          </a:xfrm>
          <a:prstGeom prst="rect">
            <a:avLst/>
          </a:prstGeom>
          <a:noFill/>
          <a:ln/>
        </p:spPr>
        <p:txBody>
          <a:bodyPr wrap="square" lIns="0" tIns="0" rIns="0" bIns="0" rtlCol="0" anchor="t"/>
          <a:lstStyle/>
          <a:p>
            <a:pPr indent="0" marL="0">
              <a:buNone/>
            </a:pPr>
            <a:r>
              <a:rPr lang="en-US" sz="1400" dirty="0">
                <a:solidFill>
                  <a:schemeClr val="tx2"/>
                </a:solidFill>
              </a:rPr>
              <a:t>Operators share bookable capacity, schedules and tariffs</a:t>
            </a:r>
            <a:endParaRPr lang="en-US" sz="1400" dirty="0"/>
          </a:p>
        </p:txBody>
      </p:sp>
      <p:sp>
        <p:nvSpPr>
          <p:cNvPr id="10" name="Chevron"/>
          <p:cNvSpPr/>
          <p:nvPr/>
        </p:nvSpPr>
        <p:spPr>
          <a:xfrm>
            <a:off x="2587752" y="3593592"/>
            <a:ext cx="164592" cy="219456"/>
          </a:xfrm>
          <a:prstGeom prst="chevron">
            <a:avLst/>
          </a:prstGeom>
          <a:solidFill>
            <a:schemeClr val="accent1"/>
          </a:solidFill>
          <a:ln w="12700">
            <a:solidFill>
              <a:schemeClr val="accent1"/>
            </a:solidFill>
            <a:prstDash val="solid"/>
          </a:ln>
        </p:spPr>
      </p:sp>
      <p:sp>
        <p:nvSpPr>
          <p:cNvPr id="11" name="Step card"/>
          <p:cNvSpPr/>
          <p:nvPr/>
        </p:nvSpPr>
        <p:spPr>
          <a:xfrm>
            <a:off x="2820924" y="2011680"/>
            <a:ext cx="1965960" cy="3383280"/>
          </a:xfrm>
          <a:prstGeom prst="roundRect">
            <a:avLst>
              <a:gd name="adj" fmla="val 558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2" name="Text 9"/>
          <p:cNvSpPr txBox="1"/>
          <p:nvPr/>
        </p:nvSpPr>
        <p:spPr>
          <a:xfrm>
            <a:off x="3049524" y="2240280"/>
            <a:ext cx="914400" cy="457200"/>
          </a:xfrm>
          <a:prstGeom prst="rect">
            <a:avLst/>
          </a:prstGeom>
          <a:noFill/>
          <a:ln/>
        </p:spPr>
        <p:txBody>
          <a:bodyPr wrap="square" lIns="0" tIns="0" rIns="0" bIns="0" rtlCol="0" anchor="ctr"/>
          <a:lstStyle/>
          <a:p>
            <a:pPr indent="0" marL="0">
              <a:buNone/>
            </a:pPr>
            <a:r>
              <a:rPr lang="en-US" sz="2400" b="1" dirty="0">
                <a:solidFill>
                  <a:schemeClr val="accent5"/>
                </a:solidFill>
              </a:rPr>
              <a:t>02</a:t>
            </a:r>
            <a:endParaRPr lang="en-US" sz="2400" dirty="0"/>
          </a:p>
        </p:txBody>
      </p:sp>
      <p:sp>
        <p:nvSpPr>
          <p:cNvPr id="13" name="Icon circle"/>
          <p:cNvSpPr/>
          <p:nvPr/>
        </p:nvSpPr>
        <p:spPr>
          <a:xfrm>
            <a:off x="3918204" y="2212848"/>
            <a:ext cx="640080" cy="64008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4082796" y="2377440"/>
            <a:ext cx="310896" cy="310896"/>
          </a:xfrm>
          <a:prstGeom prst="rect">
            <a:avLst/>
          </a:prstGeom>
        </p:spPr>
      </p:pic>
      <p:sp>
        <p:nvSpPr>
          <p:cNvPr id="15" name="Text 11"/>
          <p:cNvSpPr txBox="1"/>
          <p:nvPr/>
        </p:nvSpPr>
        <p:spPr>
          <a:xfrm>
            <a:off x="3049524" y="3063240"/>
            <a:ext cx="1554480" cy="914400"/>
          </a:xfrm>
          <a:prstGeom prst="rect">
            <a:avLst/>
          </a:prstGeom>
          <a:noFill/>
          <a:ln/>
        </p:spPr>
        <p:txBody>
          <a:bodyPr wrap="square" lIns="0" tIns="0" rIns="0" bIns="0" rtlCol="0" anchor="t"/>
          <a:lstStyle/>
          <a:p>
            <a:pPr indent="0" marL="0">
              <a:buNone/>
            </a:pPr>
            <a:r>
              <a:rPr lang="en-US" sz="1700" b="1" dirty="0">
                <a:solidFill>
                  <a:schemeClr val="tx1"/>
                </a:solidFill>
              </a:rPr>
              <a:t>Fleet or driver books</a:t>
            </a:r>
            <a:endParaRPr lang="en-US" sz="1700" dirty="0"/>
          </a:p>
        </p:txBody>
      </p:sp>
      <p:sp>
        <p:nvSpPr>
          <p:cNvPr id="16" name="Text 12"/>
          <p:cNvSpPr txBox="1"/>
          <p:nvPr/>
        </p:nvSpPr>
        <p:spPr>
          <a:xfrm>
            <a:off x="3049524" y="4114800"/>
            <a:ext cx="1554480" cy="1143000"/>
          </a:xfrm>
          <a:prstGeom prst="rect">
            <a:avLst/>
          </a:prstGeom>
          <a:noFill/>
          <a:ln/>
        </p:spPr>
        <p:txBody>
          <a:bodyPr wrap="square" lIns="0" tIns="0" rIns="0" bIns="0" rtlCol="0" anchor="t"/>
          <a:lstStyle/>
          <a:p>
            <a:pPr indent="0" marL="0">
              <a:buNone/>
            </a:pPr>
            <a:r>
              <a:rPr lang="en-US" sz="1400" dirty="0">
                <a:solidFill>
                  <a:schemeClr val="tx2"/>
                </a:solidFill>
              </a:rPr>
              <a:t>Pick a site and a time in the app or fleet portal</a:t>
            </a:r>
            <a:endParaRPr lang="en-US" sz="1400" dirty="0"/>
          </a:p>
        </p:txBody>
      </p:sp>
      <p:sp>
        <p:nvSpPr>
          <p:cNvPr id="17" name="Chevron"/>
          <p:cNvSpPr/>
          <p:nvPr/>
        </p:nvSpPr>
        <p:spPr>
          <a:xfrm>
            <a:off x="4860036" y="3593592"/>
            <a:ext cx="164592" cy="219456"/>
          </a:xfrm>
          <a:prstGeom prst="chevron">
            <a:avLst/>
          </a:prstGeom>
          <a:solidFill>
            <a:schemeClr val="accent1"/>
          </a:solidFill>
          <a:ln w="12700">
            <a:solidFill>
              <a:schemeClr val="accent1"/>
            </a:solidFill>
            <a:prstDash val="solid"/>
          </a:ln>
        </p:spPr>
      </p:sp>
      <p:sp>
        <p:nvSpPr>
          <p:cNvPr id="18" name="Step card"/>
          <p:cNvSpPr/>
          <p:nvPr/>
        </p:nvSpPr>
        <p:spPr>
          <a:xfrm>
            <a:off x="5093208" y="2011680"/>
            <a:ext cx="1965960" cy="3383280"/>
          </a:xfrm>
          <a:prstGeom prst="roundRect">
            <a:avLst>
              <a:gd name="adj" fmla="val 558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9" name="Text 15"/>
          <p:cNvSpPr txBox="1"/>
          <p:nvPr/>
        </p:nvSpPr>
        <p:spPr>
          <a:xfrm>
            <a:off x="5321808" y="2240280"/>
            <a:ext cx="914400" cy="457200"/>
          </a:xfrm>
          <a:prstGeom prst="rect">
            <a:avLst/>
          </a:prstGeom>
          <a:noFill/>
          <a:ln/>
        </p:spPr>
        <p:txBody>
          <a:bodyPr wrap="square" lIns="0" tIns="0" rIns="0" bIns="0" rtlCol="0" anchor="ctr"/>
          <a:lstStyle/>
          <a:p>
            <a:pPr indent="0" marL="0">
              <a:buNone/>
            </a:pPr>
            <a:r>
              <a:rPr lang="en-US" sz="2400" b="1" dirty="0">
                <a:solidFill>
                  <a:schemeClr val="accent5"/>
                </a:solidFill>
              </a:rPr>
              <a:t>03</a:t>
            </a:r>
            <a:endParaRPr lang="en-US" sz="2400" dirty="0"/>
          </a:p>
        </p:txBody>
      </p:sp>
      <p:sp>
        <p:nvSpPr>
          <p:cNvPr id="20" name="Icon circle"/>
          <p:cNvSpPr/>
          <p:nvPr/>
        </p:nvSpPr>
        <p:spPr>
          <a:xfrm>
            <a:off x="6190488" y="2212848"/>
            <a:ext cx="640080" cy="640080"/>
          </a:xfrm>
          <a:prstGeom prst="ellipse">
            <a:avLst/>
          </a:prstGeom>
          <a:solidFill>
            <a:schemeClr val="accent1"/>
          </a:solidFill>
          <a:ln w="12700">
            <a:solidFill>
              <a:schemeClr val="accent1"/>
            </a:solidFill>
            <a:prstDash val="solid"/>
          </a:ln>
        </p:spPr>
      </p:sp>
      <p:pic>
        <p:nvPicPr>
          <p:cNvPr id="21" name="Image 2" descr="preencoded.png">    </p:cNvPr>
          <p:cNvPicPr>
            <a:picLocks noChangeAspect="1"/>
          </p:cNvPicPr>
          <p:nvPr/>
        </p:nvPicPr>
        <p:blipFill>
          <a:blip r:embed="rId3"/>
          <a:stretch>
            <a:fillRect/>
          </a:stretch>
        </p:blipFill>
        <p:spPr>
          <a:xfrm>
            <a:off x="6355080" y="2377440"/>
            <a:ext cx="310896" cy="310896"/>
          </a:xfrm>
          <a:prstGeom prst="rect">
            <a:avLst/>
          </a:prstGeom>
        </p:spPr>
      </p:pic>
      <p:sp>
        <p:nvSpPr>
          <p:cNvPr id="22" name="Text 17"/>
          <p:cNvSpPr txBox="1"/>
          <p:nvPr/>
        </p:nvSpPr>
        <p:spPr>
          <a:xfrm>
            <a:off x="5321808" y="3063240"/>
            <a:ext cx="1554480" cy="914400"/>
          </a:xfrm>
          <a:prstGeom prst="rect">
            <a:avLst/>
          </a:prstGeom>
          <a:noFill/>
          <a:ln/>
        </p:spPr>
        <p:txBody>
          <a:bodyPr wrap="square" lIns="0" tIns="0" rIns="0" bIns="0" rtlCol="0" anchor="t"/>
          <a:lstStyle/>
          <a:p>
            <a:pPr indent="0" marL="0">
              <a:buNone/>
            </a:pPr>
            <a:r>
              <a:rPr lang="en-US" sz="1700" b="1" dirty="0">
                <a:solidFill>
                  <a:schemeClr val="tx1"/>
                </a:solidFill>
              </a:rPr>
              <a:t>Reminder</a:t>
            </a:r>
            <a:endParaRPr lang="en-US" sz="1700" dirty="0"/>
          </a:p>
        </p:txBody>
      </p:sp>
      <p:sp>
        <p:nvSpPr>
          <p:cNvPr id="23" name="Text 18"/>
          <p:cNvSpPr txBox="1"/>
          <p:nvPr/>
        </p:nvSpPr>
        <p:spPr>
          <a:xfrm>
            <a:off x="5321808" y="4114800"/>
            <a:ext cx="1554480" cy="1143000"/>
          </a:xfrm>
          <a:prstGeom prst="rect">
            <a:avLst/>
          </a:prstGeom>
          <a:noFill/>
          <a:ln/>
        </p:spPr>
        <p:txBody>
          <a:bodyPr wrap="square" lIns="0" tIns="0" rIns="0" bIns="0" rtlCol="0" anchor="t"/>
          <a:lstStyle/>
          <a:p>
            <a:pPr indent="0" marL="0">
              <a:buNone/>
            </a:pPr>
            <a:r>
              <a:rPr lang="en-US" sz="1400" dirty="0">
                <a:solidFill>
                  <a:schemeClr val="tx2"/>
                </a:solidFill>
              </a:rPr>
              <a:t>Driver gets a heads-up before the slot starts</a:t>
            </a:r>
            <a:endParaRPr lang="en-US" sz="1400" dirty="0"/>
          </a:p>
        </p:txBody>
      </p:sp>
      <p:sp>
        <p:nvSpPr>
          <p:cNvPr id="24" name="Chevron"/>
          <p:cNvSpPr/>
          <p:nvPr/>
        </p:nvSpPr>
        <p:spPr>
          <a:xfrm>
            <a:off x="7132320" y="3593592"/>
            <a:ext cx="164592" cy="219456"/>
          </a:xfrm>
          <a:prstGeom prst="chevron">
            <a:avLst/>
          </a:prstGeom>
          <a:solidFill>
            <a:schemeClr val="accent1"/>
          </a:solidFill>
          <a:ln w="12700">
            <a:solidFill>
              <a:schemeClr val="accent1"/>
            </a:solidFill>
            <a:prstDash val="solid"/>
          </a:ln>
        </p:spPr>
      </p:sp>
      <p:sp>
        <p:nvSpPr>
          <p:cNvPr id="25" name="Step card"/>
          <p:cNvSpPr/>
          <p:nvPr/>
        </p:nvSpPr>
        <p:spPr>
          <a:xfrm>
            <a:off x="7365492" y="2011680"/>
            <a:ext cx="1965960" cy="3383280"/>
          </a:xfrm>
          <a:prstGeom prst="roundRect">
            <a:avLst>
              <a:gd name="adj" fmla="val 558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26" name="Text 21"/>
          <p:cNvSpPr txBox="1"/>
          <p:nvPr/>
        </p:nvSpPr>
        <p:spPr>
          <a:xfrm>
            <a:off x="7594092" y="2240280"/>
            <a:ext cx="914400" cy="457200"/>
          </a:xfrm>
          <a:prstGeom prst="rect">
            <a:avLst/>
          </a:prstGeom>
          <a:noFill/>
          <a:ln/>
        </p:spPr>
        <p:txBody>
          <a:bodyPr wrap="square" lIns="0" tIns="0" rIns="0" bIns="0" rtlCol="0" anchor="ctr"/>
          <a:lstStyle/>
          <a:p>
            <a:pPr indent="0" marL="0">
              <a:buNone/>
            </a:pPr>
            <a:r>
              <a:rPr lang="en-US" sz="2400" b="1" dirty="0">
                <a:solidFill>
                  <a:schemeClr val="accent5"/>
                </a:solidFill>
              </a:rPr>
              <a:t>04</a:t>
            </a:r>
            <a:endParaRPr lang="en-US" sz="2400" dirty="0"/>
          </a:p>
        </p:txBody>
      </p:sp>
      <p:sp>
        <p:nvSpPr>
          <p:cNvPr id="27" name="Icon circle"/>
          <p:cNvSpPr/>
          <p:nvPr/>
        </p:nvSpPr>
        <p:spPr>
          <a:xfrm>
            <a:off x="8462772" y="2212848"/>
            <a:ext cx="640080" cy="640080"/>
          </a:xfrm>
          <a:prstGeom prst="ellipse">
            <a:avLst/>
          </a:prstGeom>
          <a:solidFill>
            <a:schemeClr val="accent1"/>
          </a:solidFill>
          <a:ln w="12700">
            <a:solidFill>
              <a:schemeClr val="accent1"/>
            </a:solidFill>
            <a:prstDash val="solid"/>
          </a:ln>
        </p:spPr>
      </p:sp>
      <p:pic>
        <p:nvPicPr>
          <p:cNvPr id="28" name="Image 3" descr="preencoded.png">    </p:cNvPr>
          <p:cNvPicPr>
            <a:picLocks noChangeAspect="1"/>
          </p:cNvPicPr>
          <p:nvPr/>
        </p:nvPicPr>
        <p:blipFill>
          <a:blip r:embed="rId4"/>
          <a:stretch>
            <a:fillRect/>
          </a:stretch>
        </p:blipFill>
        <p:spPr>
          <a:xfrm>
            <a:off x="8627364" y="2377440"/>
            <a:ext cx="310896" cy="310896"/>
          </a:xfrm>
          <a:prstGeom prst="rect">
            <a:avLst/>
          </a:prstGeom>
        </p:spPr>
      </p:pic>
      <p:sp>
        <p:nvSpPr>
          <p:cNvPr id="29" name="Text 23"/>
          <p:cNvSpPr txBox="1"/>
          <p:nvPr/>
        </p:nvSpPr>
        <p:spPr>
          <a:xfrm>
            <a:off x="7594092" y="3063240"/>
            <a:ext cx="1554480" cy="914400"/>
          </a:xfrm>
          <a:prstGeom prst="rect">
            <a:avLst/>
          </a:prstGeom>
          <a:noFill/>
          <a:ln/>
        </p:spPr>
        <p:txBody>
          <a:bodyPr wrap="square" lIns="0" tIns="0" rIns="0" bIns="0" rtlCol="0" anchor="t"/>
          <a:lstStyle/>
          <a:p>
            <a:pPr indent="0" marL="0">
              <a:buNone/>
            </a:pPr>
            <a:r>
              <a:rPr lang="en-US" sz="1700" b="1" dirty="0">
                <a:solidFill>
                  <a:schemeClr val="tx1"/>
                </a:solidFill>
              </a:rPr>
              <a:t>Arrive and charge</a:t>
            </a:r>
            <a:endParaRPr lang="en-US" sz="1700" dirty="0"/>
          </a:p>
        </p:txBody>
      </p:sp>
      <p:sp>
        <p:nvSpPr>
          <p:cNvPr id="30" name="Text 24"/>
          <p:cNvSpPr txBox="1"/>
          <p:nvPr/>
        </p:nvSpPr>
        <p:spPr>
          <a:xfrm>
            <a:off x="7594092" y="4114800"/>
            <a:ext cx="1554480" cy="1143000"/>
          </a:xfrm>
          <a:prstGeom prst="rect">
            <a:avLst/>
          </a:prstGeom>
          <a:noFill/>
          <a:ln/>
        </p:spPr>
        <p:txBody>
          <a:bodyPr wrap="square" lIns="0" tIns="0" rIns="0" bIns="0" rtlCol="0" anchor="t"/>
          <a:lstStyle/>
          <a:p>
            <a:pPr indent="0" marL="0">
              <a:buNone/>
            </a:pPr>
            <a:r>
              <a:rPr lang="en-US" sz="1400" dirty="0">
                <a:solidFill>
                  <a:schemeClr val="tx2"/>
                </a:solidFill>
              </a:rPr>
              <a:t>The stall is reserved and ready on arrival</a:t>
            </a:r>
            <a:endParaRPr lang="en-US" sz="1400" dirty="0"/>
          </a:p>
        </p:txBody>
      </p:sp>
      <p:sp>
        <p:nvSpPr>
          <p:cNvPr id="31" name="Chevron"/>
          <p:cNvSpPr/>
          <p:nvPr/>
        </p:nvSpPr>
        <p:spPr>
          <a:xfrm>
            <a:off x="9404604" y="3593592"/>
            <a:ext cx="164592" cy="219456"/>
          </a:xfrm>
          <a:prstGeom prst="chevron">
            <a:avLst/>
          </a:prstGeom>
          <a:solidFill>
            <a:schemeClr val="accent1"/>
          </a:solidFill>
          <a:ln w="12700">
            <a:solidFill>
              <a:schemeClr val="accent1"/>
            </a:solidFill>
            <a:prstDash val="solid"/>
          </a:ln>
        </p:spPr>
      </p:sp>
      <p:sp>
        <p:nvSpPr>
          <p:cNvPr id="32" name="Step card"/>
          <p:cNvSpPr/>
          <p:nvPr/>
        </p:nvSpPr>
        <p:spPr>
          <a:xfrm>
            <a:off x="9637776" y="2011680"/>
            <a:ext cx="1965960" cy="3383280"/>
          </a:xfrm>
          <a:prstGeom prst="roundRect">
            <a:avLst>
              <a:gd name="adj" fmla="val 558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33" name="Text 27"/>
          <p:cNvSpPr txBox="1"/>
          <p:nvPr/>
        </p:nvSpPr>
        <p:spPr>
          <a:xfrm>
            <a:off x="9866376" y="2240280"/>
            <a:ext cx="914400" cy="457200"/>
          </a:xfrm>
          <a:prstGeom prst="rect">
            <a:avLst/>
          </a:prstGeom>
          <a:noFill/>
          <a:ln/>
        </p:spPr>
        <p:txBody>
          <a:bodyPr wrap="square" lIns="0" tIns="0" rIns="0" bIns="0" rtlCol="0" anchor="ctr"/>
          <a:lstStyle/>
          <a:p>
            <a:pPr indent="0" marL="0">
              <a:buNone/>
            </a:pPr>
            <a:r>
              <a:rPr lang="en-US" sz="2400" b="1" dirty="0">
                <a:solidFill>
                  <a:schemeClr val="accent5"/>
                </a:solidFill>
              </a:rPr>
              <a:t>05</a:t>
            </a:r>
            <a:endParaRPr lang="en-US" sz="2400" dirty="0"/>
          </a:p>
        </p:txBody>
      </p:sp>
      <p:sp>
        <p:nvSpPr>
          <p:cNvPr id="34" name="Icon circle"/>
          <p:cNvSpPr/>
          <p:nvPr/>
        </p:nvSpPr>
        <p:spPr>
          <a:xfrm>
            <a:off x="10735056" y="2212848"/>
            <a:ext cx="640080" cy="640080"/>
          </a:xfrm>
          <a:prstGeom prst="ellipse">
            <a:avLst/>
          </a:prstGeom>
          <a:solidFill>
            <a:schemeClr val="accent1"/>
          </a:solidFill>
          <a:ln w="12700">
            <a:solidFill>
              <a:schemeClr val="accent1"/>
            </a:solidFill>
            <a:prstDash val="solid"/>
          </a:ln>
        </p:spPr>
      </p:sp>
      <p:pic>
        <p:nvPicPr>
          <p:cNvPr id="35" name="Image 4" descr="preencoded.png">    </p:cNvPr>
          <p:cNvPicPr>
            <a:picLocks noChangeAspect="1"/>
          </p:cNvPicPr>
          <p:nvPr/>
        </p:nvPicPr>
        <p:blipFill>
          <a:blip r:embed="rId5"/>
          <a:stretch>
            <a:fillRect/>
          </a:stretch>
        </p:blipFill>
        <p:spPr>
          <a:xfrm>
            <a:off x="10899648" y="2377440"/>
            <a:ext cx="310896" cy="310896"/>
          </a:xfrm>
          <a:prstGeom prst="rect">
            <a:avLst/>
          </a:prstGeom>
        </p:spPr>
      </p:pic>
      <p:sp>
        <p:nvSpPr>
          <p:cNvPr id="36" name="Text 29"/>
          <p:cNvSpPr txBox="1"/>
          <p:nvPr/>
        </p:nvSpPr>
        <p:spPr>
          <a:xfrm>
            <a:off x="9866376" y="3063240"/>
            <a:ext cx="1554480" cy="914400"/>
          </a:xfrm>
          <a:prstGeom prst="rect">
            <a:avLst/>
          </a:prstGeom>
          <a:noFill/>
          <a:ln/>
        </p:spPr>
        <p:txBody>
          <a:bodyPr wrap="square" lIns="0" tIns="0" rIns="0" bIns="0" rtlCol="0" anchor="t"/>
          <a:lstStyle/>
          <a:p>
            <a:pPr indent="0" marL="0">
              <a:buNone/>
            </a:pPr>
            <a:r>
              <a:rPr lang="en-US" sz="1700" b="1" dirty="0">
                <a:solidFill>
                  <a:schemeClr val="tx1"/>
                </a:solidFill>
              </a:rPr>
              <a:t>Automatic billing</a:t>
            </a:r>
            <a:endParaRPr lang="en-US" sz="1700" dirty="0"/>
          </a:p>
        </p:txBody>
      </p:sp>
      <p:sp>
        <p:nvSpPr>
          <p:cNvPr id="37" name="Text 30"/>
          <p:cNvSpPr txBox="1"/>
          <p:nvPr/>
        </p:nvSpPr>
        <p:spPr>
          <a:xfrm>
            <a:off x="9866376" y="4114800"/>
            <a:ext cx="1554480" cy="1143000"/>
          </a:xfrm>
          <a:prstGeom prst="rect">
            <a:avLst/>
          </a:prstGeom>
          <a:noFill/>
          <a:ln/>
        </p:spPr>
        <p:txBody>
          <a:bodyPr wrap="square" lIns="0" tIns="0" rIns="0" bIns="0" rtlCol="0" anchor="t"/>
          <a:lstStyle/>
          <a:p>
            <a:pPr indent="0" marL="0">
              <a:buNone/>
            </a:pPr>
            <a:r>
              <a:rPr lang="en-US" sz="1400" dirty="0">
                <a:solidFill>
                  <a:schemeClr val="tx2"/>
                </a:solidFill>
              </a:rPr>
              <a:t>Session is billed and the station gets paid</a:t>
            </a:r>
            <a:endParaRPr lang="en-US" sz="1400" dirty="0"/>
          </a:p>
        </p:txBody>
      </p:sp>
      <p:sp>
        <p:nvSpPr>
          <p:cNvPr id="38" name="Text 31"/>
          <p:cNvSpPr txBox="1"/>
          <p:nvPr/>
        </p:nvSpPr>
        <p:spPr>
          <a:xfrm>
            <a:off x="548640" y="5623560"/>
            <a:ext cx="11064240" cy="411480"/>
          </a:xfrm>
          <a:prstGeom prst="rect">
            <a:avLst/>
          </a:prstGeom>
          <a:noFill/>
          <a:ln/>
        </p:spPr>
        <p:txBody>
          <a:bodyPr wrap="square" lIns="0" tIns="0" rIns="0" bIns="0" rtlCol="0" anchor="ctr"/>
          <a:lstStyle/>
          <a:p>
            <a:pPr indent="0" marL="0">
              <a:buNone/>
            </a:pPr>
            <a:r>
              <a:rPr lang="en-US" sz="1800" b="1" i="1" dirty="0">
                <a:solidFill>
                  <a:schemeClr val="tx1"/>
                </a:solidFill>
              </a:rPr>
              <a:t>Simple for the driver, automatic for everyone else.</a:t>
            </a:r>
            <a:endParaRPr lang="en-US" sz="18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PILOT TRACTION</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Live in Brooklyn and Queens since October 2025</a:t>
            </a:r>
            <a:endParaRPr lang="en-US" sz="3600" dirty="0"/>
          </a:p>
        </p:txBody>
      </p:sp>
      <p:sp>
        <p:nvSpPr>
          <p:cNvPr id="4" name="Metric card"/>
          <p:cNvSpPr/>
          <p:nvPr/>
        </p:nvSpPr>
        <p:spPr>
          <a:xfrm>
            <a:off x="548640" y="1783080"/>
            <a:ext cx="2560320" cy="1234440"/>
          </a:xfrm>
          <a:prstGeom prst="roundRect">
            <a:avLst>
              <a:gd name="adj" fmla="val 8889"/>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Text 3"/>
          <p:cNvSpPr txBox="1"/>
          <p:nvPr/>
        </p:nvSpPr>
        <p:spPr>
          <a:xfrm>
            <a:off x="822960" y="1920240"/>
            <a:ext cx="2103120" cy="640080"/>
          </a:xfrm>
          <a:prstGeom prst="rect">
            <a:avLst/>
          </a:prstGeom>
          <a:noFill/>
          <a:ln/>
        </p:spPr>
        <p:txBody>
          <a:bodyPr wrap="square" lIns="0" tIns="0" rIns="0" bIns="0" rtlCol="0" anchor="ctr"/>
          <a:lstStyle/>
          <a:p>
            <a:pPr indent="0" marL="0">
              <a:buNone/>
            </a:pPr>
            <a:r>
              <a:rPr lang="en-US" sz="3600" b="1" dirty="0">
                <a:solidFill>
                  <a:schemeClr val="tx1"/>
                </a:solidFill>
              </a:rPr>
              <a:t>3</a:t>
            </a:r>
            <a:endParaRPr lang="en-US" sz="3600" dirty="0"/>
          </a:p>
        </p:txBody>
      </p:sp>
      <p:sp>
        <p:nvSpPr>
          <p:cNvPr id="6" name="Text 4"/>
          <p:cNvSpPr txBox="1"/>
          <p:nvPr/>
        </p:nvSpPr>
        <p:spPr>
          <a:xfrm>
            <a:off x="822960" y="2560320"/>
            <a:ext cx="2103120" cy="320040"/>
          </a:xfrm>
          <a:prstGeom prst="rect">
            <a:avLst/>
          </a:prstGeom>
          <a:noFill/>
          <a:ln/>
        </p:spPr>
        <p:txBody>
          <a:bodyPr wrap="square" lIns="0" tIns="0" rIns="0" bIns="0" rtlCol="0" anchor="ctr"/>
          <a:lstStyle/>
          <a:p>
            <a:pPr indent="0" marL="0">
              <a:buNone/>
            </a:pPr>
            <a:r>
              <a:rPr lang="en-US" sz="1400" dirty="0">
                <a:solidFill>
                  <a:schemeClr val="tx2"/>
                </a:solidFill>
              </a:rPr>
              <a:t>partner sites</a:t>
            </a:r>
            <a:endParaRPr lang="en-US" sz="1400" dirty="0"/>
          </a:p>
        </p:txBody>
      </p:sp>
      <p:sp>
        <p:nvSpPr>
          <p:cNvPr id="7" name="Metric card"/>
          <p:cNvSpPr/>
          <p:nvPr/>
        </p:nvSpPr>
        <p:spPr>
          <a:xfrm>
            <a:off x="3444270" y="1783080"/>
            <a:ext cx="2560320" cy="1234440"/>
          </a:xfrm>
          <a:prstGeom prst="roundRect">
            <a:avLst>
              <a:gd name="adj" fmla="val 8889"/>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8" name="Text 6"/>
          <p:cNvSpPr txBox="1"/>
          <p:nvPr/>
        </p:nvSpPr>
        <p:spPr>
          <a:xfrm>
            <a:off x="3718590" y="1920240"/>
            <a:ext cx="2103120" cy="640080"/>
          </a:xfrm>
          <a:prstGeom prst="rect">
            <a:avLst/>
          </a:prstGeom>
          <a:noFill/>
          <a:ln/>
        </p:spPr>
        <p:txBody>
          <a:bodyPr wrap="square" lIns="0" tIns="0" rIns="0" bIns="0" rtlCol="0" anchor="ctr"/>
          <a:lstStyle/>
          <a:p>
            <a:pPr indent="0" marL="0">
              <a:buNone/>
            </a:pPr>
            <a:r>
              <a:rPr lang="en-US" sz="3600" b="1" dirty="0">
                <a:solidFill>
                  <a:schemeClr val="tx1"/>
                </a:solidFill>
              </a:rPr>
              <a:t>46</a:t>
            </a:r>
            <a:endParaRPr lang="en-US" sz="3600" dirty="0"/>
          </a:p>
        </p:txBody>
      </p:sp>
      <p:sp>
        <p:nvSpPr>
          <p:cNvPr id="9" name="Text 7"/>
          <p:cNvSpPr txBox="1"/>
          <p:nvPr/>
        </p:nvSpPr>
        <p:spPr>
          <a:xfrm>
            <a:off x="3718590" y="2560320"/>
            <a:ext cx="2103120" cy="320040"/>
          </a:xfrm>
          <a:prstGeom prst="rect">
            <a:avLst/>
          </a:prstGeom>
          <a:noFill/>
          <a:ln/>
        </p:spPr>
        <p:txBody>
          <a:bodyPr wrap="square" lIns="0" tIns="0" rIns="0" bIns="0" rtlCol="0" anchor="ctr"/>
          <a:lstStyle/>
          <a:p>
            <a:pPr indent="0" marL="0">
              <a:buNone/>
            </a:pPr>
            <a:r>
              <a:rPr lang="en-US" sz="1400" dirty="0">
                <a:solidFill>
                  <a:schemeClr val="tx2"/>
                </a:solidFill>
              </a:rPr>
              <a:t>DC fast-charging ports</a:t>
            </a:r>
            <a:endParaRPr lang="en-US" sz="1400" dirty="0"/>
          </a:p>
        </p:txBody>
      </p:sp>
      <p:sp>
        <p:nvSpPr>
          <p:cNvPr id="10" name="Metric card"/>
          <p:cNvSpPr/>
          <p:nvPr/>
        </p:nvSpPr>
        <p:spPr>
          <a:xfrm>
            <a:off x="6339901" y="1783080"/>
            <a:ext cx="2560320" cy="1234440"/>
          </a:xfrm>
          <a:prstGeom prst="roundRect">
            <a:avLst>
              <a:gd name="adj" fmla="val 8889"/>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1" name="Text 9"/>
          <p:cNvSpPr txBox="1"/>
          <p:nvPr/>
        </p:nvSpPr>
        <p:spPr>
          <a:xfrm>
            <a:off x="6614221" y="1920240"/>
            <a:ext cx="2103120" cy="640080"/>
          </a:xfrm>
          <a:prstGeom prst="rect">
            <a:avLst/>
          </a:prstGeom>
          <a:noFill/>
          <a:ln/>
        </p:spPr>
        <p:txBody>
          <a:bodyPr wrap="square" lIns="0" tIns="0" rIns="0" bIns="0" rtlCol="0" anchor="ctr"/>
          <a:lstStyle/>
          <a:p>
            <a:pPr indent="0" marL="0">
              <a:buNone/>
            </a:pPr>
            <a:r>
              <a:rPr lang="en-US" sz="3600" b="1" dirty="0">
                <a:solidFill>
                  <a:schemeClr val="tx1"/>
                </a:solidFill>
              </a:rPr>
              <a:t>2</a:t>
            </a:r>
            <a:endParaRPr lang="en-US" sz="3600" dirty="0"/>
          </a:p>
        </p:txBody>
      </p:sp>
      <p:sp>
        <p:nvSpPr>
          <p:cNvPr id="12" name="Text 10"/>
          <p:cNvSpPr txBox="1"/>
          <p:nvPr/>
        </p:nvSpPr>
        <p:spPr>
          <a:xfrm>
            <a:off x="6614221" y="2560320"/>
            <a:ext cx="2103120" cy="320040"/>
          </a:xfrm>
          <a:prstGeom prst="rect">
            <a:avLst/>
          </a:prstGeom>
          <a:noFill/>
          <a:ln/>
        </p:spPr>
        <p:txBody>
          <a:bodyPr wrap="square" lIns="0" tIns="0" rIns="0" bIns="0" rtlCol="0" anchor="ctr"/>
          <a:lstStyle/>
          <a:p>
            <a:pPr indent="0" marL="0">
              <a:buNone/>
            </a:pPr>
            <a:r>
              <a:rPr lang="en-US" sz="1400" dirty="0">
                <a:solidFill>
                  <a:schemeClr val="tx2"/>
                </a:solidFill>
              </a:rPr>
              <a:t>fleets on board</a:t>
            </a:r>
            <a:endParaRPr lang="en-US" sz="1400" dirty="0"/>
          </a:p>
        </p:txBody>
      </p:sp>
      <p:sp>
        <p:nvSpPr>
          <p:cNvPr id="13" name="Metric card"/>
          <p:cNvSpPr/>
          <p:nvPr/>
        </p:nvSpPr>
        <p:spPr>
          <a:xfrm>
            <a:off x="9235531" y="1783080"/>
            <a:ext cx="2560320" cy="1234440"/>
          </a:xfrm>
          <a:prstGeom prst="roundRect">
            <a:avLst>
              <a:gd name="adj" fmla="val 8889"/>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4" name="Text 12"/>
          <p:cNvSpPr txBox="1"/>
          <p:nvPr/>
        </p:nvSpPr>
        <p:spPr>
          <a:xfrm>
            <a:off x="9509851" y="1920240"/>
            <a:ext cx="2103120" cy="640080"/>
          </a:xfrm>
          <a:prstGeom prst="rect">
            <a:avLst/>
          </a:prstGeom>
          <a:noFill/>
          <a:ln/>
        </p:spPr>
        <p:txBody>
          <a:bodyPr wrap="square" lIns="0" tIns="0" rIns="0" bIns="0" rtlCol="0" anchor="ctr"/>
          <a:lstStyle/>
          <a:p>
            <a:pPr indent="0" marL="0">
              <a:buNone/>
            </a:pPr>
            <a:r>
              <a:rPr lang="en-US" sz="3600" b="1" dirty="0">
                <a:solidFill>
                  <a:schemeClr val="tx1"/>
                </a:solidFill>
              </a:rPr>
              <a:t>~2,300</a:t>
            </a:r>
            <a:endParaRPr lang="en-US" sz="3600" dirty="0"/>
          </a:p>
        </p:txBody>
      </p:sp>
      <p:sp>
        <p:nvSpPr>
          <p:cNvPr id="15" name="Text 13"/>
          <p:cNvSpPr txBox="1"/>
          <p:nvPr/>
        </p:nvSpPr>
        <p:spPr>
          <a:xfrm>
            <a:off x="9509851" y="2560320"/>
            <a:ext cx="2103120" cy="320040"/>
          </a:xfrm>
          <a:prstGeom prst="rect">
            <a:avLst/>
          </a:prstGeom>
          <a:noFill/>
          <a:ln/>
        </p:spPr>
        <p:txBody>
          <a:bodyPr wrap="square" lIns="0" tIns="0" rIns="0" bIns="0" rtlCol="0" anchor="ctr"/>
          <a:lstStyle/>
          <a:p>
            <a:pPr indent="0" marL="0">
              <a:buNone/>
            </a:pPr>
            <a:r>
              <a:rPr lang="en-US" sz="1400" dirty="0">
                <a:solidFill>
                  <a:schemeClr val="tx2"/>
                </a:solidFill>
              </a:rPr>
              <a:t>bookings per month</a:t>
            </a:r>
            <a:endParaRPr lang="en-US" sz="1400" dirty="0"/>
          </a:p>
        </p:txBody>
      </p:sp>
      <p:sp>
        <p:nvSpPr>
          <p:cNvPr id="16" name="Wait callout"/>
          <p:cNvSpPr/>
          <p:nvPr/>
        </p:nvSpPr>
        <p:spPr>
          <a:xfrm>
            <a:off x="548640" y="3291840"/>
            <a:ext cx="5349240" cy="2423160"/>
          </a:xfrm>
          <a:prstGeom prst="roundRect">
            <a:avLst>
              <a:gd name="adj" fmla="val 4528"/>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sp>
        <p:nvSpPr>
          <p:cNvPr id="17" name="Text 15"/>
          <p:cNvSpPr txBox="1"/>
          <p:nvPr/>
        </p:nvSpPr>
        <p:spPr>
          <a:xfrm>
            <a:off x="868680" y="3566160"/>
            <a:ext cx="3657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WAIT TIME</a:t>
            </a:r>
            <a:endParaRPr lang="en-US" sz="1200" dirty="0"/>
          </a:p>
        </p:txBody>
      </p:sp>
      <p:sp>
        <p:nvSpPr>
          <p:cNvPr id="18" name="Text 16"/>
          <p:cNvSpPr txBox="1"/>
          <p:nvPr/>
        </p:nvSpPr>
        <p:spPr>
          <a:xfrm>
            <a:off x="868680" y="3931920"/>
            <a:ext cx="4754880" cy="1005840"/>
          </a:xfrm>
          <a:prstGeom prst="rect">
            <a:avLst/>
          </a:prstGeom>
          <a:noFill/>
          <a:ln/>
        </p:spPr>
        <p:txBody>
          <a:bodyPr wrap="square" lIns="0" tIns="0" rIns="0" bIns="0" rtlCol="0" anchor="ctr"/>
          <a:lstStyle/>
          <a:p>
            <a:pPr indent="0" marL="0">
              <a:buNone/>
            </a:pPr>
            <a:r>
              <a:rPr lang="en-US" sz="6000" b="1" dirty="0">
                <a:solidFill>
                  <a:schemeClr val="accent6"/>
                </a:solidFill>
              </a:rPr>
              <a:t>31</a:t>
            </a:r>
            <a:pPr indent="0" marL="0">
              <a:buNone/>
            </a:pPr>
            <a:r>
              <a:rPr lang="en-US" sz="6000" b="1" dirty="0">
                <a:solidFill>
                  <a:schemeClr val="accent6"/>
                </a:solidFill>
              </a:rPr>
              <a:t> → </a:t>
            </a:r>
            <a:pPr indent="0" marL="0">
              <a:buNone/>
            </a:pPr>
            <a:r>
              <a:rPr lang="en-US" sz="6000" b="1" dirty="0">
                <a:solidFill>
                  <a:schemeClr val="accent1"/>
                </a:solidFill>
              </a:rPr>
              <a:t>6 min</a:t>
            </a:r>
            <a:endParaRPr lang="en-US" sz="6000" dirty="0"/>
          </a:p>
        </p:txBody>
      </p:sp>
      <p:sp>
        <p:nvSpPr>
          <p:cNvPr id="19" name="Text 17"/>
          <p:cNvSpPr txBox="1"/>
          <p:nvPr/>
        </p:nvSpPr>
        <p:spPr>
          <a:xfrm>
            <a:off x="868680" y="5029200"/>
            <a:ext cx="4754880" cy="457200"/>
          </a:xfrm>
          <a:prstGeom prst="rect">
            <a:avLst/>
          </a:prstGeom>
          <a:noFill/>
          <a:ln/>
        </p:spPr>
        <p:txBody>
          <a:bodyPr wrap="square" lIns="0" tIns="0" rIns="0" bIns="0" rtlCol="0" anchor="t"/>
          <a:lstStyle/>
          <a:p>
            <a:pPr indent="0" marL="0">
              <a:buNone/>
            </a:pPr>
            <a:r>
              <a:rPr lang="en-US" sz="1500" dirty="0">
                <a:solidFill>
                  <a:schemeClr val="bg1"/>
                </a:solidFill>
              </a:rPr>
              <a:t>Median arrival-to-plug wait, before vs with Amperlane</a:t>
            </a:r>
            <a:endParaRPr lang="en-US" sz="1500" dirty="0"/>
          </a:p>
        </p:txBody>
      </p:sp>
      <p:sp>
        <p:nvSpPr>
          <p:cNvPr id="20" name="Utilisation callout"/>
          <p:cNvSpPr/>
          <p:nvPr/>
        </p:nvSpPr>
        <p:spPr>
          <a:xfrm>
            <a:off x="6263640" y="3291840"/>
            <a:ext cx="5349240" cy="2423160"/>
          </a:xfrm>
          <a:prstGeom prst="roundRect">
            <a:avLst>
              <a:gd name="adj" fmla="val 452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21" name="Text 19"/>
          <p:cNvSpPr txBox="1"/>
          <p:nvPr/>
        </p:nvSpPr>
        <p:spPr>
          <a:xfrm>
            <a:off x="6583680" y="3566160"/>
            <a:ext cx="4754880" cy="274320"/>
          </a:xfrm>
          <a:prstGeom prst="rect">
            <a:avLst/>
          </a:prstGeom>
          <a:noFill/>
          <a:ln/>
        </p:spPr>
        <p:txBody>
          <a:bodyPr wrap="square" lIns="0" tIns="0" rIns="0" bIns="0" rtlCol="0" anchor="ctr"/>
          <a:lstStyle/>
          <a:p>
            <a:pPr indent="0" marL="0">
              <a:buNone/>
            </a:pPr>
            <a:r>
              <a:rPr lang="en-US" sz="1200" b="1" spc="200" kern="0" dirty="0">
                <a:solidFill>
                  <a:schemeClr val="tx2"/>
                </a:solidFill>
              </a:rPr>
              <a:t>STATION OFF-PEAK UTILISATION · GOWANUS</a:t>
            </a:r>
            <a:endParaRPr lang="en-US" sz="1200" dirty="0"/>
          </a:p>
        </p:txBody>
      </p:sp>
      <p:sp>
        <p:nvSpPr>
          <p:cNvPr id="22" name="Text 20"/>
          <p:cNvSpPr txBox="1"/>
          <p:nvPr/>
        </p:nvSpPr>
        <p:spPr>
          <a:xfrm>
            <a:off x="6583680" y="3931920"/>
            <a:ext cx="4754880" cy="1005840"/>
          </a:xfrm>
          <a:prstGeom prst="rect">
            <a:avLst/>
          </a:prstGeom>
          <a:noFill/>
          <a:ln/>
        </p:spPr>
        <p:txBody>
          <a:bodyPr wrap="square" lIns="0" tIns="0" rIns="0" bIns="0" rtlCol="0" anchor="ctr"/>
          <a:lstStyle/>
          <a:p>
            <a:pPr indent="0" marL="0">
              <a:buNone/>
            </a:pPr>
            <a:r>
              <a:rPr lang="en-US" sz="6000" b="1" dirty="0">
                <a:solidFill>
                  <a:schemeClr val="tx2"/>
                </a:solidFill>
              </a:rPr>
              <a:t>14%</a:t>
            </a:r>
            <a:pPr indent="0" marL="0">
              <a:buNone/>
            </a:pPr>
            <a:r>
              <a:rPr lang="en-US" sz="6000" b="1" dirty="0">
                <a:solidFill>
                  <a:schemeClr val="tx2"/>
                </a:solidFill>
              </a:rPr>
              <a:t> → </a:t>
            </a:r>
            <a:pPr indent="0" marL="0">
              <a:buNone/>
            </a:pPr>
            <a:r>
              <a:rPr lang="en-US" sz="6000" b="1" dirty="0">
                <a:solidFill>
                  <a:schemeClr val="accent5"/>
                </a:solidFill>
              </a:rPr>
              <a:t>23%</a:t>
            </a:r>
            <a:endParaRPr lang="en-US" sz="6000" dirty="0"/>
          </a:p>
        </p:txBody>
      </p:sp>
      <p:sp>
        <p:nvSpPr>
          <p:cNvPr id="23" name="Text 21"/>
          <p:cNvSpPr txBox="1"/>
          <p:nvPr/>
        </p:nvSpPr>
        <p:spPr>
          <a:xfrm>
            <a:off x="6583680" y="5029200"/>
            <a:ext cx="4754880" cy="457200"/>
          </a:xfrm>
          <a:prstGeom prst="rect">
            <a:avLst/>
          </a:prstGeom>
          <a:noFill/>
          <a:ln/>
        </p:spPr>
        <p:txBody>
          <a:bodyPr wrap="square" lIns="0" tIns="0" rIns="0" bIns="0" rtlCol="0" anchor="t"/>
          <a:lstStyle/>
          <a:p>
            <a:pPr indent="0" marL="0">
              <a:buNone/>
            </a:pPr>
            <a:r>
              <a:rPr lang="en-US" sz="1500" dirty="0">
                <a:solidFill>
                  <a:schemeClr val="tx1"/>
                </a:solidFill>
              </a:rPr>
              <a:t>Off-peak windows (10 AM–3 PM, 10 PM–5 AM) at our largest partner site</a:t>
            </a:r>
            <a:endParaRPr lang="en-US" sz="1500" dirty="0"/>
          </a:p>
        </p:txBody>
      </p:sp>
      <p:sp>
        <p:nvSpPr>
          <p:cNvPr id="24" name="Source"/>
          <p:cNvSpPr txBox="1"/>
          <p:nvPr/>
        </p:nvSpPr>
        <p:spPr>
          <a:xfrm>
            <a:off x="548640" y="5897880"/>
            <a:ext cx="11064240" cy="365760"/>
          </a:xfrm>
          <a:prstGeom prst="rect">
            <a:avLst/>
          </a:prstGeom>
          <a:noFill/>
          <a:ln/>
        </p:spPr>
        <p:txBody>
          <a:bodyPr wrap="square" lIns="0" tIns="0" rIns="0" bIns="0" rtlCol="0" anchor="b"/>
          <a:lstStyle/>
          <a:p>
            <a:pPr indent="0" marL="0">
              <a:buNone/>
            </a:pPr>
            <a:r>
              <a:rPr lang="en-US" sz="1000" dirty="0">
                <a:solidFill>
                  <a:schemeClr val="tx2"/>
                </a:solidFill>
              </a:rPr>
              <a:t>Amperlane Concierge pilot data, September 2026. Wait time: self-reported driver survey, n=212.</a:t>
            </a:r>
            <a:endParaRPr lang="en-US" sz="10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BUSINESS MODEL</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Two recurring revenue streams, one per side</a:t>
            </a:r>
            <a:endParaRPr lang="en-US" sz="3600" dirty="0"/>
          </a:p>
        </p:txBody>
      </p:sp>
      <p:sp>
        <p:nvSpPr>
          <p:cNvPr id="4" name="Take rate card"/>
          <p:cNvSpPr/>
          <p:nvPr/>
        </p:nvSpPr>
        <p:spPr>
          <a:xfrm>
            <a:off x="548640" y="1783080"/>
            <a:ext cx="3566160" cy="3931920"/>
          </a:xfrm>
          <a:prstGeom prst="roundRect">
            <a:avLst>
              <a:gd name="adj" fmla="val 3077"/>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Text 3"/>
          <p:cNvSpPr txBox="1"/>
          <p:nvPr/>
        </p:nvSpPr>
        <p:spPr>
          <a:xfrm>
            <a:off x="868680" y="2103120"/>
            <a:ext cx="3017520" cy="274320"/>
          </a:xfrm>
          <a:prstGeom prst="rect">
            <a:avLst/>
          </a:prstGeom>
          <a:noFill/>
          <a:ln/>
        </p:spPr>
        <p:txBody>
          <a:bodyPr wrap="square" lIns="0" tIns="0" rIns="0" bIns="0" rtlCol="0" anchor="ctr"/>
          <a:lstStyle/>
          <a:p>
            <a:pPr indent="0" marL="0">
              <a:buNone/>
            </a:pPr>
            <a:r>
              <a:rPr lang="en-US" sz="1200" b="1" spc="200" kern="0" dirty="0">
                <a:solidFill>
                  <a:schemeClr val="tx2"/>
                </a:solidFill>
              </a:rPr>
              <a:t>FROM STATIONS</a:t>
            </a:r>
            <a:endParaRPr lang="en-US" sz="1200" dirty="0"/>
          </a:p>
        </p:txBody>
      </p:sp>
      <p:sp>
        <p:nvSpPr>
          <p:cNvPr id="6" name="Text 4"/>
          <p:cNvSpPr txBox="1"/>
          <p:nvPr/>
        </p:nvSpPr>
        <p:spPr>
          <a:xfrm>
            <a:off x="868680" y="2514600"/>
            <a:ext cx="3017520" cy="914400"/>
          </a:xfrm>
          <a:prstGeom prst="rect">
            <a:avLst/>
          </a:prstGeom>
          <a:noFill/>
          <a:ln/>
        </p:spPr>
        <p:txBody>
          <a:bodyPr wrap="square" lIns="0" tIns="0" rIns="0" bIns="0" rtlCol="0" anchor="ctr"/>
          <a:lstStyle/>
          <a:p>
            <a:pPr indent="0" marL="0">
              <a:buNone/>
            </a:pPr>
            <a:r>
              <a:rPr lang="en-US" sz="5400" b="1" dirty="0">
                <a:solidFill>
                  <a:schemeClr val="tx1"/>
                </a:solidFill>
              </a:rPr>
              <a:t>10–12%</a:t>
            </a:r>
            <a:endParaRPr lang="en-US" sz="5400" dirty="0"/>
          </a:p>
        </p:txBody>
      </p:sp>
      <p:sp>
        <p:nvSpPr>
          <p:cNvPr id="7" name="Text 5"/>
          <p:cNvSpPr txBox="1"/>
          <p:nvPr/>
        </p:nvSpPr>
        <p:spPr>
          <a:xfrm>
            <a:off x="868680" y="3566160"/>
            <a:ext cx="2971800" cy="731520"/>
          </a:xfrm>
          <a:prstGeom prst="rect">
            <a:avLst/>
          </a:prstGeom>
          <a:noFill/>
          <a:ln/>
        </p:spPr>
        <p:txBody>
          <a:bodyPr wrap="square" lIns="0" tIns="0" rIns="0" bIns="0" rtlCol="0" anchor="t"/>
          <a:lstStyle/>
          <a:p>
            <a:pPr indent="0" marL="0">
              <a:buNone/>
            </a:pPr>
            <a:r>
              <a:rPr lang="en-US" sz="1600" b="1" dirty="0">
                <a:solidFill>
                  <a:schemeClr val="accent5"/>
                </a:solidFill>
              </a:rPr>
              <a:t>take rate on charging GMV booked through Amperlane</a:t>
            </a:r>
            <a:endParaRPr lang="en-US" sz="1600" dirty="0"/>
          </a:p>
        </p:txBody>
      </p:sp>
      <p:sp>
        <p:nvSpPr>
          <p:cNvPr id="8" name="Text 6"/>
          <p:cNvSpPr txBox="1"/>
          <p:nvPr/>
        </p:nvSpPr>
        <p:spPr>
          <a:xfrm>
            <a:off x="868680" y="4389120"/>
            <a:ext cx="2971800" cy="914400"/>
          </a:xfrm>
          <a:prstGeom prst="rect">
            <a:avLst/>
          </a:prstGeom>
          <a:noFill/>
          <a:ln/>
        </p:spPr>
        <p:txBody>
          <a:bodyPr wrap="square" lIns="0" tIns="0" rIns="0" bIns="0" rtlCol="0" anchor="t"/>
          <a:lstStyle/>
          <a:p>
            <a:pPr indent="0" marL="0">
              <a:buNone/>
            </a:pPr>
            <a:r>
              <a:rPr lang="en-US" sz="1400" dirty="0">
                <a:solidFill>
                  <a:schemeClr val="tx2"/>
                </a:solidFill>
              </a:rPr>
              <a:t>Stations pay for the demand we deliver to their chargers.</a:t>
            </a:r>
            <a:endParaRPr lang="en-US" sz="1400" dirty="0"/>
          </a:p>
        </p:txBody>
      </p:sp>
      <p:sp>
        <p:nvSpPr>
          <p:cNvPr id="9" name="SaaS card"/>
          <p:cNvSpPr/>
          <p:nvPr/>
        </p:nvSpPr>
        <p:spPr>
          <a:xfrm>
            <a:off x="4434840" y="1783080"/>
            <a:ext cx="3566160" cy="3931920"/>
          </a:xfrm>
          <a:prstGeom prst="roundRect">
            <a:avLst>
              <a:gd name="adj" fmla="val 3077"/>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10" name="Text 8"/>
          <p:cNvSpPr txBox="1"/>
          <p:nvPr/>
        </p:nvSpPr>
        <p:spPr>
          <a:xfrm>
            <a:off x="4754880" y="2103120"/>
            <a:ext cx="3017520" cy="274320"/>
          </a:xfrm>
          <a:prstGeom prst="rect">
            <a:avLst/>
          </a:prstGeom>
          <a:noFill/>
          <a:ln/>
        </p:spPr>
        <p:txBody>
          <a:bodyPr wrap="square" lIns="0" tIns="0" rIns="0" bIns="0" rtlCol="0" anchor="ctr"/>
          <a:lstStyle/>
          <a:p>
            <a:pPr indent="0" marL="0">
              <a:buNone/>
            </a:pPr>
            <a:r>
              <a:rPr lang="en-US" sz="1200" b="1" spc="200" kern="0" dirty="0">
                <a:solidFill>
                  <a:schemeClr val="tx2"/>
                </a:solidFill>
              </a:rPr>
              <a:t>FROM FLEETS</a:t>
            </a:r>
            <a:endParaRPr lang="en-US" sz="1200" dirty="0"/>
          </a:p>
        </p:txBody>
      </p:sp>
      <p:sp>
        <p:nvSpPr>
          <p:cNvPr id="11" name="Text 9"/>
          <p:cNvSpPr txBox="1"/>
          <p:nvPr/>
        </p:nvSpPr>
        <p:spPr>
          <a:xfrm>
            <a:off x="4754880" y="2514600"/>
            <a:ext cx="3017520" cy="914400"/>
          </a:xfrm>
          <a:prstGeom prst="rect">
            <a:avLst/>
          </a:prstGeom>
          <a:noFill/>
          <a:ln/>
        </p:spPr>
        <p:txBody>
          <a:bodyPr wrap="square" lIns="0" tIns="0" rIns="0" bIns="0" rtlCol="0" anchor="ctr"/>
          <a:lstStyle/>
          <a:p>
            <a:pPr indent="0" marL="0">
              <a:buNone/>
            </a:pPr>
            <a:r>
              <a:rPr lang="en-US" sz="5400" b="1" dirty="0">
                <a:solidFill>
                  <a:schemeClr val="tx1"/>
                </a:solidFill>
              </a:rPr>
              <a:t>$15</a:t>
            </a:r>
            <a:endParaRPr lang="en-US" sz="5400" dirty="0"/>
          </a:p>
        </p:txBody>
      </p:sp>
      <p:sp>
        <p:nvSpPr>
          <p:cNvPr id="12" name="Text 10"/>
          <p:cNvSpPr txBox="1"/>
          <p:nvPr/>
        </p:nvSpPr>
        <p:spPr>
          <a:xfrm>
            <a:off x="4754880" y="3566160"/>
            <a:ext cx="2971800" cy="731520"/>
          </a:xfrm>
          <a:prstGeom prst="rect">
            <a:avLst/>
          </a:prstGeom>
          <a:noFill/>
          <a:ln/>
        </p:spPr>
        <p:txBody>
          <a:bodyPr wrap="square" lIns="0" tIns="0" rIns="0" bIns="0" rtlCol="0" anchor="t"/>
          <a:lstStyle/>
          <a:p>
            <a:pPr indent="0" marL="0">
              <a:buNone/>
            </a:pPr>
            <a:r>
              <a:rPr lang="en-US" sz="1600" b="1" dirty="0">
                <a:solidFill>
                  <a:schemeClr val="accent5"/>
                </a:solidFill>
              </a:rPr>
              <a:t>per vehicle per month, fleet SaaS subscription</a:t>
            </a:r>
            <a:endParaRPr lang="en-US" sz="1600" dirty="0"/>
          </a:p>
        </p:txBody>
      </p:sp>
      <p:sp>
        <p:nvSpPr>
          <p:cNvPr id="13" name="Text 11"/>
          <p:cNvSpPr txBox="1"/>
          <p:nvPr/>
        </p:nvSpPr>
        <p:spPr>
          <a:xfrm>
            <a:off x="4754880" y="4389120"/>
            <a:ext cx="2971800" cy="914400"/>
          </a:xfrm>
          <a:prstGeom prst="rect">
            <a:avLst/>
          </a:prstGeom>
          <a:noFill/>
          <a:ln/>
        </p:spPr>
        <p:txBody>
          <a:bodyPr wrap="square" lIns="0" tIns="0" rIns="0" bIns="0" rtlCol="0" anchor="t"/>
          <a:lstStyle/>
          <a:p>
            <a:pPr indent="0" marL="0">
              <a:buNone/>
            </a:pPr>
            <a:r>
              <a:rPr lang="en-US" sz="1400" dirty="0">
                <a:solidFill>
                  <a:schemeClr val="tx2"/>
                </a:solidFill>
              </a:rPr>
              <a:t>Booking, fleet dashboard and reporting for every EV in the fleet.</a:t>
            </a:r>
            <a:endParaRPr lang="en-US" sz="1400" dirty="0"/>
          </a:p>
        </p:txBody>
      </p:sp>
      <p:sp>
        <p:nvSpPr>
          <p:cNvPr id="14" name="ARR callout"/>
          <p:cNvSpPr/>
          <p:nvPr/>
        </p:nvSpPr>
        <p:spPr>
          <a:xfrm>
            <a:off x="8321040" y="1783080"/>
            <a:ext cx="3291840" cy="3931920"/>
          </a:xfrm>
          <a:prstGeom prst="roundRect">
            <a:avLst>
              <a:gd name="adj" fmla="val 3333"/>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pic>
        <p:nvPicPr>
          <p:cNvPr id="15" name="Image 0" descr="preencoded.png">    </p:cNvPr>
          <p:cNvPicPr>
            <a:picLocks noChangeAspect="1"/>
          </p:cNvPicPr>
          <p:nvPr/>
        </p:nvPicPr>
        <p:blipFill>
          <a:blip r:embed="rId1"/>
          <a:stretch>
            <a:fillRect/>
          </a:stretch>
        </p:blipFill>
        <p:spPr>
          <a:xfrm>
            <a:off x="8641080" y="2103120"/>
            <a:ext cx="457200" cy="457200"/>
          </a:xfrm>
          <a:prstGeom prst="rect">
            <a:avLst/>
          </a:prstGeom>
        </p:spPr>
      </p:pic>
      <p:sp>
        <p:nvSpPr>
          <p:cNvPr id="16" name="Text 13"/>
          <p:cNvSpPr txBox="1"/>
          <p:nvPr/>
        </p:nvSpPr>
        <p:spPr>
          <a:xfrm>
            <a:off x="8641080" y="2880360"/>
            <a:ext cx="2743200" cy="914400"/>
          </a:xfrm>
          <a:prstGeom prst="rect">
            <a:avLst/>
          </a:prstGeom>
          <a:noFill/>
          <a:ln/>
        </p:spPr>
        <p:txBody>
          <a:bodyPr wrap="square" lIns="0" tIns="0" rIns="0" bIns="0" rtlCol="0" anchor="ctr"/>
          <a:lstStyle/>
          <a:p>
            <a:pPr indent="0" marL="0">
              <a:buNone/>
            </a:pPr>
            <a:r>
              <a:rPr lang="en-US" sz="5400" b="1" dirty="0">
                <a:solidFill>
                  <a:schemeClr val="accent1"/>
                </a:solidFill>
              </a:rPr>
              <a:t>$4.8M</a:t>
            </a:r>
            <a:endParaRPr lang="en-US" sz="5400" dirty="0"/>
          </a:p>
        </p:txBody>
      </p:sp>
      <p:sp>
        <p:nvSpPr>
          <p:cNvPr id="17" name="Text 14"/>
          <p:cNvSpPr txBox="1"/>
          <p:nvPr/>
        </p:nvSpPr>
        <p:spPr>
          <a:xfrm>
            <a:off x="8641080" y="3840480"/>
            <a:ext cx="2743200" cy="457200"/>
          </a:xfrm>
          <a:prstGeom prst="rect">
            <a:avLst/>
          </a:prstGeom>
          <a:noFill/>
          <a:ln/>
        </p:spPr>
        <p:txBody>
          <a:bodyPr wrap="square" lIns="0" tIns="0" rIns="0" bIns="0" rtlCol="0" anchor="t"/>
          <a:lstStyle/>
          <a:p>
            <a:pPr indent="0" marL="0">
              <a:buNone/>
            </a:pPr>
            <a:r>
              <a:rPr lang="en-US" sz="2200" b="1" dirty="0">
                <a:solidFill>
                  <a:schemeClr val="bg1"/>
                </a:solidFill>
              </a:rPr>
              <a:t>ARR in 2028</a:t>
            </a:r>
            <a:endParaRPr lang="en-US" sz="2200" dirty="0"/>
          </a:p>
        </p:txBody>
      </p:sp>
      <p:sp>
        <p:nvSpPr>
          <p:cNvPr id="18" name="Text 15"/>
          <p:cNvSpPr txBox="1"/>
          <p:nvPr/>
        </p:nvSpPr>
        <p:spPr>
          <a:xfrm>
            <a:off x="8641080" y="4434840"/>
            <a:ext cx="2697480" cy="914400"/>
          </a:xfrm>
          <a:prstGeom prst="rect">
            <a:avLst/>
          </a:prstGeom>
          <a:noFill/>
          <a:ln/>
        </p:spPr>
        <p:txBody>
          <a:bodyPr wrap="square" lIns="0" tIns="0" rIns="0" bIns="0" rtlCol="0" anchor="t"/>
          <a:lstStyle/>
          <a:p>
            <a:pPr indent="0" marL="0">
              <a:buNone/>
            </a:pPr>
            <a:r>
              <a:rPr lang="en-US" sz="1400" dirty="0">
                <a:solidFill>
                  <a:schemeClr val="accent6"/>
                </a:solidFill>
              </a:rPr>
              <a:t>Both streams scale with every new metro, station and fleet we add.</a:t>
            </a:r>
            <a:endParaRPr lang="en-US" sz="14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TARGET ARCHITECTURE</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Amperlane Platform v1: how it fits together</a:t>
            </a:r>
            <a:endParaRPr lang="en-US" sz="3600" dirty="0"/>
          </a:p>
        </p:txBody>
      </p:sp>
      <p:sp>
        <p:nvSpPr>
          <p:cNvPr id="4" name="Driver App"/>
          <p:cNvSpPr/>
          <p:nvPr/>
        </p:nvSpPr>
        <p:spPr>
          <a:xfrm>
            <a:off x="548640" y="2057400"/>
            <a:ext cx="2743200" cy="1051560"/>
          </a:xfrm>
          <a:prstGeom prst="roundRect">
            <a:avLst>
              <a:gd name="adj" fmla="val 8696"/>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sp>
        <p:nvSpPr>
          <p:cNvPr id="5" name="Text 3"/>
          <p:cNvSpPr txBox="1"/>
          <p:nvPr/>
        </p:nvSpPr>
        <p:spPr>
          <a:xfrm>
            <a:off x="685800" y="2057400"/>
            <a:ext cx="2468880" cy="1051560"/>
          </a:xfrm>
          <a:prstGeom prst="rect">
            <a:avLst/>
          </a:prstGeom>
          <a:noFill/>
          <a:ln/>
        </p:spPr>
        <p:txBody>
          <a:bodyPr wrap="square" lIns="0" tIns="0" rIns="0" bIns="0" rtlCol="0" anchor="ctr"/>
          <a:lstStyle/>
          <a:p>
            <a:pPr algn="ctr" indent="0" marL="0">
              <a:buNone/>
            </a:pPr>
            <a:r>
              <a:rPr lang="en-US" sz="1500" b="1" dirty="0">
                <a:solidFill>
                  <a:schemeClr val="bg1"/>
                </a:solidFill>
              </a:rPr>
              <a:t>Driver App</a:t>
            </a:r>
            <a:endParaRPr lang="en-US" sz="1500" dirty="0"/>
          </a:p>
          <a:p>
            <a:pPr algn="ctr" indent="0" marL="0">
              <a:buNone/>
            </a:pPr>
            <a:r>
              <a:rPr lang="en-US" sz="1200" dirty="0">
                <a:solidFill>
                  <a:schemeClr val="accent6"/>
                </a:solidFill>
              </a:rPr>
              <a:t>Native iOS / Android</a:t>
            </a:r>
            <a:endParaRPr lang="en-US" sz="1500" dirty="0"/>
          </a:p>
        </p:txBody>
      </p:sp>
      <p:sp>
        <p:nvSpPr>
          <p:cNvPr id="6" name="Fleet Web Portal"/>
          <p:cNvSpPr/>
          <p:nvPr/>
        </p:nvSpPr>
        <p:spPr>
          <a:xfrm>
            <a:off x="548640" y="3657600"/>
            <a:ext cx="2743200" cy="1051560"/>
          </a:xfrm>
          <a:prstGeom prst="roundRect">
            <a:avLst>
              <a:gd name="adj" fmla="val 8696"/>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sp>
        <p:nvSpPr>
          <p:cNvPr id="7" name="Text 5"/>
          <p:cNvSpPr txBox="1"/>
          <p:nvPr/>
        </p:nvSpPr>
        <p:spPr>
          <a:xfrm>
            <a:off x="685800" y="3657600"/>
            <a:ext cx="2468880" cy="1051560"/>
          </a:xfrm>
          <a:prstGeom prst="rect">
            <a:avLst/>
          </a:prstGeom>
          <a:noFill/>
          <a:ln/>
        </p:spPr>
        <p:txBody>
          <a:bodyPr wrap="square" lIns="0" tIns="0" rIns="0" bIns="0" rtlCol="0" anchor="ctr"/>
          <a:lstStyle/>
          <a:p>
            <a:pPr algn="ctr" indent="0" marL="0">
              <a:buNone/>
            </a:pPr>
            <a:r>
              <a:rPr lang="en-US" sz="1500" b="1" dirty="0">
                <a:solidFill>
                  <a:schemeClr val="bg1"/>
                </a:solidFill>
              </a:rPr>
              <a:t>Fleet Web Portal</a:t>
            </a:r>
            <a:endParaRPr lang="en-US" sz="1500" dirty="0"/>
          </a:p>
          <a:p>
            <a:pPr algn="ctr" indent="0" marL="0">
              <a:buNone/>
            </a:pPr>
            <a:r>
              <a:rPr lang="en-US" sz="1200" dirty="0">
                <a:solidFill>
                  <a:schemeClr val="accent6"/>
                </a:solidFill>
              </a:rPr>
              <a:t>Bookings, vehicles, reports</a:t>
            </a:r>
            <a:endParaRPr lang="en-US" sz="1500" dirty="0"/>
          </a:p>
        </p:txBody>
      </p:sp>
      <p:sp>
        <p:nvSpPr>
          <p:cNvPr id="8" name="Booking Engine"/>
          <p:cNvSpPr/>
          <p:nvPr/>
        </p:nvSpPr>
        <p:spPr>
          <a:xfrm>
            <a:off x="4572000" y="2423160"/>
            <a:ext cx="2834640" cy="1920240"/>
          </a:xfrm>
          <a:prstGeom prst="roundRect">
            <a:avLst>
              <a:gd name="adj" fmla="val 4762"/>
            </a:avLst>
          </a:prstGeom>
          <a:solidFill>
            <a:schemeClr val="accent1"/>
          </a:solidFill>
          <a:ln w="12700">
            <a:solidFill>
              <a:schemeClr val="accent1"/>
            </a:solidFill>
            <a:prstDash val="solid"/>
          </a:ln>
          <a:effectLst>
            <a:outerShdw sx="100000" sy="100000" kx="0" ky="0" algn="bl" rotWithShape="0" blurRad="101600" dist="25400" dir="5400000">
              <a:srgbClr val="0E1B2C">
                <a:alpha val="12000"/>
              </a:srgbClr>
            </a:outerShdw>
          </a:effectLst>
        </p:spPr>
      </p:sp>
      <p:sp>
        <p:nvSpPr>
          <p:cNvPr id="9" name="Text 7"/>
          <p:cNvSpPr txBox="1"/>
          <p:nvPr/>
        </p:nvSpPr>
        <p:spPr>
          <a:xfrm>
            <a:off x="4709160" y="2423160"/>
            <a:ext cx="2560320" cy="1920240"/>
          </a:xfrm>
          <a:prstGeom prst="rect">
            <a:avLst/>
          </a:prstGeom>
          <a:noFill/>
          <a:ln/>
        </p:spPr>
        <p:txBody>
          <a:bodyPr wrap="square" lIns="0" tIns="0" rIns="0" bIns="0" rtlCol="0" anchor="ctr"/>
          <a:lstStyle/>
          <a:p>
            <a:pPr algn="ctr" indent="0" marL="0">
              <a:buNone/>
            </a:pPr>
            <a:r>
              <a:rPr lang="en-US" sz="2200" b="1" dirty="0">
                <a:solidFill>
                  <a:schemeClr val="tx1"/>
                </a:solidFill>
              </a:rPr>
              <a:t>Booking Engine</a:t>
            </a:r>
            <a:endParaRPr lang="en-US" sz="2200" dirty="0"/>
          </a:p>
          <a:p>
            <a:pPr algn="ctr" indent="0" marL="0">
              <a:buNone/>
            </a:pPr>
            <a:r>
              <a:rPr lang="en-US" sz="1200" dirty="0">
                <a:solidFill>
                  <a:schemeClr val="tx1"/>
                </a:solidFill>
              </a:rPr>
              <a:t>Slots · bookings · billing</a:t>
            </a:r>
            <a:endParaRPr lang="en-US" sz="2200" dirty="0"/>
          </a:p>
        </p:txBody>
      </p:sp>
      <p:sp>
        <p:nvSpPr>
          <p:cNvPr id="10" name="Stripe"/>
          <p:cNvSpPr/>
          <p:nvPr/>
        </p:nvSpPr>
        <p:spPr>
          <a:xfrm>
            <a:off x="4572000" y="4983480"/>
            <a:ext cx="2834640" cy="777240"/>
          </a:xfrm>
          <a:prstGeom prst="roundRect">
            <a:avLst>
              <a:gd name="adj" fmla="val 11765"/>
            </a:avLst>
          </a:prstGeom>
          <a:solidFill>
            <a:schemeClr val="bg1"/>
          </a:solidFill>
          <a:ln w="12700">
            <a:solidFill>
              <a:schemeClr val="accent6"/>
            </a:solidFill>
            <a:prstDash val="solid"/>
          </a:ln>
          <a:effectLst>
            <a:outerShdw sx="100000" sy="100000" kx="0" ky="0" algn="bl" rotWithShape="0" blurRad="101600" dist="25400" dir="5400000">
              <a:srgbClr val="0E1B2C">
                <a:alpha val="12000"/>
              </a:srgbClr>
            </a:outerShdw>
          </a:effectLst>
        </p:spPr>
      </p:sp>
      <p:sp>
        <p:nvSpPr>
          <p:cNvPr id="11" name="Text 9"/>
          <p:cNvSpPr txBox="1"/>
          <p:nvPr/>
        </p:nvSpPr>
        <p:spPr>
          <a:xfrm>
            <a:off x="4709160" y="4983480"/>
            <a:ext cx="2560320" cy="777240"/>
          </a:xfrm>
          <a:prstGeom prst="rect">
            <a:avLst/>
          </a:prstGeom>
          <a:noFill/>
          <a:ln/>
        </p:spPr>
        <p:txBody>
          <a:bodyPr wrap="square" lIns="0" tIns="0" rIns="0" bIns="0" rtlCol="0" anchor="ctr"/>
          <a:lstStyle/>
          <a:p>
            <a:pPr algn="ctr" indent="0" marL="0">
              <a:buNone/>
            </a:pPr>
            <a:r>
              <a:rPr lang="en-US" sz="1500" b="1" dirty="0">
                <a:solidFill>
                  <a:schemeClr val="tx1"/>
                </a:solidFill>
              </a:rPr>
              <a:t>Stripe</a:t>
            </a:r>
            <a:endParaRPr lang="en-US" sz="1500" dirty="0"/>
          </a:p>
          <a:p>
            <a:pPr algn="ctr" indent="0" marL="0">
              <a:buNone/>
            </a:pPr>
            <a:r>
              <a:rPr lang="en-US" sz="1200" dirty="0">
                <a:solidFill>
                  <a:schemeClr val="tx2"/>
                </a:solidFill>
              </a:rPr>
              <a:t>Payments</a:t>
            </a:r>
            <a:endParaRPr lang="en-US" sz="1500" dirty="0"/>
          </a:p>
        </p:txBody>
      </p:sp>
      <p:sp>
        <p:nvSpPr>
          <p:cNvPr id="12" name="Charger APIs (OCPP)"/>
          <p:cNvSpPr/>
          <p:nvPr/>
        </p:nvSpPr>
        <p:spPr>
          <a:xfrm>
            <a:off x="8732520" y="1783080"/>
            <a:ext cx="2880360" cy="804672"/>
          </a:xfrm>
          <a:prstGeom prst="roundRect">
            <a:avLst>
              <a:gd name="adj" fmla="val 11364"/>
            </a:avLst>
          </a:prstGeom>
          <a:solidFill>
            <a:schemeClr val="bg1"/>
          </a:solidFill>
          <a:ln w="12700">
            <a:solidFill>
              <a:schemeClr val="accent6"/>
            </a:solidFill>
            <a:prstDash val="solid"/>
          </a:ln>
          <a:effectLst>
            <a:outerShdw sx="100000" sy="100000" kx="0" ky="0" algn="bl" rotWithShape="0" blurRad="101600" dist="25400" dir="5400000">
              <a:srgbClr val="0E1B2C">
                <a:alpha val="12000"/>
              </a:srgbClr>
            </a:outerShdw>
          </a:effectLst>
        </p:spPr>
      </p:sp>
      <p:sp>
        <p:nvSpPr>
          <p:cNvPr id="13" name="Text 11"/>
          <p:cNvSpPr txBox="1"/>
          <p:nvPr/>
        </p:nvSpPr>
        <p:spPr>
          <a:xfrm>
            <a:off x="8869680" y="1783080"/>
            <a:ext cx="2606040" cy="804672"/>
          </a:xfrm>
          <a:prstGeom prst="rect">
            <a:avLst/>
          </a:prstGeom>
          <a:noFill/>
          <a:ln/>
        </p:spPr>
        <p:txBody>
          <a:bodyPr wrap="square" lIns="0" tIns="0" rIns="0" bIns="0" rtlCol="0" anchor="ctr"/>
          <a:lstStyle/>
          <a:p>
            <a:pPr algn="ctr" indent="0" marL="0">
              <a:buNone/>
            </a:pPr>
            <a:r>
              <a:rPr lang="en-US" sz="1500" b="1" dirty="0">
                <a:solidFill>
                  <a:schemeClr val="tx1"/>
                </a:solidFill>
              </a:rPr>
              <a:t>Charger APIs (OCPP)</a:t>
            </a:r>
            <a:endParaRPr lang="en-US" sz="1500" dirty="0"/>
          </a:p>
          <a:p>
            <a:pPr algn="ctr" indent="0" marL="0">
              <a:buNone/>
            </a:pPr>
            <a:r>
              <a:rPr lang="en-US" sz="1200" dirty="0">
                <a:solidFill>
                  <a:schemeClr val="tx2"/>
                </a:solidFill>
              </a:rPr>
              <a:t>Real-time reservation on every charger</a:t>
            </a:r>
            <a:endParaRPr lang="en-US" sz="1500" dirty="0"/>
          </a:p>
        </p:txBody>
      </p:sp>
      <p:sp>
        <p:nvSpPr>
          <p:cNvPr id="14" name="NREL API"/>
          <p:cNvSpPr/>
          <p:nvPr/>
        </p:nvSpPr>
        <p:spPr>
          <a:xfrm>
            <a:off x="8732520" y="2770632"/>
            <a:ext cx="2880360" cy="804672"/>
          </a:xfrm>
          <a:prstGeom prst="roundRect">
            <a:avLst>
              <a:gd name="adj" fmla="val 11364"/>
            </a:avLst>
          </a:prstGeom>
          <a:solidFill>
            <a:schemeClr val="bg1"/>
          </a:solidFill>
          <a:ln w="12700">
            <a:solidFill>
              <a:schemeClr val="accent6"/>
            </a:solidFill>
            <a:prstDash val="solid"/>
          </a:ln>
          <a:effectLst>
            <a:outerShdw sx="100000" sy="100000" kx="0" ky="0" algn="bl" rotWithShape="0" blurRad="101600" dist="25400" dir="5400000">
              <a:srgbClr val="0E1B2C">
                <a:alpha val="12000"/>
              </a:srgbClr>
            </a:outerShdw>
          </a:effectLst>
        </p:spPr>
      </p:sp>
      <p:sp>
        <p:nvSpPr>
          <p:cNvPr id="15" name="Text 13"/>
          <p:cNvSpPr txBox="1"/>
          <p:nvPr/>
        </p:nvSpPr>
        <p:spPr>
          <a:xfrm>
            <a:off x="8869680" y="2770632"/>
            <a:ext cx="2606040" cy="804672"/>
          </a:xfrm>
          <a:prstGeom prst="rect">
            <a:avLst/>
          </a:prstGeom>
          <a:noFill/>
          <a:ln/>
        </p:spPr>
        <p:txBody>
          <a:bodyPr wrap="square" lIns="0" tIns="0" rIns="0" bIns="0" rtlCol="0" anchor="ctr"/>
          <a:lstStyle/>
          <a:p>
            <a:pPr algn="ctr" indent="0" marL="0">
              <a:buNone/>
            </a:pPr>
            <a:r>
              <a:rPr lang="en-US" sz="1500" b="1" dirty="0">
                <a:solidFill>
                  <a:schemeClr val="tx1"/>
                </a:solidFill>
              </a:rPr>
              <a:t>NREL API</a:t>
            </a:r>
            <a:endParaRPr lang="en-US" sz="1500" dirty="0"/>
          </a:p>
          <a:p>
            <a:pPr algn="ctr" indent="0" marL="0">
              <a:buNone/>
            </a:pPr>
            <a:r>
              <a:rPr lang="en-US" sz="1200" dirty="0">
                <a:solidFill>
                  <a:schemeClr val="tx2"/>
                </a:solidFill>
              </a:rPr>
              <a:t>Real-time station availability</a:t>
            </a:r>
            <a:endParaRPr lang="en-US" sz="1500" dirty="0"/>
          </a:p>
        </p:txBody>
      </p:sp>
      <p:sp>
        <p:nvSpPr>
          <p:cNvPr id="16" name="Tesla API"/>
          <p:cNvSpPr/>
          <p:nvPr/>
        </p:nvSpPr>
        <p:spPr>
          <a:xfrm>
            <a:off x="8732520" y="3758184"/>
            <a:ext cx="2880360" cy="804672"/>
          </a:xfrm>
          <a:prstGeom prst="roundRect">
            <a:avLst>
              <a:gd name="adj" fmla="val 11364"/>
            </a:avLst>
          </a:prstGeom>
          <a:solidFill>
            <a:schemeClr val="bg1"/>
          </a:solidFill>
          <a:ln w="12700">
            <a:solidFill>
              <a:schemeClr val="accent6"/>
            </a:solidFill>
            <a:prstDash val="solid"/>
          </a:ln>
          <a:effectLst>
            <a:outerShdw sx="100000" sy="100000" kx="0" ky="0" algn="bl" rotWithShape="0" blurRad="101600" dist="25400" dir="5400000">
              <a:srgbClr val="0E1B2C">
                <a:alpha val="12000"/>
              </a:srgbClr>
            </a:outerShdw>
          </a:effectLst>
        </p:spPr>
      </p:sp>
      <p:sp>
        <p:nvSpPr>
          <p:cNvPr id="17" name="Text 15"/>
          <p:cNvSpPr txBox="1"/>
          <p:nvPr/>
        </p:nvSpPr>
        <p:spPr>
          <a:xfrm>
            <a:off x="8869680" y="3758184"/>
            <a:ext cx="2606040" cy="804672"/>
          </a:xfrm>
          <a:prstGeom prst="rect">
            <a:avLst/>
          </a:prstGeom>
          <a:noFill/>
          <a:ln/>
        </p:spPr>
        <p:txBody>
          <a:bodyPr wrap="square" lIns="0" tIns="0" rIns="0" bIns="0" rtlCol="0" anchor="ctr"/>
          <a:lstStyle/>
          <a:p>
            <a:pPr algn="ctr" indent="0" marL="0">
              <a:buNone/>
            </a:pPr>
            <a:r>
              <a:rPr lang="en-US" sz="1500" b="1" dirty="0">
                <a:solidFill>
                  <a:schemeClr val="tx1"/>
                </a:solidFill>
              </a:rPr>
              <a:t>Tesla API</a:t>
            </a:r>
            <a:endParaRPr lang="en-US" sz="1500" dirty="0"/>
          </a:p>
          <a:p>
            <a:pPr algn="ctr" indent="0" marL="0">
              <a:buNone/>
            </a:pPr>
            <a:r>
              <a:rPr lang="en-US" sz="1200" dirty="0">
                <a:solidFill>
                  <a:schemeClr val="tx2"/>
                </a:solidFill>
              </a:rPr>
              <a:t>Vehicle battery data</a:t>
            </a:r>
            <a:endParaRPr lang="en-US" sz="1500" dirty="0"/>
          </a:p>
        </p:txBody>
      </p:sp>
      <p:sp>
        <p:nvSpPr>
          <p:cNvPr id="18" name="Google Maps"/>
          <p:cNvSpPr/>
          <p:nvPr/>
        </p:nvSpPr>
        <p:spPr>
          <a:xfrm>
            <a:off x="8732520" y="4745736"/>
            <a:ext cx="2880360" cy="804672"/>
          </a:xfrm>
          <a:prstGeom prst="roundRect">
            <a:avLst>
              <a:gd name="adj" fmla="val 11364"/>
            </a:avLst>
          </a:prstGeom>
          <a:solidFill>
            <a:schemeClr val="bg1"/>
          </a:solidFill>
          <a:ln w="12700">
            <a:solidFill>
              <a:schemeClr val="accent6"/>
            </a:solidFill>
            <a:prstDash val="solid"/>
          </a:ln>
          <a:effectLst>
            <a:outerShdw sx="100000" sy="100000" kx="0" ky="0" algn="bl" rotWithShape="0" blurRad="101600" dist="25400" dir="5400000">
              <a:srgbClr val="0E1B2C">
                <a:alpha val="12000"/>
              </a:srgbClr>
            </a:outerShdw>
          </a:effectLst>
        </p:spPr>
      </p:sp>
      <p:sp>
        <p:nvSpPr>
          <p:cNvPr id="19" name="Text 17"/>
          <p:cNvSpPr txBox="1"/>
          <p:nvPr/>
        </p:nvSpPr>
        <p:spPr>
          <a:xfrm>
            <a:off x="8869680" y="4745736"/>
            <a:ext cx="2606040" cy="804672"/>
          </a:xfrm>
          <a:prstGeom prst="rect">
            <a:avLst/>
          </a:prstGeom>
          <a:noFill/>
          <a:ln/>
        </p:spPr>
        <p:txBody>
          <a:bodyPr wrap="square" lIns="0" tIns="0" rIns="0" bIns="0" rtlCol="0" anchor="ctr"/>
          <a:lstStyle/>
          <a:p>
            <a:pPr algn="ctr" indent="0" marL="0">
              <a:buNone/>
            </a:pPr>
            <a:r>
              <a:rPr lang="en-US" sz="1500" b="1" dirty="0">
                <a:solidFill>
                  <a:schemeClr val="tx1"/>
                </a:solidFill>
              </a:rPr>
              <a:t>Google Maps</a:t>
            </a:r>
            <a:endParaRPr lang="en-US" sz="1500" dirty="0"/>
          </a:p>
          <a:p>
            <a:pPr algn="ctr" indent="0" marL="0">
              <a:buNone/>
            </a:pPr>
            <a:r>
              <a:rPr lang="en-US" sz="1200" dirty="0">
                <a:solidFill>
                  <a:schemeClr val="tx2"/>
                </a:solidFill>
              </a:rPr>
              <a:t>Maps, directions, ETA</a:t>
            </a:r>
            <a:endParaRPr lang="en-US" sz="1500" dirty="0"/>
          </a:p>
        </p:txBody>
      </p:sp>
      <p:sp>
        <p:nvSpPr>
          <p:cNvPr id="20" name="Arrow"/>
          <p:cNvSpPr/>
          <p:nvPr/>
        </p:nvSpPr>
        <p:spPr>
          <a:xfrm>
            <a:off x="3291840" y="2583180"/>
            <a:ext cx="1280160" cy="388620"/>
          </a:xfrm>
          <a:prstGeom prst="line">
            <a:avLst/>
          </a:prstGeom>
          <a:noFill/>
          <a:ln w="19050">
            <a:solidFill>
              <a:schemeClr val="tx1"/>
            </a:solidFill>
            <a:prstDash val="solid"/>
            <a:tailEnd type="triangle"/>
          </a:ln>
        </p:spPr>
      </p:sp>
      <p:sp>
        <p:nvSpPr>
          <p:cNvPr id="21" name="Arrow"/>
          <p:cNvSpPr/>
          <p:nvPr/>
        </p:nvSpPr>
        <p:spPr>
          <a:xfrm flipV="1">
            <a:off x="3291840" y="3794760"/>
            <a:ext cx="1280160" cy="388620"/>
          </a:xfrm>
          <a:prstGeom prst="line">
            <a:avLst/>
          </a:prstGeom>
          <a:noFill/>
          <a:ln w="19050">
            <a:solidFill>
              <a:schemeClr val="tx1"/>
            </a:solidFill>
            <a:prstDash val="solid"/>
            <a:tailEnd type="triangle"/>
          </a:ln>
        </p:spPr>
      </p:sp>
      <p:sp>
        <p:nvSpPr>
          <p:cNvPr id="22" name="Arrow"/>
          <p:cNvSpPr/>
          <p:nvPr/>
        </p:nvSpPr>
        <p:spPr>
          <a:xfrm flipV="1">
            <a:off x="7406640" y="2185416"/>
            <a:ext cx="1325880" cy="1197864"/>
          </a:xfrm>
          <a:prstGeom prst="line">
            <a:avLst/>
          </a:prstGeom>
          <a:noFill/>
          <a:ln w="19050">
            <a:solidFill>
              <a:schemeClr val="tx1"/>
            </a:solidFill>
            <a:prstDash val="solid"/>
            <a:tailEnd type="triangle"/>
          </a:ln>
        </p:spPr>
      </p:sp>
      <p:sp>
        <p:nvSpPr>
          <p:cNvPr id="23" name="Arrow"/>
          <p:cNvSpPr/>
          <p:nvPr/>
        </p:nvSpPr>
        <p:spPr>
          <a:xfrm flipV="1">
            <a:off x="7406640" y="3172968"/>
            <a:ext cx="1325880" cy="210312"/>
          </a:xfrm>
          <a:prstGeom prst="line">
            <a:avLst/>
          </a:prstGeom>
          <a:noFill/>
          <a:ln w="19050">
            <a:solidFill>
              <a:schemeClr val="tx1"/>
            </a:solidFill>
            <a:prstDash val="solid"/>
            <a:tailEnd type="triangle"/>
          </a:ln>
        </p:spPr>
      </p:sp>
      <p:sp>
        <p:nvSpPr>
          <p:cNvPr id="24" name="Arrow"/>
          <p:cNvSpPr/>
          <p:nvPr/>
        </p:nvSpPr>
        <p:spPr>
          <a:xfrm>
            <a:off x="7406640" y="3383280"/>
            <a:ext cx="1325880" cy="777240"/>
          </a:xfrm>
          <a:prstGeom prst="line">
            <a:avLst/>
          </a:prstGeom>
          <a:noFill/>
          <a:ln w="19050">
            <a:solidFill>
              <a:schemeClr val="tx1"/>
            </a:solidFill>
            <a:prstDash val="solid"/>
            <a:tailEnd type="triangle"/>
          </a:ln>
        </p:spPr>
      </p:sp>
      <p:sp>
        <p:nvSpPr>
          <p:cNvPr id="25" name="Arrow"/>
          <p:cNvSpPr/>
          <p:nvPr/>
        </p:nvSpPr>
        <p:spPr>
          <a:xfrm>
            <a:off x="7406640" y="3383280"/>
            <a:ext cx="1325880" cy="1764792"/>
          </a:xfrm>
          <a:prstGeom prst="line">
            <a:avLst/>
          </a:prstGeom>
          <a:noFill/>
          <a:ln w="19050">
            <a:solidFill>
              <a:schemeClr val="tx1"/>
            </a:solidFill>
            <a:prstDash val="solid"/>
            <a:tailEnd type="triangle"/>
          </a:ln>
        </p:spPr>
      </p:sp>
      <p:sp>
        <p:nvSpPr>
          <p:cNvPr id="26" name="Arrow"/>
          <p:cNvSpPr/>
          <p:nvPr/>
        </p:nvSpPr>
        <p:spPr>
          <a:xfrm>
            <a:off x="5989320" y="4343400"/>
            <a:ext cx="914" cy="640080"/>
          </a:xfrm>
          <a:prstGeom prst="line">
            <a:avLst/>
          </a:prstGeom>
          <a:noFill/>
          <a:ln w="19050">
            <a:solidFill>
              <a:schemeClr val="tx1"/>
            </a:solidFill>
            <a:prstDash val="solid"/>
            <a:tailEnd type="triangle"/>
          </a:ln>
        </p:spPr>
      </p:sp>
      <p:sp>
        <p:nvSpPr>
          <p:cNvPr id="27" name="Text 25"/>
          <p:cNvSpPr txBox="1"/>
          <p:nvPr/>
        </p:nvSpPr>
        <p:spPr>
          <a:xfrm>
            <a:off x="548640" y="5120640"/>
            <a:ext cx="3840480" cy="640080"/>
          </a:xfrm>
          <a:prstGeom prst="rect">
            <a:avLst/>
          </a:prstGeom>
          <a:noFill/>
          <a:ln/>
        </p:spPr>
        <p:txBody>
          <a:bodyPr wrap="square" lIns="0" tIns="0" rIns="0" bIns="0" rtlCol="0" anchor="t"/>
          <a:lstStyle/>
          <a:p>
            <a:pPr indent="0" marL="0">
              <a:buNone/>
            </a:pPr>
            <a:r>
              <a:rPr lang="en-US" sz="1400" i="1" dirty="0">
                <a:solidFill>
                  <a:schemeClr val="tx2"/>
                </a:solidFill>
              </a:rPr>
              <a:t>Cloud-native, API-first, built to launch metro by metro.</a:t>
            </a:r>
            <a:endParaRPr lang="en-US" sz="14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INTEGRATIONS WISHLIST</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Plug into the systems fleets and stations use</a:t>
            </a:r>
            <a:endParaRPr lang="en-US" sz="3600" dirty="0"/>
          </a:p>
        </p:txBody>
      </p:sp>
      <p:sp>
        <p:nvSpPr>
          <p:cNvPr id="4" name="CSMS card"/>
          <p:cNvSpPr/>
          <p:nvPr/>
        </p:nvSpPr>
        <p:spPr>
          <a:xfrm>
            <a:off x="548640" y="1783080"/>
            <a:ext cx="5852160" cy="3931920"/>
          </a:xfrm>
          <a:prstGeom prst="roundRect">
            <a:avLst>
              <a:gd name="adj" fmla="val 279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Icon circle"/>
          <p:cNvSpPr/>
          <p:nvPr/>
        </p:nvSpPr>
        <p:spPr>
          <a:xfrm>
            <a:off x="868680" y="210312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33272" y="2267712"/>
            <a:ext cx="310896" cy="310896"/>
          </a:xfrm>
          <a:prstGeom prst="rect">
            <a:avLst/>
          </a:prstGeom>
        </p:spPr>
      </p:pic>
      <p:sp>
        <p:nvSpPr>
          <p:cNvPr id="7" name="Text 4"/>
          <p:cNvSpPr txBox="1"/>
          <p:nvPr/>
        </p:nvSpPr>
        <p:spPr>
          <a:xfrm>
            <a:off x="1691640" y="210312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All major CSMS</a:t>
            </a:r>
            <a:endParaRPr lang="en-US" sz="2000" dirty="0"/>
          </a:p>
        </p:txBody>
      </p:sp>
      <p:sp>
        <p:nvSpPr>
          <p:cNvPr id="8" name="Text 5"/>
          <p:cNvSpPr txBox="1"/>
          <p:nvPr/>
        </p:nvSpPr>
        <p:spPr>
          <a:xfrm>
            <a:off x="1691640" y="2468880"/>
            <a:ext cx="4480560" cy="274320"/>
          </a:xfrm>
          <a:prstGeom prst="rect">
            <a:avLst/>
          </a:prstGeom>
          <a:noFill/>
          <a:ln/>
        </p:spPr>
        <p:txBody>
          <a:bodyPr wrap="square" lIns="0" tIns="0" rIns="0" bIns="0" rtlCol="0" anchor="ctr"/>
          <a:lstStyle/>
          <a:p>
            <a:pPr indent="0" marL="0">
              <a:buNone/>
            </a:pPr>
            <a:r>
              <a:rPr lang="en-US" sz="1300" dirty="0">
                <a:solidFill>
                  <a:schemeClr val="tx2"/>
                </a:solidFill>
              </a:rPr>
              <a:t>Charging station management systems</a:t>
            </a:r>
            <a:endParaRPr lang="en-US" sz="1300" dirty="0"/>
          </a:p>
        </p:txBody>
      </p:sp>
      <p:sp>
        <p:nvSpPr>
          <p:cNvPr id="9" name="Chip"/>
          <p:cNvSpPr/>
          <p:nvPr/>
        </p:nvSpPr>
        <p:spPr>
          <a:xfrm>
            <a:off x="868680" y="3017520"/>
            <a:ext cx="2514600" cy="548640"/>
          </a:xfrm>
          <a:prstGeom prst="roundRect">
            <a:avLst>
              <a:gd name="adj" fmla="val 50000"/>
            </a:avLst>
          </a:prstGeom>
          <a:solidFill>
            <a:schemeClr val="bg2"/>
          </a:solidFill>
          <a:ln w="12700">
            <a:solidFill>
              <a:schemeClr val="accent4"/>
            </a:solidFill>
            <a:prstDash val="solid"/>
          </a:ln>
        </p:spPr>
      </p:sp>
      <p:sp>
        <p:nvSpPr>
          <p:cNvPr id="10" name="Text 7"/>
          <p:cNvSpPr txBox="1"/>
          <p:nvPr/>
        </p:nvSpPr>
        <p:spPr>
          <a:xfrm>
            <a:off x="868680" y="3017520"/>
            <a:ext cx="2514600" cy="548640"/>
          </a:xfrm>
          <a:prstGeom prst="rect">
            <a:avLst/>
          </a:prstGeom>
          <a:noFill/>
          <a:ln/>
        </p:spPr>
        <p:txBody>
          <a:bodyPr wrap="square" lIns="0" tIns="0" rIns="0" bIns="0" rtlCol="0" anchor="ctr"/>
          <a:lstStyle/>
          <a:p>
            <a:pPr algn="ctr" indent="0" marL="0">
              <a:buNone/>
            </a:pPr>
            <a:r>
              <a:rPr lang="en-US" sz="1500" b="1" dirty="0">
                <a:solidFill>
                  <a:schemeClr val="tx1"/>
                </a:solidFill>
              </a:rPr>
              <a:t>ChargePoint</a:t>
            </a:r>
            <a:endParaRPr lang="en-US" sz="1500" dirty="0"/>
          </a:p>
        </p:txBody>
      </p:sp>
      <p:sp>
        <p:nvSpPr>
          <p:cNvPr id="11" name="Chip"/>
          <p:cNvSpPr/>
          <p:nvPr/>
        </p:nvSpPr>
        <p:spPr>
          <a:xfrm>
            <a:off x="3611880" y="3017520"/>
            <a:ext cx="2514600" cy="548640"/>
          </a:xfrm>
          <a:prstGeom prst="roundRect">
            <a:avLst>
              <a:gd name="adj" fmla="val 50000"/>
            </a:avLst>
          </a:prstGeom>
          <a:solidFill>
            <a:schemeClr val="bg2"/>
          </a:solidFill>
          <a:ln w="12700">
            <a:solidFill>
              <a:schemeClr val="accent4"/>
            </a:solidFill>
            <a:prstDash val="solid"/>
          </a:ln>
        </p:spPr>
      </p:sp>
      <p:sp>
        <p:nvSpPr>
          <p:cNvPr id="12" name="Text 9"/>
          <p:cNvSpPr txBox="1"/>
          <p:nvPr/>
        </p:nvSpPr>
        <p:spPr>
          <a:xfrm>
            <a:off x="3611880" y="3017520"/>
            <a:ext cx="2514600" cy="548640"/>
          </a:xfrm>
          <a:prstGeom prst="rect">
            <a:avLst/>
          </a:prstGeom>
          <a:noFill/>
          <a:ln/>
        </p:spPr>
        <p:txBody>
          <a:bodyPr wrap="square" lIns="0" tIns="0" rIns="0" bIns="0" rtlCol="0" anchor="ctr"/>
          <a:lstStyle/>
          <a:p>
            <a:pPr algn="ctr" indent="0" marL="0">
              <a:buNone/>
            </a:pPr>
            <a:r>
              <a:rPr lang="en-US" sz="1500" b="1" dirty="0">
                <a:solidFill>
                  <a:schemeClr val="tx1"/>
                </a:solidFill>
              </a:rPr>
              <a:t>EVgo</a:t>
            </a:r>
            <a:endParaRPr lang="en-US" sz="1500" dirty="0"/>
          </a:p>
        </p:txBody>
      </p:sp>
      <p:sp>
        <p:nvSpPr>
          <p:cNvPr id="13" name="Chip"/>
          <p:cNvSpPr/>
          <p:nvPr/>
        </p:nvSpPr>
        <p:spPr>
          <a:xfrm>
            <a:off x="868680" y="3703320"/>
            <a:ext cx="2514600" cy="548640"/>
          </a:xfrm>
          <a:prstGeom prst="roundRect">
            <a:avLst>
              <a:gd name="adj" fmla="val 50000"/>
            </a:avLst>
          </a:prstGeom>
          <a:solidFill>
            <a:schemeClr val="bg2"/>
          </a:solidFill>
          <a:ln w="12700">
            <a:solidFill>
              <a:schemeClr val="accent4"/>
            </a:solidFill>
            <a:prstDash val="solid"/>
          </a:ln>
        </p:spPr>
      </p:sp>
      <p:sp>
        <p:nvSpPr>
          <p:cNvPr id="14" name="Text 11"/>
          <p:cNvSpPr txBox="1"/>
          <p:nvPr/>
        </p:nvSpPr>
        <p:spPr>
          <a:xfrm>
            <a:off x="868680" y="3703320"/>
            <a:ext cx="2514600" cy="548640"/>
          </a:xfrm>
          <a:prstGeom prst="rect">
            <a:avLst/>
          </a:prstGeom>
          <a:noFill/>
          <a:ln/>
        </p:spPr>
        <p:txBody>
          <a:bodyPr wrap="square" lIns="0" tIns="0" rIns="0" bIns="0" rtlCol="0" anchor="ctr"/>
          <a:lstStyle/>
          <a:p>
            <a:pPr algn="ctr" indent="0" marL="0">
              <a:buNone/>
            </a:pPr>
            <a:r>
              <a:rPr lang="en-US" sz="1500" b="1" dirty="0">
                <a:solidFill>
                  <a:schemeClr val="tx1"/>
                </a:solidFill>
              </a:rPr>
              <a:t>Electrify America</a:t>
            </a:r>
            <a:endParaRPr lang="en-US" sz="1500" dirty="0"/>
          </a:p>
        </p:txBody>
      </p:sp>
      <p:sp>
        <p:nvSpPr>
          <p:cNvPr id="15" name="Chip"/>
          <p:cNvSpPr/>
          <p:nvPr/>
        </p:nvSpPr>
        <p:spPr>
          <a:xfrm>
            <a:off x="3611880" y="3703320"/>
            <a:ext cx="2514600" cy="548640"/>
          </a:xfrm>
          <a:prstGeom prst="roundRect">
            <a:avLst>
              <a:gd name="adj" fmla="val 50000"/>
            </a:avLst>
          </a:prstGeom>
          <a:solidFill>
            <a:schemeClr val="bg2"/>
          </a:solidFill>
          <a:ln w="12700">
            <a:solidFill>
              <a:schemeClr val="accent4"/>
            </a:solidFill>
            <a:prstDash val="solid"/>
          </a:ln>
        </p:spPr>
      </p:sp>
      <p:sp>
        <p:nvSpPr>
          <p:cNvPr id="16" name="Text 13"/>
          <p:cNvSpPr txBox="1"/>
          <p:nvPr/>
        </p:nvSpPr>
        <p:spPr>
          <a:xfrm>
            <a:off x="3611880" y="3703320"/>
            <a:ext cx="2514600" cy="548640"/>
          </a:xfrm>
          <a:prstGeom prst="rect">
            <a:avLst/>
          </a:prstGeom>
          <a:noFill/>
          <a:ln/>
        </p:spPr>
        <p:txBody>
          <a:bodyPr wrap="square" lIns="0" tIns="0" rIns="0" bIns="0" rtlCol="0" anchor="ctr"/>
          <a:lstStyle/>
          <a:p>
            <a:pPr algn="ctr" indent="0" marL="0">
              <a:buNone/>
            </a:pPr>
            <a:r>
              <a:rPr lang="en-US" sz="1500" b="1" dirty="0">
                <a:solidFill>
                  <a:schemeClr val="tx1"/>
                </a:solidFill>
              </a:rPr>
              <a:t>AMPECO</a:t>
            </a:r>
            <a:endParaRPr lang="en-US" sz="1500" dirty="0"/>
          </a:p>
        </p:txBody>
      </p:sp>
      <p:sp>
        <p:nvSpPr>
          <p:cNvPr id="17" name="Chip"/>
          <p:cNvSpPr/>
          <p:nvPr/>
        </p:nvSpPr>
        <p:spPr>
          <a:xfrm>
            <a:off x="868680" y="4389120"/>
            <a:ext cx="2514600" cy="548640"/>
          </a:xfrm>
          <a:prstGeom prst="roundRect">
            <a:avLst>
              <a:gd name="adj" fmla="val 50000"/>
            </a:avLst>
          </a:prstGeom>
          <a:solidFill>
            <a:schemeClr val="bg2"/>
          </a:solidFill>
          <a:ln w="12700">
            <a:solidFill>
              <a:schemeClr val="accent4"/>
            </a:solidFill>
            <a:prstDash val="solid"/>
          </a:ln>
        </p:spPr>
      </p:sp>
      <p:sp>
        <p:nvSpPr>
          <p:cNvPr id="18" name="Text 15"/>
          <p:cNvSpPr txBox="1"/>
          <p:nvPr/>
        </p:nvSpPr>
        <p:spPr>
          <a:xfrm>
            <a:off x="868680" y="4389120"/>
            <a:ext cx="2514600" cy="548640"/>
          </a:xfrm>
          <a:prstGeom prst="rect">
            <a:avLst/>
          </a:prstGeom>
          <a:noFill/>
          <a:ln/>
        </p:spPr>
        <p:txBody>
          <a:bodyPr wrap="square" lIns="0" tIns="0" rIns="0" bIns="0" rtlCol="0" anchor="ctr"/>
          <a:lstStyle/>
          <a:p>
            <a:pPr algn="ctr" indent="0" marL="0">
              <a:buNone/>
            </a:pPr>
            <a:r>
              <a:rPr lang="en-US" sz="1500" b="1" dirty="0">
                <a:solidFill>
                  <a:schemeClr val="tx1"/>
                </a:solidFill>
              </a:rPr>
              <a:t>ChargeLab</a:t>
            </a:r>
            <a:endParaRPr lang="en-US" sz="1500" dirty="0"/>
          </a:p>
        </p:txBody>
      </p:sp>
      <p:sp>
        <p:nvSpPr>
          <p:cNvPr id="19" name="Integration card"/>
          <p:cNvSpPr/>
          <p:nvPr/>
        </p:nvSpPr>
        <p:spPr>
          <a:xfrm>
            <a:off x="6720840" y="1783080"/>
            <a:ext cx="489204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20" name="Icon circle"/>
          <p:cNvSpPr/>
          <p:nvPr/>
        </p:nvSpPr>
        <p:spPr>
          <a:xfrm>
            <a:off x="6949440" y="1901952"/>
            <a:ext cx="548640" cy="548640"/>
          </a:xfrm>
          <a:prstGeom prst="ellipse">
            <a:avLst/>
          </a:prstGeom>
          <a:solidFill>
            <a:schemeClr val="accent1"/>
          </a:solidFill>
          <a:ln w="12700">
            <a:solidFill>
              <a:schemeClr val="accent1"/>
            </a:solidFill>
            <a:prstDash val="solid"/>
          </a:ln>
        </p:spPr>
      </p:sp>
      <p:pic>
        <p:nvPicPr>
          <p:cNvPr id="21" name="Image 1" descr="preencoded.png">    </p:cNvPr>
          <p:cNvPicPr>
            <a:picLocks noChangeAspect="1"/>
          </p:cNvPicPr>
          <p:nvPr/>
        </p:nvPicPr>
        <p:blipFill>
          <a:blip r:embed="rId2"/>
          <a:stretch>
            <a:fillRect/>
          </a:stretch>
        </p:blipFill>
        <p:spPr>
          <a:xfrm>
            <a:off x="7091172" y="2043684"/>
            <a:ext cx="265176" cy="265176"/>
          </a:xfrm>
          <a:prstGeom prst="rect">
            <a:avLst/>
          </a:prstGeom>
        </p:spPr>
      </p:pic>
      <p:sp>
        <p:nvSpPr>
          <p:cNvPr id="22" name="Text 18"/>
          <p:cNvSpPr txBox="1"/>
          <p:nvPr/>
        </p:nvSpPr>
        <p:spPr>
          <a:xfrm>
            <a:off x="7680960" y="1856232"/>
            <a:ext cx="3749040" cy="347472"/>
          </a:xfrm>
          <a:prstGeom prst="rect">
            <a:avLst/>
          </a:prstGeom>
          <a:noFill/>
          <a:ln/>
        </p:spPr>
        <p:txBody>
          <a:bodyPr wrap="square" lIns="0" tIns="0" rIns="0" bIns="0" rtlCol="0" anchor="ctr"/>
          <a:lstStyle/>
          <a:p>
            <a:pPr indent="0" marL="0">
              <a:buNone/>
            </a:pPr>
            <a:r>
              <a:rPr lang="en-US" sz="1600" b="1" dirty="0">
                <a:solidFill>
                  <a:schemeClr val="tx1"/>
                </a:solidFill>
              </a:rPr>
              <a:t>Uber / Lyft driver apps</a:t>
            </a:r>
            <a:endParaRPr lang="en-US" sz="1600" dirty="0"/>
          </a:p>
        </p:txBody>
      </p:sp>
      <p:sp>
        <p:nvSpPr>
          <p:cNvPr id="23" name="Text 19"/>
          <p:cNvSpPr txBox="1"/>
          <p:nvPr/>
        </p:nvSpPr>
        <p:spPr>
          <a:xfrm>
            <a:off x="7680960" y="2194560"/>
            <a:ext cx="3749040" cy="292608"/>
          </a:xfrm>
          <a:prstGeom prst="rect">
            <a:avLst/>
          </a:prstGeom>
          <a:noFill/>
          <a:ln/>
        </p:spPr>
        <p:txBody>
          <a:bodyPr wrap="square" lIns="0" tIns="0" rIns="0" bIns="0" rtlCol="0" anchor="ctr"/>
          <a:lstStyle/>
          <a:p>
            <a:pPr indent="0" marL="0">
              <a:buNone/>
            </a:pPr>
            <a:r>
              <a:rPr lang="en-US" sz="1300" dirty="0">
                <a:solidFill>
                  <a:schemeClr val="tx2"/>
                </a:solidFill>
              </a:rPr>
              <a:t>Deep link + data</a:t>
            </a:r>
            <a:endParaRPr lang="en-US" sz="1300" dirty="0"/>
          </a:p>
        </p:txBody>
      </p:sp>
      <p:sp>
        <p:nvSpPr>
          <p:cNvPr id="24" name="Integration card"/>
          <p:cNvSpPr/>
          <p:nvPr/>
        </p:nvSpPr>
        <p:spPr>
          <a:xfrm>
            <a:off x="6720840" y="2834640"/>
            <a:ext cx="489204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25" name="Icon circle"/>
          <p:cNvSpPr/>
          <p:nvPr/>
        </p:nvSpPr>
        <p:spPr>
          <a:xfrm>
            <a:off x="6949440" y="2953512"/>
            <a:ext cx="548640" cy="548640"/>
          </a:xfrm>
          <a:prstGeom prst="ellipse">
            <a:avLst/>
          </a:prstGeom>
          <a:solidFill>
            <a:schemeClr val="accent1"/>
          </a:solidFill>
          <a:ln w="12700">
            <a:solidFill>
              <a:schemeClr val="accent1"/>
            </a:solidFill>
            <a:prstDash val="solid"/>
          </a:ln>
        </p:spPr>
      </p:sp>
      <p:pic>
        <p:nvPicPr>
          <p:cNvPr id="26" name="Image 2" descr="preencoded.png">    </p:cNvPr>
          <p:cNvPicPr>
            <a:picLocks noChangeAspect="1"/>
          </p:cNvPicPr>
          <p:nvPr/>
        </p:nvPicPr>
        <p:blipFill>
          <a:blip r:embed="rId3"/>
          <a:stretch>
            <a:fillRect/>
          </a:stretch>
        </p:blipFill>
        <p:spPr>
          <a:xfrm>
            <a:off x="7091172" y="3095244"/>
            <a:ext cx="265176" cy="265176"/>
          </a:xfrm>
          <a:prstGeom prst="rect">
            <a:avLst/>
          </a:prstGeom>
        </p:spPr>
      </p:pic>
      <p:sp>
        <p:nvSpPr>
          <p:cNvPr id="27" name="Text 22"/>
          <p:cNvSpPr txBox="1"/>
          <p:nvPr/>
        </p:nvSpPr>
        <p:spPr>
          <a:xfrm>
            <a:off x="7680960" y="2907792"/>
            <a:ext cx="3749040" cy="347472"/>
          </a:xfrm>
          <a:prstGeom prst="rect">
            <a:avLst/>
          </a:prstGeom>
          <a:noFill/>
          <a:ln/>
        </p:spPr>
        <p:txBody>
          <a:bodyPr wrap="square" lIns="0" tIns="0" rIns="0" bIns="0" rtlCol="0" anchor="ctr"/>
          <a:lstStyle/>
          <a:p>
            <a:pPr indent="0" marL="0">
              <a:buNone/>
            </a:pPr>
            <a:r>
              <a:rPr lang="en-US" sz="1600" b="1" dirty="0">
                <a:solidFill>
                  <a:schemeClr val="tx1"/>
                </a:solidFill>
              </a:rPr>
              <a:t>Tesla</a:t>
            </a:r>
            <a:endParaRPr lang="en-US" sz="1600" dirty="0"/>
          </a:p>
        </p:txBody>
      </p:sp>
      <p:sp>
        <p:nvSpPr>
          <p:cNvPr id="28" name="Text 23"/>
          <p:cNvSpPr txBox="1"/>
          <p:nvPr/>
        </p:nvSpPr>
        <p:spPr>
          <a:xfrm>
            <a:off x="7680960" y="3246120"/>
            <a:ext cx="3749040" cy="292608"/>
          </a:xfrm>
          <a:prstGeom prst="rect">
            <a:avLst/>
          </a:prstGeom>
          <a:noFill/>
          <a:ln/>
        </p:spPr>
        <p:txBody>
          <a:bodyPr wrap="square" lIns="0" tIns="0" rIns="0" bIns="0" rtlCol="0" anchor="ctr"/>
          <a:lstStyle/>
          <a:p>
            <a:pPr indent="0" marL="0">
              <a:buNone/>
            </a:pPr>
            <a:r>
              <a:rPr lang="en-US" sz="1300" dirty="0">
                <a:solidFill>
                  <a:schemeClr val="tx2"/>
                </a:solidFill>
              </a:rPr>
              <a:t>Vehicle and battery data</a:t>
            </a:r>
            <a:endParaRPr lang="en-US" sz="1300" dirty="0"/>
          </a:p>
        </p:txBody>
      </p:sp>
      <p:sp>
        <p:nvSpPr>
          <p:cNvPr id="29" name="Integration card"/>
          <p:cNvSpPr/>
          <p:nvPr/>
        </p:nvSpPr>
        <p:spPr>
          <a:xfrm>
            <a:off x="6720840" y="3886200"/>
            <a:ext cx="489204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30" name="Icon circle"/>
          <p:cNvSpPr/>
          <p:nvPr/>
        </p:nvSpPr>
        <p:spPr>
          <a:xfrm>
            <a:off x="6949440" y="4005072"/>
            <a:ext cx="548640" cy="548640"/>
          </a:xfrm>
          <a:prstGeom prst="ellipse">
            <a:avLst/>
          </a:prstGeom>
          <a:solidFill>
            <a:schemeClr val="accent1"/>
          </a:solidFill>
          <a:ln w="12700">
            <a:solidFill>
              <a:schemeClr val="accent1"/>
            </a:solidFill>
            <a:prstDash val="solid"/>
          </a:ln>
        </p:spPr>
      </p:sp>
      <p:pic>
        <p:nvPicPr>
          <p:cNvPr id="31" name="Image 3" descr="preencoded.png">    </p:cNvPr>
          <p:cNvPicPr>
            <a:picLocks noChangeAspect="1"/>
          </p:cNvPicPr>
          <p:nvPr/>
        </p:nvPicPr>
        <p:blipFill>
          <a:blip r:embed="rId4"/>
          <a:stretch>
            <a:fillRect/>
          </a:stretch>
        </p:blipFill>
        <p:spPr>
          <a:xfrm>
            <a:off x="7091172" y="4146804"/>
            <a:ext cx="265176" cy="265176"/>
          </a:xfrm>
          <a:prstGeom prst="rect">
            <a:avLst/>
          </a:prstGeom>
        </p:spPr>
      </p:pic>
      <p:sp>
        <p:nvSpPr>
          <p:cNvPr id="32" name="Text 26"/>
          <p:cNvSpPr txBox="1"/>
          <p:nvPr/>
        </p:nvSpPr>
        <p:spPr>
          <a:xfrm>
            <a:off x="7680960" y="3959352"/>
            <a:ext cx="3749040" cy="347472"/>
          </a:xfrm>
          <a:prstGeom prst="rect">
            <a:avLst/>
          </a:prstGeom>
          <a:noFill/>
          <a:ln/>
        </p:spPr>
        <p:txBody>
          <a:bodyPr wrap="square" lIns="0" tIns="0" rIns="0" bIns="0" rtlCol="0" anchor="ctr"/>
          <a:lstStyle/>
          <a:p>
            <a:pPr indent="0" marL="0">
              <a:buNone/>
            </a:pPr>
            <a:r>
              <a:rPr lang="en-US" sz="1600" b="1" dirty="0">
                <a:solidFill>
                  <a:schemeClr val="tx1"/>
                </a:solidFill>
              </a:rPr>
              <a:t>Stripe</a:t>
            </a:r>
            <a:endParaRPr lang="en-US" sz="1600" dirty="0"/>
          </a:p>
        </p:txBody>
      </p:sp>
      <p:sp>
        <p:nvSpPr>
          <p:cNvPr id="33" name="Text 27"/>
          <p:cNvSpPr txBox="1"/>
          <p:nvPr/>
        </p:nvSpPr>
        <p:spPr>
          <a:xfrm>
            <a:off x="7680960" y="4297680"/>
            <a:ext cx="3749040" cy="292608"/>
          </a:xfrm>
          <a:prstGeom prst="rect">
            <a:avLst/>
          </a:prstGeom>
          <a:noFill/>
          <a:ln/>
        </p:spPr>
        <p:txBody>
          <a:bodyPr wrap="square" lIns="0" tIns="0" rIns="0" bIns="0" rtlCol="0" anchor="ctr"/>
          <a:lstStyle/>
          <a:p>
            <a:pPr indent="0" marL="0">
              <a:buNone/>
            </a:pPr>
            <a:r>
              <a:rPr lang="en-US" sz="1300" dirty="0">
                <a:solidFill>
                  <a:schemeClr val="tx2"/>
                </a:solidFill>
              </a:rPr>
              <a:t>Payments and payouts</a:t>
            </a:r>
            <a:endParaRPr lang="en-US" sz="1300" dirty="0"/>
          </a:p>
        </p:txBody>
      </p:sp>
      <p:sp>
        <p:nvSpPr>
          <p:cNvPr id="34" name="Integration card"/>
          <p:cNvSpPr/>
          <p:nvPr/>
        </p:nvSpPr>
        <p:spPr>
          <a:xfrm>
            <a:off x="6720840" y="4937760"/>
            <a:ext cx="4892040" cy="777240"/>
          </a:xfrm>
          <a:prstGeom prst="roundRect">
            <a:avLst>
              <a:gd name="adj" fmla="val 14118"/>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35" name="Icon circle"/>
          <p:cNvSpPr/>
          <p:nvPr/>
        </p:nvSpPr>
        <p:spPr>
          <a:xfrm>
            <a:off x="6949440" y="5056632"/>
            <a:ext cx="548640" cy="548640"/>
          </a:xfrm>
          <a:prstGeom prst="ellipse">
            <a:avLst/>
          </a:prstGeom>
          <a:solidFill>
            <a:schemeClr val="accent1"/>
          </a:solidFill>
          <a:ln w="12700">
            <a:solidFill>
              <a:schemeClr val="accent1"/>
            </a:solidFill>
            <a:prstDash val="solid"/>
          </a:ln>
        </p:spPr>
      </p:sp>
      <p:pic>
        <p:nvPicPr>
          <p:cNvPr id="36" name="Image 4" descr="preencoded.png">    </p:cNvPr>
          <p:cNvPicPr>
            <a:picLocks noChangeAspect="1"/>
          </p:cNvPicPr>
          <p:nvPr/>
        </p:nvPicPr>
        <p:blipFill>
          <a:blip r:embed="rId5"/>
          <a:stretch>
            <a:fillRect/>
          </a:stretch>
        </p:blipFill>
        <p:spPr>
          <a:xfrm>
            <a:off x="7091172" y="5198364"/>
            <a:ext cx="265176" cy="265176"/>
          </a:xfrm>
          <a:prstGeom prst="rect">
            <a:avLst/>
          </a:prstGeom>
        </p:spPr>
      </p:pic>
      <p:sp>
        <p:nvSpPr>
          <p:cNvPr id="37" name="Text 30"/>
          <p:cNvSpPr txBox="1"/>
          <p:nvPr/>
        </p:nvSpPr>
        <p:spPr>
          <a:xfrm>
            <a:off x="7680960" y="5010912"/>
            <a:ext cx="3749040" cy="347472"/>
          </a:xfrm>
          <a:prstGeom prst="rect">
            <a:avLst/>
          </a:prstGeom>
          <a:noFill/>
          <a:ln/>
        </p:spPr>
        <p:txBody>
          <a:bodyPr wrap="square" lIns="0" tIns="0" rIns="0" bIns="0" rtlCol="0" anchor="ctr"/>
          <a:lstStyle/>
          <a:p>
            <a:pPr indent="0" marL="0">
              <a:buNone/>
            </a:pPr>
            <a:r>
              <a:rPr lang="en-US" sz="1600" b="1" dirty="0">
                <a:solidFill>
                  <a:schemeClr val="tx1"/>
                </a:solidFill>
              </a:rPr>
              <a:t>NREL</a:t>
            </a:r>
            <a:endParaRPr lang="en-US" sz="1600" dirty="0"/>
          </a:p>
        </p:txBody>
      </p:sp>
      <p:sp>
        <p:nvSpPr>
          <p:cNvPr id="38" name="Text 31"/>
          <p:cNvSpPr txBox="1"/>
          <p:nvPr/>
        </p:nvSpPr>
        <p:spPr>
          <a:xfrm>
            <a:off x="7680960" y="5349240"/>
            <a:ext cx="3749040" cy="292608"/>
          </a:xfrm>
          <a:prstGeom prst="rect">
            <a:avLst/>
          </a:prstGeom>
          <a:noFill/>
          <a:ln/>
        </p:spPr>
        <p:txBody>
          <a:bodyPr wrap="square" lIns="0" tIns="0" rIns="0" bIns="0" rtlCol="0" anchor="ctr"/>
          <a:lstStyle/>
          <a:p>
            <a:pPr indent="0" marL="0">
              <a:buNone/>
            </a:pPr>
            <a:r>
              <a:rPr lang="en-US" sz="1300" dirty="0">
                <a:solidFill>
                  <a:schemeClr val="tx2"/>
                </a:solidFill>
              </a:rPr>
              <a:t>Station data</a:t>
            </a:r>
            <a:endParaRPr lang="en-US" sz="1300" dirty="0"/>
          </a:p>
        </p:txBody>
      </p:sp>
      <p:sp>
        <p:nvSpPr>
          <p:cNvPr id="39" name="Text 32"/>
          <p:cNvSpPr txBox="1"/>
          <p:nvPr/>
        </p:nvSpPr>
        <p:spPr>
          <a:xfrm>
            <a:off x="868680" y="5120640"/>
            <a:ext cx="5303520" cy="411480"/>
          </a:xfrm>
          <a:prstGeom prst="rect">
            <a:avLst/>
          </a:prstGeom>
          <a:noFill/>
          <a:ln/>
        </p:spPr>
        <p:txBody>
          <a:bodyPr wrap="square" lIns="0" tIns="0" rIns="0" bIns="0" rtlCol="0" anchor="ctr"/>
          <a:lstStyle/>
          <a:p>
            <a:pPr indent="0" marL="0">
              <a:buNone/>
            </a:pPr>
            <a:r>
              <a:rPr lang="en-US" sz="1600" b="1" dirty="0">
                <a:solidFill>
                  <a:schemeClr val="accent5"/>
                </a:solidFill>
              </a:rPr>
              <a:t>Open source </a:t>
            </a:r>
            <a:pPr indent="0" marL="0">
              <a:buNone/>
            </a:pPr>
            <a:r>
              <a:rPr lang="en-US" sz="1600" dirty="0">
                <a:solidFill>
                  <a:schemeClr val="tx1"/>
                </a:solidFill>
              </a:rPr>
              <a:t>where possible.</a:t>
            </a:r>
            <a:endParaRPr lang="en-US" sz="16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WHAT WE'RE LOOKING FOR</a:t>
            </a:r>
            <a:endParaRPr lang="en-US" sz="1200" dirty="0"/>
          </a:p>
        </p:txBody>
      </p:sp>
      <p:sp>
        <p:nvSpPr>
          <p:cNvPr id="3" name="Text 0"/>
          <p:cNvSpPr/>
          <p:nvPr>
            <p:ph idx="101" type="title" hasCustomPrompt="1"/>
          </p:nvPr>
        </p:nvSpPr>
        <p:spPr>
          <a:xfrm>
            <a:off x="548640" y="713232"/>
            <a:ext cx="11064240" cy="822960"/>
          </a:xfrm>
          <a:prstGeom prst="rect">
            <a:avLst/>
          </a:prstGeom>
          <a:noFill/>
          <a:ln/>
        </p:spPr>
        <p:txBody>
          <a:bodyPr wrap="square" lIns="0" tIns="0" rIns="0" bIns="0" rtlCol="0" anchor="t"/>
          <a:lstStyle/>
          <a:p>
            <a:pPr algn="l" indent="0" marL="0">
              <a:buNone/>
            </a:pPr>
            <a:r>
              <a:rPr lang="en-US" sz="3600" b="1" dirty="0">
                <a:solidFill>
                  <a:schemeClr val="tx1"/>
                </a:solidFill>
              </a:rPr>
              <a:t>A partner to build Amperlane Platform v1 with us</a:t>
            </a:r>
            <a:endParaRPr lang="en-US" sz="3600" dirty="0"/>
          </a:p>
        </p:txBody>
      </p:sp>
      <p:sp>
        <p:nvSpPr>
          <p:cNvPr id="4" name="Scope card"/>
          <p:cNvSpPr/>
          <p:nvPr/>
        </p:nvSpPr>
        <p:spPr>
          <a:xfrm>
            <a:off x="548640" y="1783080"/>
            <a:ext cx="6035040" cy="3931920"/>
          </a:xfrm>
          <a:prstGeom prst="roundRect">
            <a:avLst>
              <a:gd name="adj" fmla="val 2791"/>
            </a:avLst>
          </a:prstGeom>
          <a:solidFill>
            <a:schemeClr val="bg1"/>
          </a:solidFill>
          <a:ln w="9525">
            <a:solidFill>
              <a:schemeClr val="bg1"/>
            </a:solidFill>
            <a:prstDash val="solid"/>
          </a:ln>
          <a:effectLst>
            <a:outerShdw sx="100000" sy="100000" kx="0" ky="0" algn="bl" rotWithShape="0" blurRad="101600" dist="25400" dir="5400000">
              <a:srgbClr val="0E1B2C">
                <a:alpha val="12000"/>
              </a:srgbClr>
            </a:outerShdw>
          </a:effectLst>
        </p:spPr>
      </p:sp>
      <p:sp>
        <p:nvSpPr>
          <p:cNvPr id="5" name="Text 3"/>
          <p:cNvSpPr txBox="1"/>
          <p:nvPr/>
        </p:nvSpPr>
        <p:spPr>
          <a:xfrm>
            <a:off x="868680" y="2057400"/>
            <a:ext cx="36576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SCOPE</a:t>
            </a:r>
            <a:endParaRPr lang="en-US" sz="1200" dirty="0"/>
          </a:p>
        </p:txBody>
      </p:sp>
      <p:sp>
        <p:nvSpPr>
          <p:cNvPr id="6" name="Check circle"/>
          <p:cNvSpPr/>
          <p:nvPr/>
        </p:nvSpPr>
        <p:spPr>
          <a:xfrm>
            <a:off x="868680" y="2560320"/>
            <a:ext cx="411480" cy="411480"/>
          </a:xfrm>
          <a:prstGeom prst="ellipse">
            <a:avLst/>
          </a:prstGeom>
          <a:solidFill>
            <a:schemeClr val="accent2"/>
          </a:solidFill>
          <a:ln w="12700">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969264" y="2660904"/>
            <a:ext cx="210312" cy="210312"/>
          </a:xfrm>
          <a:prstGeom prst="rect">
            <a:avLst/>
          </a:prstGeom>
        </p:spPr>
      </p:pic>
      <p:sp>
        <p:nvSpPr>
          <p:cNvPr id="8" name="Text 5"/>
          <p:cNvSpPr txBox="1"/>
          <p:nvPr/>
        </p:nvSpPr>
        <p:spPr>
          <a:xfrm>
            <a:off x="1463040" y="2514600"/>
            <a:ext cx="4937760" cy="502920"/>
          </a:xfrm>
          <a:prstGeom prst="rect">
            <a:avLst/>
          </a:prstGeom>
          <a:noFill/>
          <a:ln/>
        </p:spPr>
        <p:txBody>
          <a:bodyPr wrap="square" lIns="0" tIns="0" rIns="0" bIns="0" rtlCol="0" anchor="ctr"/>
          <a:lstStyle/>
          <a:p>
            <a:pPr indent="0" marL="0">
              <a:buNone/>
            </a:pPr>
            <a:r>
              <a:rPr lang="en-US" sz="1600" b="1" dirty="0">
                <a:solidFill>
                  <a:schemeClr val="tx1"/>
                </a:solidFill>
              </a:rPr>
              <a:t>Driver app</a:t>
            </a:r>
            <a:pPr indent="0" marL="0">
              <a:buNone/>
            </a:pPr>
            <a:r>
              <a:rPr lang="en-US" sz="1600" dirty="0">
                <a:solidFill>
                  <a:schemeClr val="tx2"/>
                </a:solidFill>
              </a:rPr>
              <a:t>   Native iOS and Android</a:t>
            </a:r>
            <a:endParaRPr lang="en-US" sz="1600" dirty="0"/>
          </a:p>
        </p:txBody>
      </p:sp>
      <p:sp>
        <p:nvSpPr>
          <p:cNvPr id="9" name="Check circle"/>
          <p:cNvSpPr/>
          <p:nvPr/>
        </p:nvSpPr>
        <p:spPr>
          <a:xfrm>
            <a:off x="868680" y="3172968"/>
            <a:ext cx="411480" cy="41148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969264" y="3273552"/>
            <a:ext cx="210312" cy="210312"/>
          </a:xfrm>
          <a:prstGeom prst="rect">
            <a:avLst/>
          </a:prstGeom>
        </p:spPr>
      </p:pic>
      <p:sp>
        <p:nvSpPr>
          <p:cNvPr id="11" name="Text 7"/>
          <p:cNvSpPr txBox="1"/>
          <p:nvPr/>
        </p:nvSpPr>
        <p:spPr>
          <a:xfrm>
            <a:off x="1463040" y="3127248"/>
            <a:ext cx="4937760" cy="502920"/>
          </a:xfrm>
          <a:prstGeom prst="rect">
            <a:avLst/>
          </a:prstGeom>
          <a:noFill/>
          <a:ln/>
        </p:spPr>
        <p:txBody>
          <a:bodyPr wrap="square" lIns="0" tIns="0" rIns="0" bIns="0" rtlCol="0" anchor="ctr"/>
          <a:lstStyle/>
          <a:p>
            <a:pPr indent="0" marL="0">
              <a:buNone/>
            </a:pPr>
            <a:r>
              <a:rPr lang="en-US" sz="1600" b="1" dirty="0">
                <a:solidFill>
                  <a:schemeClr val="tx1"/>
                </a:solidFill>
              </a:rPr>
              <a:t>Fleet portal</a:t>
            </a:r>
            <a:pPr indent="0" marL="0">
              <a:buNone/>
            </a:pPr>
            <a:r>
              <a:rPr lang="en-US" sz="1600" dirty="0">
                <a:solidFill>
                  <a:schemeClr val="tx2"/>
                </a:solidFill>
              </a:rPr>
              <a:t>   Bookings, vehicles, reporting</a:t>
            </a:r>
            <a:endParaRPr lang="en-US" sz="1600" dirty="0"/>
          </a:p>
        </p:txBody>
      </p:sp>
      <p:sp>
        <p:nvSpPr>
          <p:cNvPr id="12" name="Check circle"/>
          <p:cNvSpPr/>
          <p:nvPr/>
        </p:nvSpPr>
        <p:spPr>
          <a:xfrm>
            <a:off x="868680" y="3785616"/>
            <a:ext cx="411480" cy="41148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969264" y="3886200"/>
            <a:ext cx="210312" cy="210312"/>
          </a:xfrm>
          <a:prstGeom prst="rect">
            <a:avLst/>
          </a:prstGeom>
        </p:spPr>
      </p:pic>
      <p:sp>
        <p:nvSpPr>
          <p:cNvPr id="14" name="Text 9"/>
          <p:cNvSpPr txBox="1"/>
          <p:nvPr/>
        </p:nvSpPr>
        <p:spPr>
          <a:xfrm>
            <a:off x="1463040" y="3739896"/>
            <a:ext cx="4937760" cy="502920"/>
          </a:xfrm>
          <a:prstGeom prst="rect">
            <a:avLst/>
          </a:prstGeom>
          <a:noFill/>
          <a:ln/>
        </p:spPr>
        <p:txBody>
          <a:bodyPr wrap="square" lIns="0" tIns="0" rIns="0" bIns="0" rtlCol="0" anchor="ctr"/>
          <a:lstStyle/>
          <a:p>
            <a:pPr indent="0" marL="0">
              <a:buNone/>
            </a:pPr>
            <a:r>
              <a:rPr lang="en-US" sz="1600" b="1" dirty="0">
                <a:solidFill>
                  <a:schemeClr val="tx1"/>
                </a:solidFill>
              </a:rPr>
              <a:t>Station portal</a:t>
            </a:r>
            <a:pPr indent="0" marL="0">
              <a:buNone/>
            </a:pPr>
            <a:r>
              <a:rPr lang="en-US" sz="1600" dirty="0">
                <a:solidFill>
                  <a:schemeClr val="tx2"/>
                </a:solidFill>
              </a:rPr>
              <a:t>   Slots, schedules, tariffs</a:t>
            </a:r>
            <a:endParaRPr lang="en-US" sz="1600" dirty="0"/>
          </a:p>
        </p:txBody>
      </p:sp>
      <p:sp>
        <p:nvSpPr>
          <p:cNvPr id="15" name="Check circle"/>
          <p:cNvSpPr/>
          <p:nvPr/>
        </p:nvSpPr>
        <p:spPr>
          <a:xfrm>
            <a:off x="868680" y="4398264"/>
            <a:ext cx="411480" cy="411480"/>
          </a:xfrm>
          <a:prstGeom prst="ellipse">
            <a:avLst/>
          </a:prstGeom>
          <a:solidFill>
            <a:schemeClr val="accent2"/>
          </a:solidFill>
          <a:ln w="12700">
            <a:solidFill>
              <a:schemeClr val="accent2"/>
            </a:solidFill>
            <a:prstDash val="solid"/>
          </a:ln>
        </p:spPr>
      </p:sp>
      <p:pic>
        <p:nvPicPr>
          <p:cNvPr id="16" name="Image 3" descr="preencoded.png">    </p:cNvPr>
          <p:cNvPicPr>
            <a:picLocks noChangeAspect="1"/>
          </p:cNvPicPr>
          <p:nvPr/>
        </p:nvPicPr>
        <p:blipFill>
          <a:blip r:embed="rId4"/>
          <a:stretch>
            <a:fillRect/>
          </a:stretch>
        </p:blipFill>
        <p:spPr>
          <a:xfrm>
            <a:off x="969264" y="4498848"/>
            <a:ext cx="210312" cy="210312"/>
          </a:xfrm>
          <a:prstGeom prst="rect">
            <a:avLst/>
          </a:prstGeom>
        </p:spPr>
      </p:pic>
      <p:sp>
        <p:nvSpPr>
          <p:cNvPr id="17" name="Text 11"/>
          <p:cNvSpPr txBox="1"/>
          <p:nvPr/>
        </p:nvSpPr>
        <p:spPr>
          <a:xfrm>
            <a:off x="1463040" y="4352544"/>
            <a:ext cx="4937760" cy="502920"/>
          </a:xfrm>
          <a:prstGeom prst="rect">
            <a:avLst/>
          </a:prstGeom>
          <a:noFill/>
          <a:ln/>
        </p:spPr>
        <p:txBody>
          <a:bodyPr wrap="square" lIns="0" tIns="0" rIns="0" bIns="0" rtlCol="0" anchor="ctr"/>
          <a:lstStyle/>
          <a:p>
            <a:pPr indent="0" marL="0">
              <a:buNone/>
            </a:pPr>
            <a:r>
              <a:rPr lang="en-US" sz="1600" b="1" dirty="0">
                <a:solidFill>
                  <a:schemeClr val="tx1"/>
                </a:solidFill>
              </a:rPr>
              <a:t>Booking engine</a:t>
            </a:r>
            <a:pPr indent="0" marL="0">
              <a:buNone/>
            </a:pPr>
            <a:r>
              <a:rPr lang="en-US" sz="1600" dirty="0">
                <a:solidFill>
                  <a:schemeClr val="tx2"/>
                </a:solidFill>
              </a:rPr>
              <a:t>   The core of the marketplace</a:t>
            </a:r>
            <a:endParaRPr lang="en-US" sz="1600" dirty="0"/>
          </a:p>
        </p:txBody>
      </p:sp>
      <p:sp>
        <p:nvSpPr>
          <p:cNvPr id="18" name="Check circle"/>
          <p:cNvSpPr/>
          <p:nvPr/>
        </p:nvSpPr>
        <p:spPr>
          <a:xfrm>
            <a:off x="868680" y="5010912"/>
            <a:ext cx="411480" cy="411480"/>
          </a:xfrm>
          <a:prstGeom prst="ellipse">
            <a:avLst/>
          </a:prstGeom>
          <a:solidFill>
            <a:schemeClr val="accent2"/>
          </a:solidFill>
          <a:ln w="12700">
            <a:solidFill>
              <a:schemeClr val="accent2"/>
            </a:solidFill>
            <a:prstDash val="solid"/>
          </a:ln>
        </p:spPr>
      </p:sp>
      <p:pic>
        <p:nvPicPr>
          <p:cNvPr id="19" name="Image 4" descr="preencoded.png">    </p:cNvPr>
          <p:cNvPicPr>
            <a:picLocks noChangeAspect="1"/>
          </p:cNvPicPr>
          <p:nvPr/>
        </p:nvPicPr>
        <p:blipFill>
          <a:blip r:embed="rId5"/>
          <a:stretch>
            <a:fillRect/>
          </a:stretch>
        </p:blipFill>
        <p:spPr>
          <a:xfrm>
            <a:off x="969264" y="5111496"/>
            <a:ext cx="210312" cy="210312"/>
          </a:xfrm>
          <a:prstGeom prst="rect">
            <a:avLst/>
          </a:prstGeom>
        </p:spPr>
      </p:pic>
      <p:sp>
        <p:nvSpPr>
          <p:cNvPr id="20" name="Text 13"/>
          <p:cNvSpPr txBox="1"/>
          <p:nvPr/>
        </p:nvSpPr>
        <p:spPr>
          <a:xfrm>
            <a:off x="1463040" y="4965192"/>
            <a:ext cx="4937760" cy="502920"/>
          </a:xfrm>
          <a:prstGeom prst="rect">
            <a:avLst/>
          </a:prstGeom>
          <a:noFill/>
          <a:ln/>
        </p:spPr>
        <p:txBody>
          <a:bodyPr wrap="square" lIns="0" tIns="0" rIns="0" bIns="0" rtlCol="0" anchor="ctr"/>
          <a:lstStyle/>
          <a:p>
            <a:pPr indent="0" marL="0">
              <a:buNone/>
            </a:pPr>
            <a:r>
              <a:rPr lang="en-US" sz="1600" b="1" dirty="0">
                <a:solidFill>
                  <a:schemeClr val="tx1"/>
                </a:solidFill>
              </a:rPr>
              <a:t>Integrations</a:t>
            </a:r>
            <a:pPr indent="0" marL="0">
              <a:buNone/>
            </a:pPr>
            <a:r>
              <a:rPr lang="en-US" sz="1600" dirty="0">
                <a:solidFill>
                  <a:schemeClr val="tx2"/>
                </a:solidFill>
              </a:rPr>
              <a:t>   Chargers, vehicles, payments, maps</a:t>
            </a:r>
            <a:endParaRPr lang="en-US" sz="1600" dirty="0"/>
          </a:p>
        </p:txBody>
      </p:sp>
      <p:sp>
        <p:nvSpPr>
          <p:cNvPr id="21" name="MVP callout"/>
          <p:cNvSpPr/>
          <p:nvPr/>
        </p:nvSpPr>
        <p:spPr>
          <a:xfrm>
            <a:off x="6903720" y="1783080"/>
            <a:ext cx="4709160" cy="1828800"/>
          </a:xfrm>
          <a:prstGeom prst="roundRect">
            <a:avLst>
              <a:gd name="adj" fmla="val 6000"/>
            </a:avLst>
          </a:prstGeom>
          <a:solidFill>
            <a:schemeClr val="accent1"/>
          </a:solidFill>
          <a:ln w="12700">
            <a:solidFill>
              <a:schemeClr val="accent1"/>
            </a:solidFill>
            <a:prstDash val="solid"/>
          </a:ln>
          <a:effectLst>
            <a:outerShdw sx="100000" sy="100000" kx="0" ky="0" algn="bl" rotWithShape="0" blurRad="101600" dist="25400" dir="5400000">
              <a:srgbClr val="0E1B2C">
                <a:alpha val="12000"/>
              </a:srgbClr>
            </a:outerShdw>
          </a:effectLst>
        </p:spPr>
      </p:sp>
      <p:sp>
        <p:nvSpPr>
          <p:cNvPr id="22" name="Text 15"/>
          <p:cNvSpPr txBox="1"/>
          <p:nvPr/>
        </p:nvSpPr>
        <p:spPr>
          <a:xfrm>
            <a:off x="7223760" y="1965960"/>
            <a:ext cx="4114800" cy="914400"/>
          </a:xfrm>
          <a:prstGeom prst="rect">
            <a:avLst/>
          </a:prstGeom>
          <a:noFill/>
          <a:ln/>
        </p:spPr>
        <p:txBody>
          <a:bodyPr wrap="square" lIns="0" tIns="0" rIns="0" bIns="0" rtlCol="0" anchor="ctr"/>
          <a:lstStyle/>
          <a:p>
            <a:pPr indent="0" marL="0">
              <a:buNone/>
            </a:pPr>
            <a:r>
              <a:rPr lang="en-US" sz="5400" b="1" dirty="0">
                <a:solidFill>
                  <a:schemeClr val="tx1"/>
                </a:solidFill>
              </a:rPr>
              <a:t>12 weeks</a:t>
            </a:r>
            <a:endParaRPr lang="en-US" sz="5400" dirty="0"/>
          </a:p>
        </p:txBody>
      </p:sp>
      <p:sp>
        <p:nvSpPr>
          <p:cNvPr id="23" name="Text 16"/>
          <p:cNvSpPr txBox="1"/>
          <p:nvPr/>
        </p:nvSpPr>
        <p:spPr>
          <a:xfrm>
            <a:off x="7223760" y="2880360"/>
            <a:ext cx="4114800" cy="457200"/>
          </a:xfrm>
          <a:prstGeom prst="rect">
            <a:avLst/>
          </a:prstGeom>
          <a:noFill/>
          <a:ln/>
        </p:spPr>
        <p:txBody>
          <a:bodyPr wrap="square" lIns="0" tIns="0" rIns="0" bIns="0" rtlCol="0" anchor="ctr"/>
          <a:lstStyle/>
          <a:p>
            <a:pPr indent="0" marL="0">
              <a:buNone/>
            </a:pPr>
            <a:r>
              <a:rPr lang="en-US" sz="2000" b="1" dirty="0">
                <a:solidFill>
                  <a:schemeClr val="tx1"/>
                </a:solidFill>
              </a:rPr>
              <a:t>to MVP</a:t>
            </a:r>
            <a:endParaRPr lang="en-US" sz="2000" dirty="0"/>
          </a:p>
        </p:txBody>
      </p:sp>
      <p:sp>
        <p:nvSpPr>
          <p:cNvPr id="24" name="Metros callout"/>
          <p:cNvSpPr/>
          <p:nvPr/>
        </p:nvSpPr>
        <p:spPr>
          <a:xfrm>
            <a:off x="6903720" y="3886200"/>
            <a:ext cx="4709160" cy="1828800"/>
          </a:xfrm>
          <a:prstGeom prst="roundRect">
            <a:avLst>
              <a:gd name="adj" fmla="val 6000"/>
            </a:avLst>
          </a:prstGeom>
          <a:solidFill>
            <a:schemeClr val="tx1"/>
          </a:solidFill>
          <a:ln w="12700">
            <a:solidFill>
              <a:schemeClr val="tx1"/>
            </a:solidFill>
            <a:prstDash val="solid"/>
          </a:ln>
          <a:effectLst>
            <a:outerShdw sx="100000" sy="100000" kx="0" ky="0" algn="bl" rotWithShape="0" blurRad="101600" dist="25400" dir="5400000">
              <a:srgbClr val="0E1B2C">
                <a:alpha val="12000"/>
              </a:srgbClr>
            </a:outerShdw>
          </a:effectLst>
        </p:spPr>
      </p:sp>
      <p:sp>
        <p:nvSpPr>
          <p:cNvPr id="25" name="Text 18"/>
          <p:cNvSpPr txBox="1"/>
          <p:nvPr/>
        </p:nvSpPr>
        <p:spPr>
          <a:xfrm>
            <a:off x="7223760" y="4069080"/>
            <a:ext cx="4206240" cy="914400"/>
          </a:xfrm>
          <a:prstGeom prst="rect">
            <a:avLst/>
          </a:prstGeom>
          <a:noFill/>
          <a:ln/>
        </p:spPr>
        <p:txBody>
          <a:bodyPr wrap="square" lIns="0" tIns="0" rIns="0" bIns="0" rtlCol="0" anchor="ctr"/>
          <a:lstStyle/>
          <a:p>
            <a:pPr indent="0" marL="0">
              <a:buNone/>
            </a:pPr>
            <a:r>
              <a:rPr lang="en-US" sz="4800" b="1" dirty="0">
                <a:solidFill>
                  <a:schemeClr val="accent1"/>
                </a:solidFill>
              </a:rPr>
              <a:t>10 US metros</a:t>
            </a:r>
            <a:endParaRPr lang="en-US" sz="4800" dirty="0"/>
          </a:p>
        </p:txBody>
      </p:sp>
      <p:sp>
        <p:nvSpPr>
          <p:cNvPr id="26" name="Text 19"/>
          <p:cNvSpPr txBox="1"/>
          <p:nvPr/>
        </p:nvSpPr>
        <p:spPr>
          <a:xfrm>
            <a:off x="7223760" y="4983480"/>
            <a:ext cx="4114800" cy="457200"/>
          </a:xfrm>
          <a:prstGeom prst="rect">
            <a:avLst/>
          </a:prstGeom>
          <a:noFill/>
          <a:ln/>
        </p:spPr>
        <p:txBody>
          <a:bodyPr wrap="square" lIns="0" tIns="0" rIns="0" bIns="0" rtlCol="0" anchor="ctr"/>
          <a:lstStyle/>
          <a:p>
            <a:pPr indent="0" marL="0">
              <a:buNone/>
            </a:pPr>
            <a:r>
              <a:rPr lang="en-US" sz="2000" b="1" dirty="0">
                <a:solidFill>
                  <a:schemeClr val="bg1"/>
                </a:solidFill>
              </a:rPr>
              <a:t>by end of 2027</a:t>
            </a:r>
            <a:endParaRPr lang="en-US" sz="2000" dirty="0"/>
          </a:p>
        </p:txBody>
      </p:sp>
      <p:sp>
        <p:nvSpPr>
          <p:cNvPr id="25" name="Slide Number Placeholder 0"/>
          <p:cNvSpPr>
            <a:spLocks noGrp="1"/>
          </p:cNvSpPr>
          <p:nvPr>
            <p:ph type="sldNum" sz="quarter" idx="4294967295"/>
          </p:nvPr>
        </p:nvSpPr>
        <p:spPr>
          <a:xfrm>
            <a:off x="11183112" y="6364224"/>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Logo mark" descr="preencoded.png">    </p:cNvPr>
          <p:cNvPicPr>
            <a:picLocks noChangeAspect="1"/>
          </p:cNvPicPr>
          <p:nvPr/>
        </p:nvPicPr>
        <p:blipFill>
          <a:blip r:embed="rId1"/>
          <a:stretch>
            <a:fillRect/>
          </a:stretch>
        </p:blipFill>
        <p:spPr>
          <a:xfrm>
            <a:off x="731520" y="731520"/>
            <a:ext cx="548640" cy="548640"/>
          </a:xfrm>
          <a:prstGeom prst="rect">
            <a:avLst/>
          </a:prstGeom>
        </p:spPr>
      </p:pic>
      <p:sp>
        <p:nvSpPr>
          <p:cNvPr id="3" name="Wordmark"/>
          <p:cNvSpPr txBox="1"/>
          <p:nvPr/>
        </p:nvSpPr>
        <p:spPr>
          <a:xfrm>
            <a:off x="1417320" y="731520"/>
            <a:ext cx="3657600" cy="548640"/>
          </a:xfrm>
          <a:prstGeom prst="rect">
            <a:avLst/>
          </a:prstGeom>
          <a:noFill/>
          <a:ln/>
        </p:spPr>
        <p:txBody>
          <a:bodyPr wrap="square" lIns="0" tIns="0" rIns="0" bIns="0" rtlCol="0" anchor="ctr"/>
          <a:lstStyle/>
          <a:p>
            <a:pPr indent="0" marL="0">
              <a:buNone/>
            </a:pPr>
            <a:r>
              <a:rPr lang="en-US" sz="2600" b="1" dirty="0">
                <a:solidFill>
                  <a:schemeClr val="bg1"/>
                </a:solidFill>
              </a:rPr>
              <a:t>amperlane</a:t>
            </a:r>
            <a:endParaRPr lang="en-US" sz="2600" dirty="0"/>
          </a:p>
        </p:txBody>
      </p:sp>
      <p:sp>
        <p:nvSpPr>
          <p:cNvPr id="4" name="Text 0"/>
          <p:cNvSpPr/>
          <p:nvPr>
            <p:ph idx="100" type="title" hasCustomPrompt="1"/>
          </p:nvPr>
        </p:nvSpPr>
        <p:spPr>
          <a:xfrm>
            <a:off x="731520" y="1463040"/>
            <a:ext cx="6766560" cy="1828800"/>
          </a:xfrm>
          <a:prstGeom prst="rect">
            <a:avLst/>
          </a:prstGeom>
          <a:noFill/>
          <a:ln/>
        </p:spPr>
        <p:txBody>
          <a:bodyPr wrap="square" lIns="0" tIns="0" rIns="0" bIns="0" rtlCol="0" anchor="t"/>
          <a:lstStyle/>
          <a:p>
            <a:pPr algn="l" indent="0" marL="0">
              <a:buNone/>
            </a:pPr>
            <a:r>
              <a:rPr lang="en-US" sz="4400" b="1" dirty="0">
                <a:solidFill>
                  <a:schemeClr val="bg1"/>
                </a:solidFill>
              </a:rPr>
              <a:t>Thank you. Let's build the booking layer for EV fleets.</a:t>
            </a:r>
            <a:endParaRPr lang="en-US" sz="4400" dirty="0"/>
          </a:p>
        </p:txBody>
      </p:sp>
      <p:sp>
        <p:nvSpPr>
          <p:cNvPr id="5" name="Contact"/>
          <p:cNvSpPr txBox="1"/>
          <p:nvPr/>
        </p:nvSpPr>
        <p:spPr>
          <a:xfrm>
            <a:off x="731520" y="3931920"/>
            <a:ext cx="6400800" cy="146304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Dana Whitfield</a:t>
            </a:r>
            <a:endParaRPr lang="en-US" sz="2000" dirty="0"/>
          </a:p>
          <a:p>
            <a:pPr indent="0" marL="0">
              <a:spcAft>
                <a:spcPts val="400"/>
              </a:spcAft>
              <a:buNone/>
            </a:pPr>
            <a:r>
              <a:rPr lang="en-US" sz="1500" dirty="0">
                <a:solidFill>
                  <a:schemeClr val="accent6"/>
                </a:solidFill>
              </a:rPr>
              <a:t>Co-founder &amp; CEO, Amperlane, Inc.</a:t>
            </a:r>
            <a:endParaRPr lang="en-US" sz="2000" dirty="0"/>
          </a:p>
          <a:p>
            <a:pPr indent="0" marL="0">
              <a:spcAft>
                <a:spcPts val="400"/>
              </a:spcAft>
              <a:buNone/>
            </a:pPr>
            <a:r>
              <a:rPr lang="en-US" sz="1500" dirty="0">
                <a:solidFill>
                  <a:schemeClr val="accent1"/>
                </a:solidFill>
              </a:rPr>
              <a:t>dana@amperlane.io</a:t>
            </a:r>
            <a:endParaRPr lang="en-US" sz="2000" dirty="0"/>
          </a:p>
          <a:p>
            <a:pPr indent="0" marL="0">
              <a:spcAft>
                <a:spcPts val="400"/>
              </a:spcAft>
              <a:buNone/>
            </a:pPr>
            <a:r>
              <a:rPr lang="en-US" sz="1500" dirty="0">
                <a:solidFill>
                  <a:schemeClr val="accent6"/>
                </a:solidFill>
              </a:rPr>
              <a:t>amperlane.io  ·  Industry City, Brooklyn, NY</a:t>
            </a:r>
            <a:endParaRPr lang="en-US" sz="2000" dirty="0"/>
          </a:p>
        </p:txBody>
      </p:sp>
      <p:sp>
        <p:nvSpPr>
          <p:cNvPr id="6" name="Text 3"/>
          <p:cNvSpPr txBox="1"/>
          <p:nvPr/>
        </p:nvSpPr>
        <p:spPr>
          <a:xfrm>
            <a:off x="731520" y="5943600"/>
            <a:ext cx="7315200" cy="320040"/>
          </a:xfrm>
          <a:prstGeom prst="rect">
            <a:avLst/>
          </a:prstGeom>
          <a:noFill/>
          <a:ln/>
        </p:spPr>
        <p:txBody>
          <a:bodyPr wrap="square" lIns="0" tIns="0" rIns="0" bIns="0" rtlCol="0" anchor="ctr"/>
          <a:lstStyle/>
          <a:p>
            <a:pPr indent="0" marL="0">
              <a:buNone/>
            </a:pPr>
            <a:r>
              <a:rPr lang="en-US" sz="1100" dirty="0">
                <a:solidFill>
                  <a:schemeClr val="accent6"/>
                </a:solidFill>
              </a:rPr>
              <a:t>Confidential. Prepared for prospective platform partners, September 2026.</a:t>
            </a:r>
            <a:endParaRPr lang="en-US" sz="1100" dirty="0"/>
          </a:p>
        </p:txBody>
      </p:sp>
      <p:pic>
        <p:nvPicPr>
          <p:cNvPr id="7" name="Hero mark" descr="preencoded.png">    </p:cNvPr>
          <p:cNvPicPr>
            <a:picLocks noChangeAspect="1"/>
          </p:cNvPicPr>
          <p:nvPr/>
        </p:nvPicPr>
        <p:blipFill>
          <a:blip r:embed="rId2"/>
          <a:stretch>
            <a:fillRect/>
          </a:stretch>
        </p:blipFill>
        <p:spPr>
          <a:xfrm>
            <a:off x="7863840" y="1097280"/>
            <a:ext cx="4206240" cy="4206240"/>
          </a:xfrm>
          <a:prstGeom prst="rect">
            <a:avLst/>
          </a:prstGeom>
        </p:spPr>
      </p:pic>
    </p:spTree>
  </p:cSld>
  <p:clrMapOvr>
    <a:masterClrMapping/>
  </p:clrMapOvr>
</p:sld>
</file>

<file path=ppt/theme/theme1.xml><?xml version="1.0" encoding="utf-8"?>
<a:theme xmlns:a="http://schemas.openxmlformats.org/drawingml/2006/main" name="Amperlane">
  <a:themeElements>
    <a:clrScheme name="Amperlane">
      <a:dk1>
        <a:srgbClr val="0E1B2C"/>
      </a:dk1>
      <a:lt1>
        <a:srgbClr val="FFFFFF"/>
      </a:lt1>
      <a:dk2>
        <a:srgbClr val="5A6B80"/>
      </a:dk2>
      <a:lt2>
        <a:srgbClr val="F6F7F9"/>
      </a:lt2>
      <a:accent1>
        <a:srgbClr val="FFB400"/>
      </a:accent1>
      <a:accent2>
        <a:srgbClr val="19C3B1"/>
      </a:accent2>
      <a:accent3>
        <a:srgbClr val="22344D"/>
      </a:accent3>
      <a:accent4>
        <a:srgbClr val="DDE2E8"/>
      </a:accent4>
      <a:accent5>
        <a:srgbClr val="0B8F82"/>
      </a:accent5>
      <a:accent6>
        <a:srgbClr val="8A97A8"/>
      </a:accent6>
      <a:hlink>
        <a:srgbClr val="0B8F82"/>
      </a:hlink>
      <a:folHlink>
        <a:srgbClr val="5A6B80"/>
      </a:folHlink>
    </a:clrScheme>
    <a:fontScheme name="Amperla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Amperlane,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Amperlane — Platform Partner Brief</dc:title>
  <dc:subject>Platform Partner Brief, September 2026 (Confidential)</dc:subject>
  <dc:creator>Dana Whitfield, Amperlane, Inc.</dc:creator>
  <cp:lastModifiedBy>Dana Whitfield, Amperlane, Inc.</cp:lastModifiedBy>
  <cp:revision>1</cp:revision>
  <dcterms:created xsi:type="dcterms:W3CDTF">2026-10-21T10:10:59Z</dcterms:created>
  <dcterms:modified xsi:type="dcterms:W3CDTF">2026-10-21T10:10:59Z</dcterms:modified>
</cp:coreProperties>
</file>